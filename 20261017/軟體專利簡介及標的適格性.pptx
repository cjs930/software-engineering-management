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notesMasterIdLst>
    <p:notesMasterId r:id="rId46"/>
  </p:notesMasterIdLst>
  <p:sldIdLst>
    <p:sldId id="256" r:id="rId2"/>
    <p:sldId id="677" r:id="rId3"/>
    <p:sldId id="410" r:id="rId4"/>
    <p:sldId id="547" r:id="rId5"/>
    <p:sldId id="548" r:id="rId6"/>
    <p:sldId id="678" r:id="rId7"/>
    <p:sldId id="679" r:id="rId8"/>
    <p:sldId id="680" r:id="rId9"/>
    <p:sldId id="513" r:id="rId10"/>
    <p:sldId id="541" r:id="rId11"/>
    <p:sldId id="538" r:id="rId12"/>
    <p:sldId id="542" r:id="rId13"/>
    <p:sldId id="681" r:id="rId14"/>
    <p:sldId id="545" r:id="rId15"/>
    <p:sldId id="546" r:id="rId16"/>
    <p:sldId id="414" r:id="rId17"/>
    <p:sldId id="518" r:id="rId18"/>
    <p:sldId id="516" r:id="rId19"/>
    <p:sldId id="415" r:id="rId20"/>
    <p:sldId id="528" r:id="rId21"/>
    <p:sldId id="535" r:id="rId22"/>
    <p:sldId id="632" r:id="rId23"/>
    <p:sldId id="521" r:id="rId24"/>
    <p:sldId id="569" r:id="rId25"/>
    <p:sldId id="530" r:id="rId26"/>
    <p:sldId id="566" r:id="rId27"/>
    <p:sldId id="631" r:id="rId28"/>
    <p:sldId id="536" r:id="rId29"/>
    <p:sldId id="550" r:id="rId30"/>
    <p:sldId id="551" r:id="rId31"/>
    <p:sldId id="552" r:id="rId32"/>
    <p:sldId id="554" r:id="rId33"/>
    <p:sldId id="553" r:id="rId34"/>
    <p:sldId id="555" r:id="rId35"/>
    <p:sldId id="557" r:id="rId36"/>
    <p:sldId id="556" r:id="rId37"/>
    <p:sldId id="559" r:id="rId38"/>
    <p:sldId id="560" r:id="rId39"/>
    <p:sldId id="561" r:id="rId40"/>
    <p:sldId id="562" r:id="rId41"/>
    <p:sldId id="563" r:id="rId42"/>
    <p:sldId id="564" r:id="rId43"/>
    <p:sldId id="565" r:id="rId44"/>
    <p:sldId id="258" r:id="rId45"/>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2060"/>
    <a:srgbClr val="385D8A"/>
    <a:srgbClr val="FFFFFF"/>
    <a:srgbClr val="D8F3F8"/>
    <a:srgbClr val="4774AB"/>
    <a:srgbClr val="3D6696"/>
    <a:srgbClr val="0000CC"/>
    <a:srgbClr val="0066FF"/>
    <a:srgbClr val="CAF6AC"/>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淺色樣式 2 - 輔色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2931" autoAdjust="0"/>
    <p:restoredTop sz="91335" autoAdjust="0"/>
  </p:normalViewPr>
  <p:slideViewPr>
    <p:cSldViewPr>
      <p:cViewPr varScale="1">
        <p:scale>
          <a:sx n="72" d="100"/>
          <a:sy n="72" d="100"/>
        </p:scale>
        <p:origin x="1814" y="53"/>
      </p:cViewPr>
      <p:guideLst>
        <p:guide orient="horz" pos="2160"/>
        <p:guide pos="2880"/>
      </p:guideLst>
    </p:cSldViewPr>
  </p:slideViewPr>
  <p:notesTextViewPr>
    <p:cViewPr>
      <p:scale>
        <a:sx n="1" d="1"/>
        <a:sy n="1" d="1"/>
      </p:scale>
      <p:origin x="0" y="0"/>
    </p:cViewPr>
  </p:notesTextViewPr>
  <p:sorterViewPr>
    <p:cViewPr>
      <p:scale>
        <a:sx n="100" d="100"/>
        <a:sy n="100" d="100"/>
      </p:scale>
      <p:origin x="0" y="-896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0A9395-D7CD-4215-8E6B-7BE532EF02D8}"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zh-TW" altLang="en-US"/>
        </a:p>
      </dgm:t>
    </dgm:pt>
    <dgm:pt modelId="{64D52D02-86AC-4C41-B86B-5B7318330A3E}">
      <dgm:prSet phldrT="[文字]">
        <dgm:style>
          <a:lnRef idx="1">
            <a:schemeClr val="dk1"/>
          </a:lnRef>
          <a:fillRef idx="2">
            <a:schemeClr val="dk1"/>
          </a:fillRef>
          <a:effectRef idx="1">
            <a:schemeClr val="dk1"/>
          </a:effectRef>
          <a:fontRef idx="minor">
            <a:schemeClr val="dk1"/>
          </a:fontRef>
        </dgm:style>
      </dgm:prSet>
      <dgm:spPr>
        <a:noFill/>
        <a:ln>
          <a:noFill/>
        </a:ln>
      </dgm:spPr>
      <dgm:t>
        <a:bodyPr lIns="0" tIns="0" rIns="0" bIns="0"/>
        <a:lstStyle/>
        <a:p>
          <a:endParaRPr lang="zh-TW" altLang="en-US" dirty="0">
            <a:latin typeface="微軟正黑體" panose="020B0604030504040204" pitchFamily="34" charset="-120"/>
            <a:ea typeface="微軟正黑體" panose="020B0604030504040204" pitchFamily="34" charset="-120"/>
          </a:endParaRPr>
        </a:p>
      </dgm:t>
    </dgm:pt>
    <dgm:pt modelId="{B88C3536-7ACE-49C0-BE4C-E9F922B0EC8F}" type="parTrans" cxnId="{F5D96FEB-5B9A-4661-B227-68AEAA115604}">
      <dgm:prSet/>
      <dgm:spPr/>
      <dgm:t>
        <a:bodyPr/>
        <a:lstStyle/>
        <a:p>
          <a:endParaRPr lang="zh-TW" altLang="en-US">
            <a:latin typeface="微軟正黑體" panose="020B0604030504040204" pitchFamily="34" charset="-120"/>
            <a:ea typeface="微軟正黑體" panose="020B0604030504040204" pitchFamily="34" charset="-120"/>
          </a:endParaRPr>
        </a:p>
      </dgm:t>
    </dgm:pt>
    <dgm:pt modelId="{BF9F31EA-FCD2-42F8-86C3-A767DAFEF87E}" type="sibTrans" cxnId="{F5D96FEB-5B9A-4661-B227-68AEAA115604}">
      <dgm:prSet/>
      <dgm:spPr/>
      <dgm:t>
        <a:bodyPr/>
        <a:lstStyle/>
        <a:p>
          <a:endParaRPr lang="zh-TW" altLang="en-US">
            <a:latin typeface="微軟正黑體" panose="020B0604030504040204" pitchFamily="34" charset="-120"/>
            <a:ea typeface="微軟正黑體" panose="020B0604030504040204" pitchFamily="34" charset="-120"/>
          </a:endParaRPr>
        </a:p>
      </dgm:t>
    </dgm:pt>
    <dgm:pt modelId="{D62DABC1-C27E-4F29-B680-EE479E1AA77E}">
      <dgm:prSet phldrT="[文字]">
        <dgm:style>
          <a:lnRef idx="1">
            <a:schemeClr val="accent3"/>
          </a:lnRef>
          <a:fillRef idx="2">
            <a:schemeClr val="accent3"/>
          </a:fillRef>
          <a:effectRef idx="1">
            <a:schemeClr val="accent3"/>
          </a:effectRef>
          <a:fontRef idx="minor">
            <a:schemeClr val="dk1"/>
          </a:fontRef>
        </dgm:style>
      </dgm:prSet>
      <dgm:spPr>
        <a:noFill/>
      </dgm:spPr>
      <dgm:t>
        <a:bodyPr/>
        <a:lstStyle/>
        <a:p>
          <a:endParaRPr lang="zh-TW" altLang="en-US" dirty="0">
            <a:latin typeface="微軟正黑體" panose="020B0604030504040204" pitchFamily="34" charset="-120"/>
            <a:ea typeface="微軟正黑體" panose="020B0604030504040204" pitchFamily="34" charset="-120"/>
          </a:endParaRPr>
        </a:p>
      </dgm:t>
    </dgm:pt>
    <dgm:pt modelId="{29C1DE34-5C71-4B98-9C20-0B6412DAA95F}" type="parTrans" cxnId="{0EE8AF4B-35DF-4183-8BA6-FC3FFF78A9BE}">
      <dgm:prSet/>
      <dgm:spPr/>
      <dgm:t>
        <a:bodyPr/>
        <a:lstStyle/>
        <a:p>
          <a:endParaRPr lang="zh-TW" altLang="en-US"/>
        </a:p>
      </dgm:t>
    </dgm:pt>
    <dgm:pt modelId="{E76C3AC3-D5F6-481B-B4BE-F9A081B2D68C}" type="sibTrans" cxnId="{0EE8AF4B-35DF-4183-8BA6-FC3FFF78A9BE}">
      <dgm:prSet/>
      <dgm:spPr/>
      <dgm:t>
        <a:bodyPr/>
        <a:lstStyle/>
        <a:p>
          <a:endParaRPr lang="zh-TW" altLang="en-US"/>
        </a:p>
      </dgm:t>
    </dgm:pt>
    <dgm:pt modelId="{A232CA6A-5415-4348-8E7D-50C03AE82A03}">
      <dgm:prSet phldrT="[文字]">
        <dgm:style>
          <a:lnRef idx="1">
            <a:schemeClr val="accent3"/>
          </a:lnRef>
          <a:fillRef idx="2">
            <a:schemeClr val="accent3"/>
          </a:fillRef>
          <a:effectRef idx="1">
            <a:schemeClr val="accent3"/>
          </a:effectRef>
          <a:fontRef idx="minor">
            <a:schemeClr val="dk1"/>
          </a:fontRef>
        </dgm:style>
      </dgm:prSet>
      <dgm:spPr>
        <a:noFill/>
      </dgm:spPr>
      <dgm:t>
        <a:bodyPr/>
        <a:lstStyle/>
        <a:p>
          <a:endParaRPr lang="zh-TW" altLang="en-US" dirty="0">
            <a:latin typeface="微軟正黑體" panose="020B0604030504040204" pitchFamily="34" charset="-120"/>
            <a:ea typeface="微軟正黑體" panose="020B0604030504040204" pitchFamily="34" charset="-120"/>
          </a:endParaRPr>
        </a:p>
      </dgm:t>
    </dgm:pt>
    <dgm:pt modelId="{706A3753-48D2-4810-95A0-0E8E88567F5A}" type="parTrans" cxnId="{D272F0D1-3424-4F4C-BE4D-84C34C71D61F}">
      <dgm:prSet/>
      <dgm:spPr/>
      <dgm:t>
        <a:bodyPr/>
        <a:lstStyle/>
        <a:p>
          <a:endParaRPr lang="zh-TW" altLang="en-US"/>
        </a:p>
      </dgm:t>
    </dgm:pt>
    <dgm:pt modelId="{0DE66EDB-DE07-4194-B701-5D23D39D2BF9}" type="sibTrans" cxnId="{D272F0D1-3424-4F4C-BE4D-84C34C71D61F}">
      <dgm:prSet/>
      <dgm:spPr/>
      <dgm:t>
        <a:bodyPr/>
        <a:lstStyle/>
        <a:p>
          <a:endParaRPr lang="zh-TW" altLang="en-US"/>
        </a:p>
      </dgm:t>
    </dgm:pt>
    <dgm:pt modelId="{EB693851-6138-4AFF-BD35-15A1FB9658E6}">
      <dgm:prSet phldrT="[文字]">
        <dgm:style>
          <a:lnRef idx="1">
            <a:schemeClr val="accent3"/>
          </a:lnRef>
          <a:fillRef idx="2">
            <a:schemeClr val="accent3"/>
          </a:fillRef>
          <a:effectRef idx="1">
            <a:schemeClr val="accent3"/>
          </a:effectRef>
          <a:fontRef idx="minor">
            <a:schemeClr val="dk1"/>
          </a:fontRef>
        </dgm:style>
      </dgm:prSet>
      <dgm:spPr>
        <a:noFill/>
      </dgm:spPr>
      <dgm:t>
        <a:bodyPr/>
        <a:lstStyle/>
        <a:p>
          <a:endParaRPr lang="zh-TW" altLang="en-US" dirty="0">
            <a:latin typeface="微軟正黑體" panose="020B0604030504040204" pitchFamily="34" charset="-120"/>
            <a:ea typeface="微軟正黑體" panose="020B0604030504040204" pitchFamily="34" charset="-120"/>
          </a:endParaRPr>
        </a:p>
      </dgm:t>
    </dgm:pt>
    <dgm:pt modelId="{7CED840B-D5F3-421A-8FE4-2B9674298805}" type="parTrans" cxnId="{5B5549FB-4F4A-4384-A4AF-5BED3829C6CE}">
      <dgm:prSet/>
      <dgm:spPr/>
      <dgm:t>
        <a:bodyPr/>
        <a:lstStyle/>
        <a:p>
          <a:endParaRPr lang="zh-TW" altLang="en-US"/>
        </a:p>
      </dgm:t>
    </dgm:pt>
    <dgm:pt modelId="{F58670E2-E604-4EFD-A56D-B923701C729A}" type="sibTrans" cxnId="{5B5549FB-4F4A-4384-A4AF-5BED3829C6CE}">
      <dgm:prSet/>
      <dgm:spPr/>
      <dgm:t>
        <a:bodyPr/>
        <a:lstStyle/>
        <a:p>
          <a:endParaRPr lang="zh-TW" altLang="en-US"/>
        </a:p>
      </dgm:t>
    </dgm:pt>
    <dgm:pt modelId="{1DD726EE-75C6-410E-BD9A-A44327C0857A}">
      <dgm:prSet phldrT="[文字]">
        <dgm:style>
          <a:lnRef idx="1">
            <a:schemeClr val="accent3"/>
          </a:lnRef>
          <a:fillRef idx="2">
            <a:schemeClr val="accent3"/>
          </a:fillRef>
          <a:effectRef idx="1">
            <a:schemeClr val="accent3"/>
          </a:effectRef>
          <a:fontRef idx="minor">
            <a:schemeClr val="dk1"/>
          </a:fontRef>
        </dgm:style>
      </dgm:prSet>
      <dgm:spPr>
        <a:noFill/>
      </dgm:spPr>
      <dgm:t>
        <a:bodyPr/>
        <a:lstStyle/>
        <a:p>
          <a:endParaRPr lang="zh-TW" altLang="en-US" dirty="0">
            <a:latin typeface="微軟正黑體" panose="020B0604030504040204" pitchFamily="34" charset="-120"/>
            <a:ea typeface="微軟正黑體" panose="020B0604030504040204" pitchFamily="34" charset="-120"/>
          </a:endParaRPr>
        </a:p>
      </dgm:t>
    </dgm:pt>
    <dgm:pt modelId="{0A79FEB7-8E04-49E2-AE2A-CF8A57DBB41D}" type="sibTrans" cxnId="{060EAF6F-CC60-4B3A-83BC-41F811BC1A90}">
      <dgm:prSet/>
      <dgm:spPr/>
      <dgm:t>
        <a:bodyPr/>
        <a:lstStyle/>
        <a:p>
          <a:endParaRPr lang="zh-TW" altLang="en-US"/>
        </a:p>
      </dgm:t>
    </dgm:pt>
    <dgm:pt modelId="{04DA6B3D-2917-4710-9627-B2B0878094A9}" type="parTrans" cxnId="{060EAF6F-CC60-4B3A-83BC-41F811BC1A90}">
      <dgm:prSet/>
      <dgm:spPr/>
      <dgm:t>
        <a:bodyPr/>
        <a:lstStyle/>
        <a:p>
          <a:endParaRPr lang="zh-TW" altLang="en-US"/>
        </a:p>
      </dgm:t>
    </dgm:pt>
    <dgm:pt modelId="{C49186CC-6880-4079-84BE-3ED0DF297ABF}" type="pres">
      <dgm:prSet presAssocID="{920A9395-D7CD-4215-8E6B-7BE532EF02D8}" presName="diagram" presStyleCnt="0">
        <dgm:presLayoutVars>
          <dgm:chMax val="1"/>
          <dgm:dir/>
          <dgm:animLvl val="ctr"/>
          <dgm:resizeHandles val="exact"/>
        </dgm:presLayoutVars>
      </dgm:prSet>
      <dgm:spPr/>
    </dgm:pt>
    <dgm:pt modelId="{8265CB38-DAA2-4A62-B1D4-8C5B69555BD7}" type="pres">
      <dgm:prSet presAssocID="{920A9395-D7CD-4215-8E6B-7BE532EF02D8}" presName="matrix" presStyleCnt="0"/>
      <dgm:spPr/>
    </dgm:pt>
    <dgm:pt modelId="{6D2DBCF2-CDA0-45EC-86F4-0B88863F3F7C}" type="pres">
      <dgm:prSet presAssocID="{920A9395-D7CD-4215-8E6B-7BE532EF02D8}" presName="tile1" presStyleLbl="node1" presStyleIdx="0" presStyleCnt="4"/>
      <dgm:spPr/>
    </dgm:pt>
    <dgm:pt modelId="{71886B14-C9D4-42E8-A08F-4D4DFEAF87E0}" type="pres">
      <dgm:prSet presAssocID="{920A9395-D7CD-4215-8E6B-7BE532EF02D8}" presName="tile1text" presStyleLbl="node1" presStyleIdx="0" presStyleCnt="4">
        <dgm:presLayoutVars>
          <dgm:chMax val="0"/>
          <dgm:chPref val="0"/>
          <dgm:bulletEnabled val="1"/>
        </dgm:presLayoutVars>
      </dgm:prSet>
      <dgm:spPr/>
    </dgm:pt>
    <dgm:pt modelId="{D4F86E0E-7528-4720-9823-0559F079018A}" type="pres">
      <dgm:prSet presAssocID="{920A9395-D7CD-4215-8E6B-7BE532EF02D8}" presName="tile2" presStyleLbl="node1" presStyleIdx="1" presStyleCnt="4" custLinFactNeighborX="15721" custLinFactNeighborY="-9891"/>
      <dgm:spPr>
        <a:noFill/>
      </dgm:spPr>
    </dgm:pt>
    <dgm:pt modelId="{5E7369D3-15AF-488E-9918-9AFD9DF43A46}" type="pres">
      <dgm:prSet presAssocID="{920A9395-D7CD-4215-8E6B-7BE532EF02D8}" presName="tile2text" presStyleLbl="node1" presStyleIdx="1" presStyleCnt="4">
        <dgm:presLayoutVars>
          <dgm:chMax val="0"/>
          <dgm:chPref val="0"/>
          <dgm:bulletEnabled val="1"/>
        </dgm:presLayoutVars>
      </dgm:prSet>
      <dgm:spPr/>
    </dgm:pt>
    <dgm:pt modelId="{B92CA7AC-00B0-4DF3-8145-401D2000A5FD}" type="pres">
      <dgm:prSet presAssocID="{920A9395-D7CD-4215-8E6B-7BE532EF02D8}" presName="tile3" presStyleLbl="node1" presStyleIdx="2" presStyleCnt="4"/>
      <dgm:spPr>
        <a:noFill/>
      </dgm:spPr>
    </dgm:pt>
    <dgm:pt modelId="{DDFB28E7-3EE3-4394-B925-9390FB9DC83A}" type="pres">
      <dgm:prSet presAssocID="{920A9395-D7CD-4215-8E6B-7BE532EF02D8}" presName="tile3text" presStyleLbl="node1" presStyleIdx="2" presStyleCnt="4">
        <dgm:presLayoutVars>
          <dgm:chMax val="0"/>
          <dgm:chPref val="0"/>
          <dgm:bulletEnabled val="1"/>
        </dgm:presLayoutVars>
      </dgm:prSet>
      <dgm:spPr/>
    </dgm:pt>
    <dgm:pt modelId="{94F20CC0-26DF-4461-8BFA-EB2C496BAEEE}" type="pres">
      <dgm:prSet presAssocID="{920A9395-D7CD-4215-8E6B-7BE532EF02D8}" presName="tile4" presStyleLbl="node1" presStyleIdx="3" presStyleCnt="4"/>
      <dgm:spPr>
        <a:noFill/>
      </dgm:spPr>
    </dgm:pt>
    <dgm:pt modelId="{DC98C984-14C7-46A9-9ABA-6B1BEBD8EB6E}" type="pres">
      <dgm:prSet presAssocID="{920A9395-D7CD-4215-8E6B-7BE532EF02D8}" presName="tile4text" presStyleLbl="node1" presStyleIdx="3" presStyleCnt="4">
        <dgm:presLayoutVars>
          <dgm:chMax val="0"/>
          <dgm:chPref val="0"/>
          <dgm:bulletEnabled val="1"/>
        </dgm:presLayoutVars>
      </dgm:prSet>
      <dgm:spPr/>
    </dgm:pt>
    <dgm:pt modelId="{3C358B3A-A489-42E4-965E-E36969F6C9FA}" type="pres">
      <dgm:prSet presAssocID="{920A9395-D7CD-4215-8E6B-7BE532EF02D8}" presName="centerTile" presStyleLbl="fgShp" presStyleIdx="0" presStyleCnt="1" custFlipVert="1" custFlipHor="0" custScaleX="1848" custScaleY="8831">
        <dgm:presLayoutVars>
          <dgm:chMax val="0"/>
          <dgm:chPref val="0"/>
        </dgm:presLayoutVars>
      </dgm:prSet>
      <dgm:spPr/>
    </dgm:pt>
  </dgm:ptLst>
  <dgm:cxnLst>
    <dgm:cxn modelId="{E8CD5C03-9497-4A3A-A54E-793C6C4C3454}" type="presOf" srcId="{D62DABC1-C27E-4F29-B680-EE479E1AA77E}" destId="{94F20CC0-26DF-4461-8BFA-EB2C496BAEEE}" srcOrd="0" destOrd="0" presId="urn:microsoft.com/office/officeart/2005/8/layout/matrix1"/>
    <dgm:cxn modelId="{999F4113-AF45-4893-8C6E-76BFDD439E2A}" type="presOf" srcId="{1DD726EE-75C6-410E-BD9A-A44327C0857A}" destId="{6D2DBCF2-CDA0-45EC-86F4-0B88863F3F7C}" srcOrd="0" destOrd="0" presId="urn:microsoft.com/office/officeart/2005/8/layout/matrix1"/>
    <dgm:cxn modelId="{4D7EBB2A-F8EA-4D20-8CC6-306A48544645}" type="presOf" srcId="{920A9395-D7CD-4215-8E6B-7BE532EF02D8}" destId="{C49186CC-6880-4079-84BE-3ED0DF297ABF}" srcOrd="0" destOrd="0" presId="urn:microsoft.com/office/officeart/2005/8/layout/matrix1"/>
    <dgm:cxn modelId="{0EE8AF4B-35DF-4183-8BA6-FC3FFF78A9BE}" srcId="{64D52D02-86AC-4C41-B86B-5B7318330A3E}" destId="{D62DABC1-C27E-4F29-B680-EE479E1AA77E}" srcOrd="3" destOrd="0" parTransId="{29C1DE34-5C71-4B98-9C20-0B6412DAA95F}" sibTransId="{E76C3AC3-D5F6-481B-B4BE-F9A081B2D68C}"/>
    <dgm:cxn modelId="{FEE0294C-0BC5-427A-B142-A7769730E305}" type="presOf" srcId="{1DD726EE-75C6-410E-BD9A-A44327C0857A}" destId="{71886B14-C9D4-42E8-A08F-4D4DFEAF87E0}" srcOrd="1" destOrd="0" presId="urn:microsoft.com/office/officeart/2005/8/layout/matrix1"/>
    <dgm:cxn modelId="{060EAF6F-CC60-4B3A-83BC-41F811BC1A90}" srcId="{64D52D02-86AC-4C41-B86B-5B7318330A3E}" destId="{1DD726EE-75C6-410E-BD9A-A44327C0857A}" srcOrd="0" destOrd="0" parTransId="{04DA6B3D-2917-4710-9627-B2B0878094A9}" sibTransId="{0A79FEB7-8E04-49E2-AE2A-CF8A57DBB41D}"/>
    <dgm:cxn modelId="{124CF878-F562-451E-8CC9-F8B50A30B17F}" type="presOf" srcId="{D62DABC1-C27E-4F29-B680-EE479E1AA77E}" destId="{DC98C984-14C7-46A9-9ABA-6B1BEBD8EB6E}" srcOrd="1" destOrd="0" presId="urn:microsoft.com/office/officeart/2005/8/layout/matrix1"/>
    <dgm:cxn modelId="{EF897484-6CE6-46F7-8015-B6600BCECEEA}" type="presOf" srcId="{EB693851-6138-4AFF-BD35-15A1FB9658E6}" destId="{B92CA7AC-00B0-4DF3-8145-401D2000A5FD}" srcOrd="0" destOrd="0" presId="urn:microsoft.com/office/officeart/2005/8/layout/matrix1"/>
    <dgm:cxn modelId="{3FBF1890-EDA1-41D4-900A-51D5DB6B1889}" type="presOf" srcId="{A232CA6A-5415-4348-8E7D-50C03AE82A03}" destId="{5E7369D3-15AF-488E-9918-9AFD9DF43A46}" srcOrd="1" destOrd="0" presId="urn:microsoft.com/office/officeart/2005/8/layout/matrix1"/>
    <dgm:cxn modelId="{D1D04FA6-B166-434E-925F-AFBC116AAF54}" type="presOf" srcId="{64D52D02-86AC-4C41-B86B-5B7318330A3E}" destId="{3C358B3A-A489-42E4-965E-E36969F6C9FA}" srcOrd="0" destOrd="0" presId="urn:microsoft.com/office/officeart/2005/8/layout/matrix1"/>
    <dgm:cxn modelId="{D272F0D1-3424-4F4C-BE4D-84C34C71D61F}" srcId="{64D52D02-86AC-4C41-B86B-5B7318330A3E}" destId="{A232CA6A-5415-4348-8E7D-50C03AE82A03}" srcOrd="1" destOrd="0" parTransId="{706A3753-48D2-4810-95A0-0E8E88567F5A}" sibTransId="{0DE66EDB-DE07-4194-B701-5D23D39D2BF9}"/>
    <dgm:cxn modelId="{242C7EDF-972D-4438-B2C2-62D3863C20BC}" type="presOf" srcId="{EB693851-6138-4AFF-BD35-15A1FB9658E6}" destId="{DDFB28E7-3EE3-4394-B925-9390FB9DC83A}" srcOrd="1" destOrd="0" presId="urn:microsoft.com/office/officeart/2005/8/layout/matrix1"/>
    <dgm:cxn modelId="{F5D96FEB-5B9A-4661-B227-68AEAA115604}" srcId="{920A9395-D7CD-4215-8E6B-7BE532EF02D8}" destId="{64D52D02-86AC-4C41-B86B-5B7318330A3E}" srcOrd="0" destOrd="0" parTransId="{B88C3536-7ACE-49C0-BE4C-E9F922B0EC8F}" sibTransId="{BF9F31EA-FCD2-42F8-86C3-A767DAFEF87E}"/>
    <dgm:cxn modelId="{5B5549FB-4F4A-4384-A4AF-5BED3829C6CE}" srcId="{64D52D02-86AC-4C41-B86B-5B7318330A3E}" destId="{EB693851-6138-4AFF-BD35-15A1FB9658E6}" srcOrd="2" destOrd="0" parTransId="{7CED840B-D5F3-421A-8FE4-2B9674298805}" sibTransId="{F58670E2-E604-4EFD-A56D-B923701C729A}"/>
    <dgm:cxn modelId="{939E80FF-C28B-47E5-B386-5939A71EF63C}" type="presOf" srcId="{A232CA6A-5415-4348-8E7D-50C03AE82A03}" destId="{D4F86E0E-7528-4720-9823-0559F079018A}" srcOrd="0" destOrd="0" presId="urn:microsoft.com/office/officeart/2005/8/layout/matrix1"/>
    <dgm:cxn modelId="{B0859E41-FE2A-4C3E-AB35-8F76AAF46F8C}" type="presParOf" srcId="{C49186CC-6880-4079-84BE-3ED0DF297ABF}" destId="{8265CB38-DAA2-4A62-B1D4-8C5B69555BD7}" srcOrd="0" destOrd="0" presId="urn:microsoft.com/office/officeart/2005/8/layout/matrix1"/>
    <dgm:cxn modelId="{D2FC9513-EC1C-4F3C-95F3-E835B11F6A27}" type="presParOf" srcId="{8265CB38-DAA2-4A62-B1D4-8C5B69555BD7}" destId="{6D2DBCF2-CDA0-45EC-86F4-0B88863F3F7C}" srcOrd="0" destOrd="0" presId="urn:microsoft.com/office/officeart/2005/8/layout/matrix1"/>
    <dgm:cxn modelId="{8BCE6946-6C21-430B-97DA-1467285F3FA6}" type="presParOf" srcId="{8265CB38-DAA2-4A62-B1D4-8C5B69555BD7}" destId="{71886B14-C9D4-42E8-A08F-4D4DFEAF87E0}" srcOrd="1" destOrd="0" presId="urn:microsoft.com/office/officeart/2005/8/layout/matrix1"/>
    <dgm:cxn modelId="{397C64F6-4AD6-4F54-AE0B-9085BCD3C02A}" type="presParOf" srcId="{8265CB38-DAA2-4A62-B1D4-8C5B69555BD7}" destId="{D4F86E0E-7528-4720-9823-0559F079018A}" srcOrd="2" destOrd="0" presId="urn:microsoft.com/office/officeart/2005/8/layout/matrix1"/>
    <dgm:cxn modelId="{FEC77CB4-6BD4-43F0-B76E-8131D594D928}" type="presParOf" srcId="{8265CB38-DAA2-4A62-B1D4-8C5B69555BD7}" destId="{5E7369D3-15AF-488E-9918-9AFD9DF43A46}" srcOrd="3" destOrd="0" presId="urn:microsoft.com/office/officeart/2005/8/layout/matrix1"/>
    <dgm:cxn modelId="{223D3C13-8E51-40D5-8353-5A696ADC0730}" type="presParOf" srcId="{8265CB38-DAA2-4A62-B1D4-8C5B69555BD7}" destId="{B92CA7AC-00B0-4DF3-8145-401D2000A5FD}" srcOrd="4" destOrd="0" presId="urn:microsoft.com/office/officeart/2005/8/layout/matrix1"/>
    <dgm:cxn modelId="{5C5E5551-EE8A-4F87-8DB6-DA9D595A6CE5}" type="presParOf" srcId="{8265CB38-DAA2-4A62-B1D4-8C5B69555BD7}" destId="{DDFB28E7-3EE3-4394-B925-9390FB9DC83A}" srcOrd="5" destOrd="0" presId="urn:microsoft.com/office/officeart/2005/8/layout/matrix1"/>
    <dgm:cxn modelId="{1157C22D-7EAC-432A-A7BC-64EA58137FE2}" type="presParOf" srcId="{8265CB38-DAA2-4A62-B1D4-8C5B69555BD7}" destId="{94F20CC0-26DF-4461-8BFA-EB2C496BAEEE}" srcOrd="6" destOrd="0" presId="urn:microsoft.com/office/officeart/2005/8/layout/matrix1"/>
    <dgm:cxn modelId="{35428C1C-E2C5-4D3A-8724-5C8FE9E98CB2}" type="presParOf" srcId="{8265CB38-DAA2-4A62-B1D4-8C5B69555BD7}" destId="{DC98C984-14C7-46A9-9ABA-6B1BEBD8EB6E}" srcOrd="7" destOrd="0" presId="urn:microsoft.com/office/officeart/2005/8/layout/matrix1"/>
    <dgm:cxn modelId="{827DDE51-6EEE-440E-B46C-0B56132F4EEE}" type="presParOf" srcId="{C49186CC-6880-4079-84BE-3ED0DF297ABF}" destId="{3C358B3A-A489-42E4-965E-E36969F6C9FA}" srcOrd="1" destOrd="0" presId="urn:microsoft.com/office/officeart/2005/8/layout/matrix1"/>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20A9395-D7CD-4215-8E6B-7BE532EF02D8}"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zh-TW" altLang="en-US"/>
        </a:p>
      </dgm:t>
    </dgm:pt>
    <dgm:pt modelId="{64D52D02-86AC-4C41-B86B-5B7318330A3E}">
      <dgm:prSet phldrT="[文字]">
        <dgm:style>
          <a:lnRef idx="1">
            <a:schemeClr val="dk1"/>
          </a:lnRef>
          <a:fillRef idx="2">
            <a:schemeClr val="dk1"/>
          </a:fillRef>
          <a:effectRef idx="1">
            <a:schemeClr val="dk1"/>
          </a:effectRef>
          <a:fontRef idx="minor">
            <a:schemeClr val="dk1"/>
          </a:fontRef>
        </dgm:style>
      </dgm:prSet>
      <dgm:spPr>
        <a:noFill/>
        <a:ln>
          <a:noFill/>
        </a:ln>
      </dgm:spPr>
      <dgm:t>
        <a:bodyPr lIns="0" tIns="0" rIns="0" bIns="0"/>
        <a:lstStyle/>
        <a:p>
          <a:endParaRPr lang="zh-TW" altLang="en-US" dirty="0">
            <a:latin typeface="微軟正黑體" panose="020B0604030504040204" pitchFamily="34" charset="-120"/>
            <a:ea typeface="微軟正黑體" panose="020B0604030504040204" pitchFamily="34" charset="-120"/>
          </a:endParaRPr>
        </a:p>
      </dgm:t>
    </dgm:pt>
    <dgm:pt modelId="{B88C3536-7ACE-49C0-BE4C-E9F922B0EC8F}" type="parTrans" cxnId="{F5D96FEB-5B9A-4661-B227-68AEAA115604}">
      <dgm:prSet/>
      <dgm:spPr/>
      <dgm:t>
        <a:bodyPr/>
        <a:lstStyle/>
        <a:p>
          <a:endParaRPr lang="zh-TW" altLang="en-US">
            <a:latin typeface="微軟正黑體" panose="020B0604030504040204" pitchFamily="34" charset="-120"/>
            <a:ea typeface="微軟正黑體" panose="020B0604030504040204" pitchFamily="34" charset="-120"/>
          </a:endParaRPr>
        </a:p>
      </dgm:t>
    </dgm:pt>
    <dgm:pt modelId="{BF9F31EA-FCD2-42F8-86C3-A767DAFEF87E}" type="sibTrans" cxnId="{F5D96FEB-5B9A-4661-B227-68AEAA115604}">
      <dgm:prSet/>
      <dgm:spPr/>
      <dgm:t>
        <a:bodyPr/>
        <a:lstStyle/>
        <a:p>
          <a:endParaRPr lang="zh-TW" altLang="en-US">
            <a:latin typeface="微軟正黑體" panose="020B0604030504040204" pitchFamily="34" charset="-120"/>
            <a:ea typeface="微軟正黑體" panose="020B0604030504040204" pitchFamily="34" charset="-120"/>
          </a:endParaRPr>
        </a:p>
      </dgm:t>
    </dgm:pt>
    <dgm:pt modelId="{D62DABC1-C27E-4F29-B680-EE479E1AA77E}">
      <dgm:prSet phldrT="[文字]">
        <dgm:style>
          <a:lnRef idx="1">
            <a:schemeClr val="accent3"/>
          </a:lnRef>
          <a:fillRef idx="2">
            <a:schemeClr val="accent3"/>
          </a:fillRef>
          <a:effectRef idx="1">
            <a:schemeClr val="accent3"/>
          </a:effectRef>
          <a:fontRef idx="minor">
            <a:schemeClr val="dk1"/>
          </a:fontRef>
        </dgm:style>
      </dgm:prSet>
      <dgm:spPr>
        <a:noFill/>
      </dgm:spPr>
      <dgm:t>
        <a:bodyPr/>
        <a:lstStyle/>
        <a:p>
          <a:endParaRPr lang="zh-TW" altLang="en-US" dirty="0">
            <a:latin typeface="微軟正黑體" panose="020B0604030504040204" pitchFamily="34" charset="-120"/>
            <a:ea typeface="微軟正黑體" panose="020B0604030504040204" pitchFamily="34" charset="-120"/>
          </a:endParaRPr>
        </a:p>
      </dgm:t>
    </dgm:pt>
    <dgm:pt modelId="{29C1DE34-5C71-4B98-9C20-0B6412DAA95F}" type="parTrans" cxnId="{0EE8AF4B-35DF-4183-8BA6-FC3FFF78A9BE}">
      <dgm:prSet/>
      <dgm:spPr/>
      <dgm:t>
        <a:bodyPr/>
        <a:lstStyle/>
        <a:p>
          <a:endParaRPr lang="zh-TW" altLang="en-US"/>
        </a:p>
      </dgm:t>
    </dgm:pt>
    <dgm:pt modelId="{E76C3AC3-D5F6-481B-B4BE-F9A081B2D68C}" type="sibTrans" cxnId="{0EE8AF4B-35DF-4183-8BA6-FC3FFF78A9BE}">
      <dgm:prSet/>
      <dgm:spPr/>
      <dgm:t>
        <a:bodyPr/>
        <a:lstStyle/>
        <a:p>
          <a:endParaRPr lang="zh-TW" altLang="en-US"/>
        </a:p>
      </dgm:t>
    </dgm:pt>
    <dgm:pt modelId="{A232CA6A-5415-4348-8E7D-50C03AE82A03}">
      <dgm:prSet phldrT="[文字]">
        <dgm:style>
          <a:lnRef idx="1">
            <a:schemeClr val="accent3"/>
          </a:lnRef>
          <a:fillRef idx="2">
            <a:schemeClr val="accent3"/>
          </a:fillRef>
          <a:effectRef idx="1">
            <a:schemeClr val="accent3"/>
          </a:effectRef>
          <a:fontRef idx="minor">
            <a:schemeClr val="dk1"/>
          </a:fontRef>
        </dgm:style>
      </dgm:prSet>
      <dgm:spPr>
        <a:noFill/>
      </dgm:spPr>
      <dgm:t>
        <a:bodyPr/>
        <a:lstStyle/>
        <a:p>
          <a:endParaRPr lang="zh-TW" altLang="en-US" dirty="0">
            <a:latin typeface="微軟正黑體" panose="020B0604030504040204" pitchFamily="34" charset="-120"/>
            <a:ea typeface="微軟正黑體" panose="020B0604030504040204" pitchFamily="34" charset="-120"/>
          </a:endParaRPr>
        </a:p>
      </dgm:t>
    </dgm:pt>
    <dgm:pt modelId="{706A3753-48D2-4810-95A0-0E8E88567F5A}" type="parTrans" cxnId="{D272F0D1-3424-4F4C-BE4D-84C34C71D61F}">
      <dgm:prSet/>
      <dgm:spPr/>
      <dgm:t>
        <a:bodyPr/>
        <a:lstStyle/>
        <a:p>
          <a:endParaRPr lang="zh-TW" altLang="en-US"/>
        </a:p>
      </dgm:t>
    </dgm:pt>
    <dgm:pt modelId="{0DE66EDB-DE07-4194-B701-5D23D39D2BF9}" type="sibTrans" cxnId="{D272F0D1-3424-4F4C-BE4D-84C34C71D61F}">
      <dgm:prSet/>
      <dgm:spPr/>
      <dgm:t>
        <a:bodyPr/>
        <a:lstStyle/>
        <a:p>
          <a:endParaRPr lang="zh-TW" altLang="en-US"/>
        </a:p>
      </dgm:t>
    </dgm:pt>
    <dgm:pt modelId="{EB693851-6138-4AFF-BD35-15A1FB9658E6}">
      <dgm:prSet phldrT="[文字]">
        <dgm:style>
          <a:lnRef idx="1">
            <a:schemeClr val="accent3"/>
          </a:lnRef>
          <a:fillRef idx="2">
            <a:schemeClr val="accent3"/>
          </a:fillRef>
          <a:effectRef idx="1">
            <a:schemeClr val="accent3"/>
          </a:effectRef>
          <a:fontRef idx="minor">
            <a:schemeClr val="dk1"/>
          </a:fontRef>
        </dgm:style>
      </dgm:prSet>
      <dgm:spPr>
        <a:noFill/>
      </dgm:spPr>
      <dgm:t>
        <a:bodyPr/>
        <a:lstStyle/>
        <a:p>
          <a:endParaRPr lang="zh-TW" altLang="en-US" dirty="0">
            <a:latin typeface="微軟正黑體" panose="020B0604030504040204" pitchFamily="34" charset="-120"/>
            <a:ea typeface="微軟正黑體" panose="020B0604030504040204" pitchFamily="34" charset="-120"/>
          </a:endParaRPr>
        </a:p>
      </dgm:t>
    </dgm:pt>
    <dgm:pt modelId="{7CED840B-D5F3-421A-8FE4-2B9674298805}" type="parTrans" cxnId="{5B5549FB-4F4A-4384-A4AF-5BED3829C6CE}">
      <dgm:prSet/>
      <dgm:spPr/>
      <dgm:t>
        <a:bodyPr/>
        <a:lstStyle/>
        <a:p>
          <a:endParaRPr lang="zh-TW" altLang="en-US"/>
        </a:p>
      </dgm:t>
    </dgm:pt>
    <dgm:pt modelId="{F58670E2-E604-4EFD-A56D-B923701C729A}" type="sibTrans" cxnId="{5B5549FB-4F4A-4384-A4AF-5BED3829C6CE}">
      <dgm:prSet/>
      <dgm:spPr/>
      <dgm:t>
        <a:bodyPr/>
        <a:lstStyle/>
        <a:p>
          <a:endParaRPr lang="zh-TW" altLang="en-US"/>
        </a:p>
      </dgm:t>
    </dgm:pt>
    <dgm:pt modelId="{1DD726EE-75C6-410E-BD9A-A44327C0857A}">
      <dgm:prSet phldrT="[文字]">
        <dgm:style>
          <a:lnRef idx="1">
            <a:schemeClr val="accent3"/>
          </a:lnRef>
          <a:fillRef idx="2">
            <a:schemeClr val="accent3"/>
          </a:fillRef>
          <a:effectRef idx="1">
            <a:schemeClr val="accent3"/>
          </a:effectRef>
          <a:fontRef idx="minor">
            <a:schemeClr val="dk1"/>
          </a:fontRef>
        </dgm:style>
      </dgm:prSet>
      <dgm:spPr>
        <a:noFill/>
      </dgm:spPr>
      <dgm:t>
        <a:bodyPr/>
        <a:lstStyle/>
        <a:p>
          <a:endParaRPr lang="zh-TW" altLang="en-US" dirty="0">
            <a:latin typeface="微軟正黑體" panose="020B0604030504040204" pitchFamily="34" charset="-120"/>
            <a:ea typeface="微軟正黑體" panose="020B0604030504040204" pitchFamily="34" charset="-120"/>
          </a:endParaRPr>
        </a:p>
      </dgm:t>
    </dgm:pt>
    <dgm:pt modelId="{0A79FEB7-8E04-49E2-AE2A-CF8A57DBB41D}" type="sibTrans" cxnId="{060EAF6F-CC60-4B3A-83BC-41F811BC1A90}">
      <dgm:prSet/>
      <dgm:spPr/>
      <dgm:t>
        <a:bodyPr/>
        <a:lstStyle/>
        <a:p>
          <a:endParaRPr lang="zh-TW" altLang="en-US"/>
        </a:p>
      </dgm:t>
    </dgm:pt>
    <dgm:pt modelId="{04DA6B3D-2917-4710-9627-B2B0878094A9}" type="parTrans" cxnId="{060EAF6F-CC60-4B3A-83BC-41F811BC1A90}">
      <dgm:prSet/>
      <dgm:spPr/>
      <dgm:t>
        <a:bodyPr/>
        <a:lstStyle/>
        <a:p>
          <a:endParaRPr lang="zh-TW" altLang="en-US"/>
        </a:p>
      </dgm:t>
    </dgm:pt>
    <dgm:pt modelId="{C49186CC-6880-4079-84BE-3ED0DF297ABF}" type="pres">
      <dgm:prSet presAssocID="{920A9395-D7CD-4215-8E6B-7BE532EF02D8}" presName="diagram" presStyleCnt="0">
        <dgm:presLayoutVars>
          <dgm:chMax val="1"/>
          <dgm:dir/>
          <dgm:animLvl val="ctr"/>
          <dgm:resizeHandles val="exact"/>
        </dgm:presLayoutVars>
      </dgm:prSet>
      <dgm:spPr/>
    </dgm:pt>
    <dgm:pt modelId="{8265CB38-DAA2-4A62-B1D4-8C5B69555BD7}" type="pres">
      <dgm:prSet presAssocID="{920A9395-D7CD-4215-8E6B-7BE532EF02D8}" presName="matrix" presStyleCnt="0"/>
      <dgm:spPr/>
    </dgm:pt>
    <dgm:pt modelId="{6D2DBCF2-CDA0-45EC-86F4-0B88863F3F7C}" type="pres">
      <dgm:prSet presAssocID="{920A9395-D7CD-4215-8E6B-7BE532EF02D8}" presName="tile1" presStyleLbl="node1" presStyleIdx="0" presStyleCnt="4"/>
      <dgm:spPr/>
    </dgm:pt>
    <dgm:pt modelId="{71886B14-C9D4-42E8-A08F-4D4DFEAF87E0}" type="pres">
      <dgm:prSet presAssocID="{920A9395-D7CD-4215-8E6B-7BE532EF02D8}" presName="tile1text" presStyleLbl="node1" presStyleIdx="0" presStyleCnt="4">
        <dgm:presLayoutVars>
          <dgm:chMax val="0"/>
          <dgm:chPref val="0"/>
          <dgm:bulletEnabled val="1"/>
        </dgm:presLayoutVars>
      </dgm:prSet>
      <dgm:spPr/>
    </dgm:pt>
    <dgm:pt modelId="{D4F86E0E-7528-4720-9823-0559F079018A}" type="pres">
      <dgm:prSet presAssocID="{920A9395-D7CD-4215-8E6B-7BE532EF02D8}" presName="tile2" presStyleLbl="node1" presStyleIdx="1" presStyleCnt="4" custLinFactNeighborX="15721" custLinFactNeighborY="-9891"/>
      <dgm:spPr>
        <a:noFill/>
      </dgm:spPr>
    </dgm:pt>
    <dgm:pt modelId="{5E7369D3-15AF-488E-9918-9AFD9DF43A46}" type="pres">
      <dgm:prSet presAssocID="{920A9395-D7CD-4215-8E6B-7BE532EF02D8}" presName="tile2text" presStyleLbl="node1" presStyleIdx="1" presStyleCnt="4">
        <dgm:presLayoutVars>
          <dgm:chMax val="0"/>
          <dgm:chPref val="0"/>
          <dgm:bulletEnabled val="1"/>
        </dgm:presLayoutVars>
      </dgm:prSet>
      <dgm:spPr/>
    </dgm:pt>
    <dgm:pt modelId="{B92CA7AC-00B0-4DF3-8145-401D2000A5FD}" type="pres">
      <dgm:prSet presAssocID="{920A9395-D7CD-4215-8E6B-7BE532EF02D8}" presName="tile3" presStyleLbl="node1" presStyleIdx="2" presStyleCnt="4"/>
      <dgm:spPr>
        <a:noFill/>
      </dgm:spPr>
    </dgm:pt>
    <dgm:pt modelId="{DDFB28E7-3EE3-4394-B925-9390FB9DC83A}" type="pres">
      <dgm:prSet presAssocID="{920A9395-D7CD-4215-8E6B-7BE532EF02D8}" presName="tile3text" presStyleLbl="node1" presStyleIdx="2" presStyleCnt="4">
        <dgm:presLayoutVars>
          <dgm:chMax val="0"/>
          <dgm:chPref val="0"/>
          <dgm:bulletEnabled val="1"/>
        </dgm:presLayoutVars>
      </dgm:prSet>
      <dgm:spPr/>
    </dgm:pt>
    <dgm:pt modelId="{94F20CC0-26DF-4461-8BFA-EB2C496BAEEE}" type="pres">
      <dgm:prSet presAssocID="{920A9395-D7CD-4215-8E6B-7BE532EF02D8}" presName="tile4" presStyleLbl="node1" presStyleIdx="3" presStyleCnt="4"/>
      <dgm:spPr>
        <a:noFill/>
      </dgm:spPr>
    </dgm:pt>
    <dgm:pt modelId="{DC98C984-14C7-46A9-9ABA-6B1BEBD8EB6E}" type="pres">
      <dgm:prSet presAssocID="{920A9395-D7CD-4215-8E6B-7BE532EF02D8}" presName="tile4text" presStyleLbl="node1" presStyleIdx="3" presStyleCnt="4">
        <dgm:presLayoutVars>
          <dgm:chMax val="0"/>
          <dgm:chPref val="0"/>
          <dgm:bulletEnabled val="1"/>
        </dgm:presLayoutVars>
      </dgm:prSet>
      <dgm:spPr/>
    </dgm:pt>
    <dgm:pt modelId="{3C358B3A-A489-42E4-965E-E36969F6C9FA}" type="pres">
      <dgm:prSet presAssocID="{920A9395-D7CD-4215-8E6B-7BE532EF02D8}" presName="centerTile" presStyleLbl="fgShp" presStyleIdx="0" presStyleCnt="1" custFlipVert="1" custFlipHor="0" custScaleX="1848" custScaleY="8831">
        <dgm:presLayoutVars>
          <dgm:chMax val="0"/>
          <dgm:chPref val="0"/>
        </dgm:presLayoutVars>
      </dgm:prSet>
      <dgm:spPr/>
    </dgm:pt>
  </dgm:ptLst>
  <dgm:cxnLst>
    <dgm:cxn modelId="{E365620B-D8F3-4880-BB3A-B9C63A63F76A}" type="presOf" srcId="{A232CA6A-5415-4348-8E7D-50C03AE82A03}" destId="{D4F86E0E-7528-4720-9823-0559F079018A}" srcOrd="0" destOrd="0" presId="urn:microsoft.com/office/officeart/2005/8/layout/matrix1"/>
    <dgm:cxn modelId="{4383021D-31C7-4EBB-9807-F011641E9877}" type="presOf" srcId="{A232CA6A-5415-4348-8E7D-50C03AE82A03}" destId="{5E7369D3-15AF-488E-9918-9AFD9DF43A46}" srcOrd="1" destOrd="0" presId="urn:microsoft.com/office/officeart/2005/8/layout/matrix1"/>
    <dgm:cxn modelId="{D008A743-CAEF-413B-9B1B-ECE52153EEE5}" type="presOf" srcId="{D62DABC1-C27E-4F29-B680-EE479E1AA77E}" destId="{94F20CC0-26DF-4461-8BFA-EB2C496BAEEE}" srcOrd="0" destOrd="0" presId="urn:microsoft.com/office/officeart/2005/8/layout/matrix1"/>
    <dgm:cxn modelId="{0EE8AF4B-35DF-4183-8BA6-FC3FFF78A9BE}" srcId="{64D52D02-86AC-4C41-B86B-5B7318330A3E}" destId="{D62DABC1-C27E-4F29-B680-EE479E1AA77E}" srcOrd="3" destOrd="0" parTransId="{29C1DE34-5C71-4B98-9C20-0B6412DAA95F}" sibTransId="{E76C3AC3-D5F6-481B-B4BE-F9A081B2D68C}"/>
    <dgm:cxn modelId="{060EAF6F-CC60-4B3A-83BC-41F811BC1A90}" srcId="{64D52D02-86AC-4C41-B86B-5B7318330A3E}" destId="{1DD726EE-75C6-410E-BD9A-A44327C0857A}" srcOrd="0" destOrd="0" parTransId="{04DA6B3D-2917-4710-9627-B2B0878094A9}" sibTransId="{0A79FEB7-8E04-49E2-AE2A-CF8A57DBB41D}"/>
    <dgm:cxn modelId="{65434470-0924-4B4D-B7D9-AF60964E110E}" type="presOf" srcId="{1DD726EE-75C6-410E-BD9A-A44327C0857A}" destId="{6D2DBCF2-CDA0-45EC-86F4-0B88863F3F7C}" srcOrd="0" destOrd="0" presId="urn:microsoft.com/office/officeart/2005/8/layout/matrix1"/>
    <dgm:cxn modelId="{0FA49474-8071-4D08-AA33-CBA27FCBD1E0}" type="presOf" srcId="{920A9395-D7CD-4215-8E6B-7BE532EF02D8}" destId="{C49186CC-6880-4079-84BE-3ED0DF297ABF}" srcOrd="0" destOrd="0" presId="urn:microsoft.com/office/officeart/2005/8/layout/matrix1"/>
    <dgm:cxn modelId="{D12A2F81-D0D8-4760-9188-F6BDCB6413D3}" type="presOf" srcId="{1DD726EE-75C6-410E-BD9A-A44327C0857A}" destId="{71886B14-C9D4-42E8-A08F-4D4DFEAF87E0}" srcOrd="1" destOrd="0" presId="urn:microsoft.com/office/officeart/2005/8/layout/matrix1"/>
    <dgm:cxn modelId="{8DF67181-B4E3-4937-9249-58BE893D7C71}" type="presOf" srcId="{EB693851-6138-4AFF-BD35-15A1FB9658E6}" destId="{DDFB28E7-3EE3-4394-B925-9390FB9DC83A}" srcOrd="1" destOrd="0" presId="urn:microsoft.com/office/officeart/2005/8/layout/matrix1"/>
    <dgm:cxn modelId="{3B9B808F-5A1D-4E83-8154-5B5712BF0F05}" type="presOf" srcId="{64D52D02-86AC-4C41-B86B-5B7318330A3E}" destId="{3C358B3A-A489-42E4-965E-E36969F6C9FA}" srcOrd="0" destOrd="0" presId="urn:microsoft.com/office/officeart/2005/8/layout/matrix1"/>
    <dgm:cxn modelId="{2EC83B96-0CC7-494A-8614-838DB27EB2A9}" type="presOf" srcId="{D62DABC1-C27E-4F29-B680-EE479E1AA77E}" destId="{DC98C984-14C7-46A9-9ABA-6B1BEBD8EB6E}" srcOrd="1" destOrd="0" presId="urn:microsoft.com/office/officeart/2005/8/layout/matrix1"/>
    <dgm:cxn modelId="{D272F0D1-3424-4F4C-BE4D-84C34C71D61F}" srcId="{64D52D02-86AC-4C41-B86B-5B7318330A3E}" destId="{A232CA6A-5415-4348-8E7D-50C03AE82A03}" srcOrd="1" destOrd="0" parTransId="{706A3753-48D2-4810-95A0-0E8E88567F5A}" sibTransId="{0DE66EDB-DE07-4194-B701-5D23D39D2BF9}"/>
    <dgm:cxn modelId="{42EF17D4-6990-4A36-A35A-DAF2E73B204B}" type="presOf" srcId="{EB693851-6138-4AFF-BD35-15A1FB9658E6}" destId="{B92CA7AC-00B0-4DF3-8145-401D2000A5FD}" srcOrd="0" destOrd="0" presId="urn:microsoft.com/office/officeart/2005/8/layout/matrix1"/>
    <dgm:cxn modelId="{F5D96FEB-5B9A-4661-B227-68AEAA115604}" srcId="{920A9395-D7CD-4215-8E6B-7BE532EF02D8}" destId="{64D52D02-86AC-4C41-B86B-5B7318330A3E}" srcOrd="0" destOrd="0" parTransId="{B88C3536-7ACE-49C0-BE4C-E9F922B0EC8F}" sibTransId="{BF9F31EA-FCD2-42F8-86C3-A767DAFEF87E}"/>
    <dgm:cxn modelId="{5B5549FB-4F4A-4384-A4AF-5BED3829C6CE}" srcId="{64D52D02-86AC-4C41-B86B-5B7318330A3E}" destId="{EB693851-6138-4AFF-BD35-15A1FB9658E6}" srcOrd="2" destOrd="0" parTransId="{7CED840B-D5F3-421A-8FE4-2B9674298805}" sibTransId="{F58670E2-E604-4EFD-A56D-B923701C729A}"/>
    <dgm:cxn modelId="{91FB48B8-6D45-42B0-B03B-009E591BAF28}" type="presParOf" srcId="{C49186CC-6880-4079-84BE-3ED0DF297ABF}" destId="{8265CB38-DAA2-4A62-B1D4-8C5B69555BD7}" srcOrd="0" destOrd="0" presId="urn:microsoft.com/office/officeart/2005/8/layout/matrix1"/>
    <dgm:cxn modelId="{7242C3A0-3F1B-4222-AD75-0D3A583B41AC}" type="presParOf" srcId="{8265CB38-DAA2-4A62-B1D4-8C5B69555BD7}" destId="{6D2DBCF2-CDA0-45EC-86F4-0B88863F3F7C}" srcOrd="0" destOrd="0" presId="urn:microsoft.com/office/officeart/2005/8/layout/matrix1"/>
    <dgm:cxn modelId="{F26DE8A6-5958-4393-9183-38E93E5E79B7}" type="presParOf" srcId="{8265CB38-DAA2-4A62-B1D4-8C5B69555BD7}" destId="{71886B14-C9D4-42E8-A08F-4D4DFEAF87E0}" srcOrd="1" destOrd="0" presId="urn:microsoft.com/office/officeart/2005/8/layout/matrix1"/>
    <dgm:cxn modelId="{A22DD1AE-0263-4062-B109-F120FC1E8794}" type="presParOf" srcId="{8265CB38-DAA2-4A62-B1D4-8C5B69555BD7}" destId="{D4F86E0E-7528-4720-9823-0559F079018A}" srcOrd="2" destOrd="0" presId="urn:microsoft.com/office/officeart/2005/8/layout/matrix1"/>
    <dgm:cxn modelId="{DAEA3C3E-D84E-41A9-826A-0C3E435F8801}" type="presParOf" srcId="{8265CB38-DAA2-4A62-B1D4-8C5B69555BD7}" destId="{5E7369D3-15AF-488E-9918-9AFD9DF43A46}" srcOrd="3" destOrd="0" presId="urn:microsoft.com/office/officeart/2005/8/layout/matrix1"/>
    <dgm:cxn modelId="{B05F2321-C3A2-421C-A38E-13B7F31AD1F9}" type="presParOf" srcId="{8265CB38-DAA2-4A62-B1D4-8C5B69555BD7}" destId="{B92CA7AC-00B0-4DF3-8145-401D2000A5FD}" srcOrd="4" destOrd="0" presId="urn:microsoft.com/office/officeart/2005/8/layout/matrix1"/>
    <dgm:cxn modelId="{B8B1B931-0DC7-46F8-A420-3EB6E4898AEF}" type="presParOf" srcId="{8265CB38-DAA2-4A62-B1D4-8C5B69555BD7}" destId="{DDFB28E7-3EE3-4394-B925-9390FB9DC83A}" srcOrd="5" destOrd="0" presId="urn:microsoft.com/office/officeart/2005/8/layout/matrix1"/>
    <dgm:cxn modelId="{ECFEA408-F8AF-4F45-8941-4AC08ECA50B3}" type="presParOf" srcId="{8265CB38-DAA2-4A62-B1D4-8C5B69555BD7}" destId="{94F20CC0-26DF-4461-8BFA-EB2C496BAEEE}" srcOrd="6" destOrd="0" presId="urn:microsoft.com/office/officeart/2005/8/layout/matrix1"/>
    <dgm:cxn modelId="{C1019F65-BC8A-4C86-BE4C-6643BB053E1C}" type="presParOf" srcId="{8265CB38-DAA2-4A62-B1D4-8C5B69555BD7}" destId="{DC98C984-14C7-46A9-9ABA-6B1BEBD8EB6E}" srcOrd="7" destOrd="0" presId="urn:microsoft.com/office/officeart/2005/8/layout/matrix1"/>
    <dgm:cxn modelId="{04CAE072-BE04-4A60-A2AA-FBE7BEB9ABCC}" type="presParOf" srcId="{C49186CC-6880-4079-84BE-3ED0DF297ABF}" destId="{3C358B3A-A489-42E4-965E-E36969F6C9FA}" srcOrd="1" destOrd="0" presId="urn:microsoft.com/office/officeart/2005/8/layout/matrix1"/>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2DBCF2-CDA0-45EC-86F4-0B88863F3F7C}">
      <dsp:nvSpPr>
        <dsp:cNvPr id="0" name=""/>
        <dsp:cNvSpPr/>
      </dsp:nvSpPr>
      <dsp:spPr>
        <a:xfrm rot="16200000">
          <a:off x="969213" y="-969213"/>
          <a:ext cx="2184032" cy="4122458"/>
        </a:xfrm>
        <a:prstGeom prst="round1Rect">
          <a:avLst/>
        </a:prstGeom>
        <a:no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334264" tIns="334264" rIns="334264" bIns="334264" numCol="1" spcCol="1270" anchor="ctr" anchorCtr="0">
          <a:noAutofit/>
        </a:bodyPr>
        <a:lstStyle/>
        <a:p>
          <a:pPr marL="0" lvl="0" indent="0" algn="ctr" defTabSz="2089150">
            <a:lnSpc>
              <a:spcPct val="90000"/>
            </a:lnSpc>
            <a:spcBef>
              <a:spcPct val="0"/>
            </a:spcBef>
            <a:spcAft>
              <a:spcPct val="35000"/>
            </a:spcAft>
            <a:buNone/>
          </a:pPr>
          <a:endParaRPr lang="zh-TW" altLang="en-US" sz="4700" kern="1200" dirty="0">
            <a:latin typeface="微軟正黑體" panose="020B0604030504040204" pitchFamily="34" charset="-120"/>
            <a:ea typeface="微軟正黑體" panose="020B0604030504040204" pitchFamily="34" charset="-120"/>
          </a:endParaRPr>
        </a:p>
      </dsp:txBody>
      <dsp:txXfrm rot="5400000">
        <a:off x="-1" y="1"/>
        <a:ext cx="4122458" cy="1638024"/>
      </dsp:txXfrm>
    </dsp:sp>
    <dsp:sp modelId="{D4F86E0E-7528-4720-9823-0559F079018A}">
      <dsp:nvSpPr>
        <dsp:cNvPr id="0" name=""/>
        <dsp:cNvSpPr/>
      </dsp:nvSpPr>
      <dsp:spPr>
        <a:xfrm>
          <a:off x="4122458" y="0"/>
          <a:ext cx="4122458" cy="2184032"/>
        </a:xfrm>
        <a:prstGeom prst="round1Rect">
          <a:avLst/>
        </a:prstGeom>
        <a:no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334264" tIns="334264" rIns="334264" bIns="334264" numCol="1" spcCol="1270" anchor="ctr" anchorCtr="0">
          <a:noAutofit/>
        </a:bodyPr>
        <a:lstStyle/>
        <a:p>
          <a:pPr marL="0" lvl="0" indent="0" algn="ctr" defTabSz="2089150">
            <a:lnSpc>
              <a:spcPct val="90000"/>
            </a:lnSpc>
            <a:spcBef>
              <a:spcPct val="0"/>
            </a:spcBef>
            <a:spcAft>
              <a:spcPct val="35000"/>
            </a:spcAft>
            <a:buNone/>
          </a:pPr>
          <a:endParaRPr lang="zh-TW" altLang="en-US" sz="4700" kern="1200" dirty="0">
            <a:latin typeface="微軟正黑體" panose="020B0604030504040204" pitchFamily="34" charset="-120"/>
            <a:ea typeface="微軟正黑體" panose="020B0604030504040204" pitchFamily="34" charset="-120"/>
          </a:endParaRPr>
        </a:p>
      </dsp:txBody>
      <dsp:txXfrm>
        <a:off x="4122458" y="0"/>
        <a:ext cx="4122458" cy="1638024"/>
      </dsp:txXfrm>
    </dsp:sp>
    <dsp:sp modelId="{B92CA7AC-00B0-4DF3-8145-401D2000A5FD}">
      <dsp:nvSpPr>
        <dsp:cNvPr id="0" name=""/>
        <dsp:cNvSpPr/>
      </dsp:nvSpPr>
      <dsp:spPr>
        <a:xfrm rot="10800000">
          <a:off x="0" y="2184032"/>
          <a:ext cx="4122458" cy="2184032"/>
        </a:xfrm>
        <a:prstGeom prst="round1Rect">
          <a:avLst/>
        </a:prstGeom>
        <a:no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334264" tIns="334264" rIns="334264" bIns="334264" numCol="1" spcCol="1270" anchor="ctr" anchorCtr="0">
          <a:noAutofit/>
        </a:bodyPr>
        <a:lstStyle/>
        <a:p>
          <a:pPr marL="0" lvl="0" indent="0" algn="ctr" defTabSz="2089150">
            <a:lnSpc>
              <a:spcPct val="90000"/>
            </a:lnSpc>
            <a:spcBef>
              <a:spcPct val="0"/>
            </a:spcBef>
            <a:spcAft>
              <a:spcPct val="35000"/>
            </a:spcAft>
            <a:buNone/>
          </a:pPr>
          <a:endParaRPr lang="zh-TW" altLang="en-US" sz="4700" kern="1200" dirty="0">
            <a:latin typeface="微軟正黑體" panose="020B0604030504040204" pitchFamily="34" charset="-120"/>
            <a:ea typeface="微軟正黑體" panose="020B0604030504040204" pitchFamily="34" charset="-120"/>
          </a:endParaRPr>
        </a:p>
      </dsp:txBody>
      <dsp:txXfrm rot="10800000">
        <a:off x="0" y="2730040"/>
        <a:ext cx="4122458" cy="1638024"/>
      </dsp:txXfrm>
    </dsp:sp>
    <dsp:sp modelId="{94F20CC0-26DF-4461-8BFA-EB2C496BAEEE}">
      <dsp:nvSpPr>
        <dsp:cNvPr id="0" name=""/>
        <dsp:cNvSpPr/>
      </dsp:nvSpPr>
      <dsp:spPr>
        <a:xfrm rot="5400000">
          <a:off x="5091670" y="1214819"/>
          <a:ext cx="2184032" cy="4122458"/>
        </a:xfrm>
        <a:prstGeom prst="round1Rect">
          <a:avLst/>
        </a:prstGeom>
        <a:no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334264" tIns="334264" rIns="334264" bIns="334264" numCol="1" spcCol="1270" anchor="ctr" anchorCtr="0">
          <a:noAutofit/>
        </a:bodyPr>
        <a:lstStyle/>
        <a:p>
          <a:pPr marL="0" lvl="0" indent="0" algn="ctr" defTabSz="2089150">
            <a:lnSpc>
              <a:spcPct val="90000"/>
            </a:lnSpc>
            <a:spcBef>
              <a:spcPct val="0"/>
            </a:spcBef>
            <a:spcAft>
              <a:spcPct val="35000"/>
            </a:spcAft>
            <a:buNone/>
          </a:pPr>
          <a:endParaRPr lang="zh-TW" altLang="en-US" sz="4700" kern="1200" dirty="0">
            <a:latin typeface="微軟正黑體" panose="020B0604030504040204" pitchFamily="34" charset="-120"/>
            <a:ea typeface="微軟正黑體" panose="020B0604030504040204" pitchFamily="34" charset="-120"/>
          </a:endParaRPr>
        </a:p>
      </dsp:txBody>
      <dsp:txXfrm rot="-5400000">
        <a:off x="4122458" y="2730040"/>
        <a:ext cx="4122458" cy="1638024"/>
      </dsp:txXfrm>
    </dsp:sp>
    <dsp:sp modelId="{3C358B3A-A489-42E4-965E-E36969F6C9FA}">
      <dsp:nvSpPr>
        <dsp:cNvPr id="0" name=""/>
        <dsp:cNvSpPr/>
      </dsp:nvSpPr>
      <dsp:spPr>
        <a:xfrm flipV="1">
          <a:off x="4099603" y="2135814"/>
          <a:ext cx="45709" cy="96435"/>
        </a:xfrm>
        <a:prstGeom prst="roundRect">
          <a:avLst/>
        </a:prstGeom>
        <a:noFill/>
        <a:ln w="9525" cap="flat" cmpd="sng" algn="ctr">
          <a:no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TW" altLang="en-US" sz="500" kern="1200" dirty="0">
            <a:latin typeface="微軟正黑體" panose="020B0604030504040204" pitchFamily="34" charset="-120"/>
            <a:ea typeface="微軟正黑體" panose="020B0604030504040204" pitchFamily="34" charset="-120"/>
          </a:endParaRPr>
        </a:p>
      </dsp:txBody>
      <dsp:txXfrm rot="10800000">
        <a:off x="4101834" y="2138045"/>
        <a:ext cx="41247" cy="919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2DBCF2-CDA0-45EC-86F4-0B88863F3F7C}">
      <dsp:nvSpPr>
        <dsp:cNvPr id="0" name=""/>
        <dsp:cNvSpPr/>
      </dsp:nvSpPr>
      <dsp:spPr>
        <a:xfrm rot="16200000">
          <a:off x="969213" y="-969213"/>
          <a:ext cx="2184032" cy="4122458"/>
        </a:xfrm>
        <a:prstGeom prst="round1Rect">
          <a:avLst/>
        </a:prstGeom>
        <a:no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334264" tIns="334264" rIns="334264" bIns="334264" numCol="1" spcCol="1270" anchor="ctr" anchorCtr="0">
          <a:noAutofit/>
        </a:bodyPr>
        <a:lstStyle/>
        <a:p>
          <a:pPr marL="0" lvl="0" indent="0" algn="ctr" defTabSz="2089150">
            <a:lnSpc>
              <a:spcPct val="90000"/>
            </a:lnSpc>
            <a:spcBef>
              <a:spcPct val="0"/>
            </a:spcBef>
            <a:spcAft>
              <a:spcPct val="35000"/>
            </a:spcAft>
            <a:buNone/>
          </a:pPr>
          <a:endParaRPr lang="zh-TW" altLang="en-US" sz="4700" kern="1200" dirty="0">
            <a:latin typeface="微軟正黑體" panose="020B0604030504040204" pitchFamily="34" charset="-120"/>
            <a:ea typeface="微軟正黑體" panose="020B0604030504040204" pitchFamily="34" charset="-120"/>
          </a:endParaRPr>
        </a:p>
      </dsp:txBody>
      <dsp:txXfrm rot="5400000">
        <a:off x="-1" y="1"/>
        <a:ext cx="4122458" cy="1638024"/>
      </dsp:txXfrm>
    </dsp:sp>
    <dsp:sp modelId="{D4F86E0E-7528-4720-9823-0559F079018A}">
      <dsp:nvSpPr>
        <dsp:cNvPr id="0" name=""/>
        <dsp:cNvSpPr/>
      </dsp:nvSpPr>
      <dsp:spPr>
        <a:xfrm>
          <a:off x="4122458" y="0"/>
          <a:ext cx="4122458" cy="2184032"/>
        </a:xfrm>
        <a:prstGeom prst="round1Rect">
          <a:avLst/>
        </a:prstGeom>
        <a:no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334264" tIns="334264" rIns="334264" bIns="334264" numCol="1" spcCol="1270" anchor="ctr" anchorCtr="0">
          <a:noAutofit/>
        </a:bodyPr>
        <a:lstStyle/>
        <a:p>
          <a:pPr marL="0" lvl="0" indent="0" algn="ctr" defTabSz="2089150">
            <a:lnSpc>
              <a:spcPct val="90000"/>
            </a:lnSpc>
            <a:spcBef>
              <a:spcPct val="0"/>
            </a:spcBef>
            <a:spcAft>
              <a:spcPct val="35000"/>
            </a:spcAft>
            <a:buNone/>
          </a:pPr>
          <a:endParaRPr lang="zh-TW" altLang="en-US" sz="4700" kern="1200" dirty="0">
            <a:latin typeface="微軟正黑體" panose="020B0604030504040204" pitchFamily="34" charset="-120"/>
            <a:ea typeface="微軟正黑體" panose="020B0604030504040204" pitchFamily="34" charset="-120"/>
          </a:endParaRPr>
        </a:p>
      </dsp:txBody>
      <dsp:txXfrm>
        <a:off x="4122458" y="0"/>
        <a:ext cx="4122458" cy="1638024"/>
      </dsp:txXfrm>
    </dsp:sp>
    <dsp:sp modelId="{B92CA7AC-00B0-4DF3-8145-401D2000A5FD}">
      <dsp:nvSpPr>
        <dsp:cNvPr id="0" name=""/>
        <dsp:cNvSpPr/>
      </dsp:nvSpPr>
      <dsp:spPr>
        <a:xfrm rot="10800000">
          <a:off x="0" y="2184032"/>
          <a:ext cx="4122458" cy="2184032"/>
        </a:xfrm>
        <a:prstGeom prst="round1Rect">
          <a:avLst/>
        </a:prstGeom>
        <a:no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334264" tIns="334264" rIns="334264" bIns="334264" numCol="1" spcCol="1270" anchor="ctr" anchorCtr="0">
          <a:noAutofit/>
        </a:bodyPr>
        <a:lstStyle/>
        <a:p>
          <a:pPr marL="0" lvl="0" indent="0" algn="ctr" defTabSz="2089150">
            <a:lnSpc>
              <a:spcPct val="90000"/>
            </a:lnSpc>
            <a:spcBef>
              <a:spcPct val="0"/>
            </a:spcBef>
            <a:spcAft>
              <a:spcPct val="35000"/>
            </a:spcAft>
            <a:buNone/>
          </a:pPr>
          <a:endParaRPr lang="zh-TW" altLang="en-US" sz="4700" kern="1200" dirty="0">
            <a:latin typeface="微軟正黑體" panose="020B0604030504040204" pitchFamily="34" charset="-120"/>
            <a:ea typeface="微軟正黑體" panose="020B0604030504040204" pitchFamily="34" charset="-120"/>
          </a:endParaRPr>
        </a:p>
      </dsp:txBody>
      <dsp:txXfrm rot="10800000">
        <a:off x="0" y="2730040"/>
        <a:ext cx="4122458" cy="1638024"/>
      </dsp:txXfrm>
    </dsp:sp>
    <dsp:sp modelId="{94F20CC0-26DF-4461-8BFA-EB2C496BAEEE}">
      <dsp:nvSpPr>
        <dsp:cNvPr id="0" name=""/>
        <dsp:cNvSpPr/>
      </dsp:nvSpPr>
      <dsp:spPr>
        <a:xfrm rot="5400000">
          <a:off x="5091670" y="1214819"/>
          <a:ext cx="2184032" cy="4122458"/>
        </a:xfrm>
        <a:prstGeom prst="round1Rect">
          <a:avLst/>
        </a:prstGeom>
        <a:no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334264" tIns="334264" rIns="334264" bIns="334264" numCol="1" spcCol="1270" anchor="ctr" anchorCtr="0">
          <a:noAutofit/>
        </a:bodyPr>
        <a:lstStyle/>
        <a:p>
          <a:pPr marL="0" lvl="0" indent="0" algn="ctr" defTabSz="2089150">
            <a:lnSpc>
              <a:spcPct val="90000"/>
            </a:lnSpc>
            <a:spcBef>
              <a:spcPct val="0"/>
            </a:spcBef>
            <a:spcAft>
              <a:spcPct val="35000"/>
            </a:spcAft>
            <a:buNone/>
          </a:pPr>
          <a:endParaRPr lang="zh-TW" altLang="en-US" sz="4700" kern="1200" dirty="0">
            <a:latin typeface="微軟正黑體" panose="020B0604030504040204" pitchFamily="34" charset="-120"/>
            <a:ea typeface="微軟正黑體" panose="020B0604030504040204" pitchFamily="34" charset="-120"/>
          </a:endParaRPr>
        </a:p>
      </dsp:txBody>
      <dsp:txXfrm rot="-5400000">
        <a:off x="4122458" y="2730040"/>
        <a:ext cx="4122458" cy="1638024"/>
      </dsp:txXfrm>
    </dsp:sp>
    <dsp:sp modelId="{3C358B3A-A489-42E4-965E-E36969F6C9FA}">
      <dsp:nvSpPr>
        <dsp:cNvPr id="0" name=""/>
        <dsp:cNvSpPr/>
      </dsp:nvSpPr>
      <dsp:spPr>
        <a:xfrm flipV="1">
          <a:off x="4099603" y="2135814"/>
          <a:ext cx="45709" cy="96435"/>
        </a:xfrm>
        <a:prstGeom prst="roundRect">
          <a:avLst/>
        </a:prstGeom>
        <a:noFill/>
        <a:ln w="9525" cap="flat" cmpd="sng" algn="ctr">
          <a:no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TW" altLang="en-US" sz="500" kern="1200" dirty="0">
            <a:latin typeface="微軟正黑體" panose="020B0604030504040204" pitchFamily="34" charset="-120"/>
            <a:ea typeface="微軟正黑體" panose="020B0604030504040204" pitchFamily="34" charset="-120"/>
          </a:endParaRPr>
        </a:p>
      </dsp:txBody>
      <dsp:txXfrm rot="10800000">
        <a:off x="4101834" y="2138045"/>
        <a:ext cx="41247" cy="91973"/>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6038" y="0"/>
            <a:ext cx="2949575" cy="496888"/>
          </a:xfrm>
          <a:prstGeom prst="rect">
            <a:avLst/>
          </a:prstGeom>
        </p:spPr>
        <p:txBody>
          <a:bodyPr vert="horz" lIns="91440" tIns="45720" rIns="91440" bIns="45720" rtlCol="0"/>
          <a:lstStyle>
            <a:lvl1pPr algn="r">
              <a:defRPr sz="1200"/>
            </a:lvl1pPr>
          </a:lstStyle>
          <a:p>
            <a:fld id="{188B6EFF-4D65-4023-A172-372098C53788}" type="datetimeFigureOut">
              <a:rPr lang="zh-TW" altLang="en-US" smtClean="0"/>
              <a:t>2026/10/11</a:t>
            </a:fld>
            <a:endParaRPr lang="zh-TW" altLang="en-US"/>
          </a:p>
        </p:txBody>
      </p:sp>
      <p:sp>
        <p:nvSpPr>
          <p:cNvPr id="4" name="投影片圖像版面配置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1038" y="4721225"/>
            <a:ext cx="5445125" cy="4471988"/>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a:defRPr sz="1200"/>
            </a:lvl1pPr>
          </a:lstStyle>
          <a:p>
            <a:fld id="{7D566FE3-3B01-4D87-9514-703160B894FF}" type="slidenum">
              <a:rPr lang="zh-TW" altLang="en-US" smtClean="0"/>
              <a:t>‹#›</a:t>
            </a:fld>
            <a:endParaRPr lang="zh-TW" altLang="en-US"/>
          </a:p>
        </p:txBody>
      </p:sp>
    </p:spTree>
    <p:extLst>
      <p:ext uri="{BB962C8B-B14F-4D97-AF65-F5344CB8AC3E}">
        <p14:creationId xmlns:p14="http://schemas.microsoft.com/office/powerpoint/2010/main" val="1839515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D566FE3-3B01-4D87-9514-703160B894FF}" type="slidenum">
              <a:rPr lang="zh-TW" altLang="en-US" smtClean="0"/>
              <a:t>6</a:t>
            </a:fld>
            <a:endParaRPr lang="zh-TW" altLang="en-US"/>
          </a:p>
        </p:txBody>
      </p:sp>
    </p:spTree>
    <p:extLst>
      <p:ext uri="{BB962C8B-B14F-4D97-AF65-F5344CB8AC3E}">
        <p14:creationId xmlns:p14="http://schemas.microsoft.com/office/powerpoint/2010/main" val="2071456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D566FE3-3B01-4D87-9514-703160B894FF}" type="slidenum">
              <a:rPr lang="zh-TW" altLang="en-US" smtClean="0"/>
              <a:t>11</a:t>
            </a:fld>
            <a:endParaRPr lang="zh-TW" altLang="en-US"/>
          </a:p>
        </p:txBody>
      </p:sp>
    </p:spTree>
    <p:extLst>
      <p:ext uri="{BB962C8B-B14F-4D97-AF65-F5344CB8AC3E}">
        <p14:creationId xmlns:p14="http://schemas.microsoft.com/office/powerpoint/2010/main" val="2610281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D566FE3-3B01-4D87-9514-703160B894FF}" type="slidenum">
              <a:rPr lang="zh-TW" altLang="en-US" smtClean="0"/>
              <a:t>31</a:t>
            </a:fld>
            <a:endParaRPr lang="zh-TW" altLang="en-US"/>
          </a:p>
        </p:txBody>
      </p:sp>
    </p:spTree>
    <p:extLst>
      <p:ext uri="{BB962C8B-B14F-4D97-AF65-F5344CB8AC3E}">
        <p14:creationId xmlns:p14="http://schemas.microsoft.com/office/powerpoint/2010/main" val="7471546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1">
        <a:schemeClr val="bg1"/>
      </p:bgRef>
    </p:bg>
    <p:spTree>
      <p:nvGrpSpPr>
        <p:cNvPr id="1" name=""/>
        <p:cNvGrpSpPr/>
        <p:nvPr/>
      </p:nvGrpSpPr>
      <p:grpSpPr>
        <a:xfrm>
          <a:off x="0" y="0"/>
          <a:ext cx="0" cy="0"/>
          <a:chOff x="0" y="0"/>
          <a:chExt cx="0" cy="0"/>
        </a:xfrm>
      </p:grpSpPr>
      <p:pic>
        <p:nvPicPr>
          <p:cNvPr id="11" name="圖片 10" descr="一張含有 燈泡 的圖片&#10;&#10;AI 產生的內容可能不正確。">
            <a:extLst>
              <a:ext uri="{FF2B5EF4-FFF2-40B4-BE49-F238E27FC236}">
                <a16:creationId xmlns:a16="http://schemas.microsoft.com/office/drawing/2014/main" id="{5E7D4647-2F66-9F57-7A50-A71E86CD3AB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23528" y="1052736"/>
            <a:ext cx="3617337" cy="3712723"/>
          </a:xfrm>
          <a:prstGeom prst="rect">
            <a:avLst/>
          </a:prstGeom>
        </p:spPr>
      </p:pic>
      <p:sp>
        <p:nvSpPr>
          <p:cNvPr id="2" name="標題 1"/>
          <p:cNvSpPr>
            <a:spLocks noGrp="1"/>
          </p:cNvSpPr>
          <p:nvPr>
            <p:ph type="ctrTitle"/>
          </p:nvPr>
        </p:nvSpPr>
        <p:spPr>
          <a:xfrm>
            <a:off x="823156" y="1715541"/>
            <a:ext cx="7772400" cy="1761027"/>
          </a:xfrm>
          <a:prstGeom prst="rect">
            <a:avLst/>
          </a:prstGeom>
        </p:spPr>
        <p:txBody>
          <a:bodyPr/>
          <a:lstStyle>
            <a:lvl1pPr>
              <a:defRPr>
                <a:solidFill>
                  <a:srgbClr val="6699FF"/>
                </a:solidFill>
                <a:latin typeface="Adobe 繁黑體 Std B"/>
                <a:ea typeface="Adobe 繁黑體 Std B"/>
                <a:cs typeface="Adobe 繁黑體 Std B"/>
              </a:defRPr>
            </a:lvl1pPr>
          </a:lstStyle>
          <a:p>
            <a:r>
              <a:rPr lang="zh-TW" altLang="en-US" dirty="0"/>
              <a:t>按一下以編輯母片標題樣式</a:t>
            </a:r>
          </a:p>
        </p:txBody>
      </p:sp>
      <p:sp>
        <p:nvSpPr>
          <p:cNvPr id="3" name="副標題 2"/>
          <p:cNvSpPr>
            <a:spLocks noGrp="1"/>
          </p:cNvSpPr>
          <p:nvPr>
            <p:ph type="subTitle" idx="1"/>
          </p:nvPr>
        </p:nvSpPr>
        <p:spPr>
          <a:xfrm>
            <a:off x="1403648" y="3717032"/>
            <a:ext cx="6400800" cy="1176536"/>
          </a:xfrm>
        </p:spPr>
        <p:txBody>
          <a:bodyPr/>
          <a:lstStyle>
            <a:lvl1pPr marL="0" indent="0" algn="ctr">
              <a:buNone/>
              <a:defRPr>
                <a:solidFill>
                  <a:srgbClr val="6699FF"/>
                </a:solidFill>
                <a:latin typeface="Adobe 繁黑體 Std B"/>
                <a:ea typeface="Adobe 繁黑體 Std B"/>
                <a:cs typeface="Adobe 繁黑體 Std B"/>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zh-TW" altLang="en-US" dirty="0"/>
          </a:p>
        </p:txBody>
      </p:sp>
      <p:pic>
        <p:nvPicPr>
          <p:cNvPr id="7" name="圖片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31640" y="4462180"/>
            <a:ext cx="6836421" cy="60853"/>
          </a:xfrm>
          <a:prstGeom prst="rect">
            <a:avLst/>
          </a:prstGeom>
        </p:spPr>
      </p:pic>
      <p:pic>
        <p:nvPicPr>
          <p:cNvPr id="8" name="圖片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0800000">
            <a:off x="1835697" y="4614580"/>
            <a:ext cx="6836421" cy="60853"/>
          </a:xfrm>
          <a:prstGeom prst="rect">
            <a:avLst/>
          </a:prstGeom>
        </p:spPr>
      </p:pic>
    </p:spTree>
    <p:extLst>
      <p:ext uri="{BB962C8B-B14F-4D97-AF65-F5344CB8AC3E}">
        <p14:creationId xmlns:p14="http://schemas.microsoft.com/office/powerpoint/2010/main" val="15093272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42C442D8-9C80-47F7-991A-AE2212DADCA5}" type="datetime1">
              <a:rPr lang="zh-TW" altLang="en-US" smtClean="0"/>
              <a:t>2026/10/11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237110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D974B04D-3439-4155-A703-E234727B63F5}" type="datetime1">
              <a:rPr lang="zh-TW" altLang="en-US" smtClean="0"/>
              <a:t>2026/10/11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806731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9552" y="2954"/>
            <a:ext cx="8229600" cy="761750"/>
          </a:xfrm>
          <a:prstGeom prst="rect">
            <a:avLst/>
          </a:prstGeom>
        </p:spPr>
        <p:txBody>
          <a:bodyPr/>
          <a:lstStyle>
            <a:lvl1pPr>
              <a:defRPr sz="3600">
                <a:latin typeface="微軟正黑體" panose="020B0604030504040204" pitchFamily="34" charset="-120"/>
                <a:ea typeface="微軟正黑體" panose="020B0604030504040204"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57200" y="980728"/>
            <a:ext cx="8229600" cy="5328592"/>
          </a:xfrm>
        </p:spPr>
        <p:txBody>
          <a:bodyPr/>
          <a:lstStyle>
            <a:lvl1pPr>
              <a:defRPr>
                <a:solidFill>
                  <a:schemeClr val="tx1"/>
                </a:solidFill>
                <a:latin typeface="微軟正黑體" panose="020B0604030504040204" pitchFamily="34" charset="-120"/>
                <a:ea typeface="微軟正黑體" panose="020B0604030504040204" pitchFamily="34" charset="-120"/>
              </a:defRPr>
            </a:lvl1pPr>
            <a:lvl2pPr>
              <a:defRPr>
                <a:solidFill>
                  <a:schemeClr val="tx1"/>
                </a:solidFill>
                <a:latin typeface="微軟正黑體" panose="020B0604030504040204" pitchFamily="34" charset="-120"/>
                <a:ea typeface="微軟正黑體" panose="020B0604030504040204" pitchFamily="34" charset="-120"/>
              </a:defRPr>
            </a:lvl2pPr>
            <a:lvl3pPr>
              <a:defRPr>
                <a:solidFill>
                  <a:schemeClr val="tx1"/>
                </a:solidFill>
                <a:latin typeface="微軟正黑體" panose="020B0604030504040204" pitchFamily="34" charset="-120"/>
                <a:ea typeface="微軟正黑體" panose="020B0604030504040204" pitchFamily="34" charset="-120"/>
              </a:defRPr>
            </a:lvl3pPr>
            <a:lvl4pPr>
              <a:defRPr>
                <a:solidFill>
                  <a:schemeClr val="tx1"/>
                </a:solidFill>
                <a:latin typeface="微軟正黑體" panose="020B0604030504040204" pitchFamily="34" charset="-120"/>
                <a:ea typeface="微軟正黑體" panose="020B0604030504040204" pitchFamily="34" charset="-120"/>
              </a:defRPr>
            </a:lvl4pPr>
            <a:lvl5pPr>
              <a:defRPr>
                <a:solidFill>
                  <a:schemeClr val="tx1"/>
                </a:solidFill>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16E6385-44E4-4C40-81A0-E5CA0A057240}" type="datetime1">
              <a:rPr lang="zh-TW" altLang="en-US" smtClean="0"/>
              <a:t>2026/10/11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2498367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9552" y="2954"/>
            <a:ext cx="8229600" cy="761750"/>
          </a:xfrm>
          <a:prstGeom prst="rect">
            <a:avLst/>
          </a:prstGeom>
        </p:spPr>
        <p:txBody>
          <a:bodyPr/>
          <a:lstStyle>
            <a:lvl1pPr>
              <a:defRPr sz="3600">
                <a:latin typeface="微軟正黑體" panose="020B0604030504040204" pitchFamily="34" charset="-120"/>
                <a:ea typeface="微軟正黑體" panose="020B0604030504040204"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57200" y="980728"/>
            <a:ext cx="8229600" cy="5328592"/>
          </a:xfrm>
        </p:spPr>
        <p:txBody>
          <a:bodyPr/>
          <a:lstStyle>
            <a:lvl1pPr>
              <a:defRPr>
                <a:solidFill>
                  <a:schemeClr val="tx1"/>
                </a:solidFill>
                <a:latin typeface="微軟正黑體" panose="020B0604030504040204" pitchFamily="34" charset="-120"/>
                <a:ea typeface="微軟正黑體" panose="020B0604030504040204" pitchFamily="34" charset="-120"/>
              </a:defRPr>
            </a:lvl1pPr>
            <a:lvl2pPr>
              <a:defRPr>
                <a:solidFill>
                  <a:schemeClr val="tx1"/>
                </a:solidFill>
                <a:latin typeface="微軟正黑體" panose="020B0604030504040204" pitchFamily="34" charset="-120"/>
                <a:ea typeface="微軟正黑體" panose="020B0604030504040204" pitchFamily="34" charset="-120"/>
              </a:defRPr>
            </a:lvl2pPr>
            <a:lvl3pPr>
              <a:defRPr>
                <a:solidFill>
                  <a:schemeClr val="tx1"/>
                </a:solidFill>
                <a:latin typeface="微軟正黑體" panose="020B0604030504040204" pitchFamily="34" charset="-120"/>
                <a:ea typeface="微軟正黑體" panose="020B0604030504040204" pitchFamily="34" charset="-120"/>
              </a:defRPr>
            </a:lvl3pPr>
            <a:lvl4pPr>
              <a:defRPr>
                <a:solidFill>
                  <a:schemeClr val="tx1"/>
                </a:solidFill>
                <a:latin typeface="微軟正黑體" panose="020B0604030504040204" pitchFamily="34" charset="-120"/>
                <a:ea typeface="微軟正黑體" panose="020B0604030504040204" pitchFamily="34" charset="-120"/>
              </a:defRPr>
            </a:lvl4pPr>
            <a:lvl5pPr>
              <a:defRPr>
                <a:solidFill>
                  <a:schemeClr val="tx1"/>
                </a:solidFill>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16E6385-44E4-4C40-81A0-E5CA0A057240}" type="datetime1">
              <a:rPr lang="zh-TW" altLang="en-US" smtClean="0"/>
              <a:t>2026/10/11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4211611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F7B9A50-0BC0-438D-A316-B9E866D145E2}" type="datetime1">
              <a:rPr lang="zh-TW" altLang="en-US" smtClean="0"/>
              <a:t>2026/10/11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809029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3BA2EFE-9673-4B8D-8AAB-FFE12DB95A02}" type="datetime1">
              <a:rPr lang="zh-TW" altLang="en-US" smtClean="0"/>
              <a:t>2026/10/11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02768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F6207C1D-2BAD-47FF-8692-8390F4A32171}" type="datetime1">
              <a:rPr lang="zh-TW" altLang="en-US" smtClean="0"/>
              <a:t>2026/10/11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443599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7FF130CC-13BF-4556-B1CC-E41F47AA4FDE}" type="datetime1">
              <a:rPr lang="zh-TW" altLang="en-US" smtClean="0"/>
              <a:t>2026/10/11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1330048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DC52D3-C2E9-4EF2-BBD8-579438826593}" type="datetime1">
              <a:rPr lang="zh-TW" altLang="en-US" smtClean="0"/>
              <a:t>2026/10/11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56240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EA0436D3-B797-47F4-8EC2-0E56D2529CFD}" type="datetime1">
              <a:rPr lang="zh-TW" altLang="en-US" smtClean="0"/>
              <a:t>2026/10/11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023046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A268FDBD-9D1D-4D8B-9FE7-57ED3383D391}" type="datetime1">
              <a:rPr lang="zh-TW" altLang="en-US" smtClean="0"/>
              <a:t>2026/10/11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2586680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93103C8-556C-4CF7-B50B-277ADBFCA120}" type="datetime1">
              <a:rPr lang="zh-TW" altLang="en-US" smtClean="0"/>
              <a:t>2026/10/11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758878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42DC106-07EF-4E7F-90CC-4204CDD1BCD8}" type="datetime1">
              <a:rPr lang="zh-TW" altLang="en-US" smtClean="0"/>
              <a:t>2026/10/11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153141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D6831F2-BDED-4AEB-AE33-006F9ECCA2C8}" type="datetime1">
              <a:rPr lang="zh-TW" altLang="en-US" smtClean="0"/>
              <a:t>2026/10/11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19954448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2_標題投影片">
    <p:spTree>
      <p:nvGrpSpPr>
        <p:cNvPr id="1" name=""/>
        <p:cNvGrpSpPr/>
        <p:nvPr/>
      </p:nvGrpSpPr>
      <p:grpSpPr>
        <a:xfrm>
          <a:off x="0" y="0"/>
          <a:ext cx="0" cy="0"/>
          <a:chOff x="0" y="0"/>
          <a:chExt cx="0" cy="0"/>
        </a:xfrm>
      </p:grpSpPr>
      <p:pic>
        <p:nvPicPr>
          <p:cNvPr id="10" name="圖片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48363" y="3789040"/>
            <a:ext cx="6280021" cy="344324"/>
          </a:xfrm>
          <a:prstGeom prst="rect">
            <a:avLst/>
          </a:prstGeom>
        </p:spPr>
      </p:pic>
      <p:sp>
        <p:nvSpPr>
          <p:cNvPr id="2" name="標題 1"/>
          <p:cNvSpPr>
            <a:spLocks noGrp="1"/>
          </p:cNvSpPr>
          <p:nvPr>
            <p:ph type="ctrTitle"/>
          </p:nvPr>
        </p:nvSpPr>
        <p:spPr>
          <a:xfrm>
            <a:off x="685800" y="2204864"/>
            <a:ext cx="7772400" cy="1761027"/>
          </a:xfrm>
        </p:spPr>
        <p:txBody>
          <a:bodyPr/>
          <a:lstStyle>
            <a:lvl1pPr>
              <a:defRPr>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4" name="日期版面配置區 3"/>
          <p:cNvSpPr>
            <a:spLocks noGrp="1"/>
          </p:cNvSpPr>
          <p:nvPr>
            <p:ph type="dt" sz="half" idx="10"/>
          </p:nvPr>
        </p:nvSpPr>
        <p:spPr/>
        <p:txBody>
          <a:bodyPr/>
          <a:lstStyle/>
          <a:p>
            <a:fld id="{D2E7DBD4-8612-4F3F-B9A4-014AD52AEE07}" type="datetime1">
              <a:rPr lang="zh-TW" altLang="en-US" smtClean="0"/>
              <a:t>2026/10/11</a:t>
            </a:fld>
            <a:endParaRPr lang="zh-TW" altLang="en-US"/>
          </a:p>
        </p:txBody>
      </p:sp>
      <p:sp>
        <p:nvSpPr>
          <p:cNvPr id="5" name="頁尾版面配置區 4"/>
          <p:cNvSpPr>
            <a:spLocks noGrp="1"/>
          </p:cNvSpPr>
          <p:nvPr>
            <p:ph type="ftr" sz="quarter" idx="11"/>
          </p:nvPr>
        </p:nvSpPr>
        <p:spPr/>
        <p:txBody>
          <a:bodyPr/>
          <a:lstStyle/>
          <a:p>
            <a:endParaRPr lang="zh-TW" altLang="en-US" dirty="0"/>
          </a:p>
        </p:txBody>
      </p:sp>
      <p:sp>
        <p:nvSpPr>
          <p:cNvPr id="6" name="投影片編號版面配置區 5"/>
          <p:cNvSpPr>
            <a:spLocks noGrp="1"/>
          </p:cNvSpPr>
          <p:nvPr>
            <p:ph type="sldNum" sz="quarter" idx="12"/>
          </p:nvPr>
        </p:nvSpPr>
        <p:spPr/>
        <p:txBody>
          <a:bodyPr/>
          <a:lstStyle/>
          <a:p>
            <a:fld id="{51D2D507-09EA-4C6F-96ED-053C801F8797}" type="slidenum">
              <a:rPr lang="zh-TW" altLang="en-US" smtClean="0"/>
              <a:t>‹#›</a:t>
            </a:fld>
            <a:endParaRPr lang="zh-TW" altLang="en-US"/>
          </a:p>
        </p:txBody>
      </p:sp>
      <p:sp>
        <p:nvSpPr>
          <p:cNvPr id="12" name="文字方塊 29"/>
          <p:cNvSpPr txBox="1">
            <a:spLocks noChangeArrowheads="1"/>
          </p:cNvSpPr>
          <p:nvPr userDrawn="1"/>
        </p:nvSpPr>
        <p:spPr bwMode="auto">
          <a:xfrm>
            <a:off x="1259632" y="404664"/>
            <a:ext cx="2736304"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gn="dist" fontAlgn="base">
              <a:spcAft>
                <a:spcPts val="300"/>
              </a:spcAft>
            </a:pPr>
            <a:endParaRPr lang="zh-TW" sz="1400" kern="1200" dirty="0">
              <a:solidFill>
                <a:srgbClr val="3366FF"/>
              </a:solidFill>
              <a:effectLst/>
              <a:latin typeface="Corbel"/>
              <a:ea typeface="微軟正黑體"/>
              <a:cs typeface="Times New Roman"/>
            </a:endParaRPr>
          </a:p>
        </p:txBody>
      </p:sp>
      <p:pic>
        <p:nvPicPr>
          <p:cNvPr id="3" name="圖片 2" descr="一張含有 燈泡 的圖片&#10;&#10;AI 產生的內容可能不正確。">
            <a:extLst>
              <a:ext uri="{FF2B5EF4-FFF2-40B4-BE49-F238E27FC236}">
                <a16:creationId xmlns:a16="http://schemas.microsoft.com/office/drawing/2014/main" id="{40C7E4CD-5722-DC5D-D0BB-46E032E3C5D9}"/>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85800" y="2564905"/>
            <a:ext cx="1781747" cy="1828730"/>
          </a:xfrm>
          <a:prstGeom prst="rect">
            <a:avLst/>
          </a:prstGeom>
        </p:spPr>
      </p:pic>
    </p:spTree>
    <p:extLst>
      <p:ext uri="{BB962C8B-B14F-4D97-AF65-F5344CB8AC3E}">
        <p14:creationId xmlns:p14="http://schemas.microsoft.com/office/powerpoint/2010/main" val="1331926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圖片 7"/>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3323" y="1"/>
            <a:ext cx="9140677" cy="764703"/>
          </a:xfrm>
          <a:prstGeom prst="rect">
            <a:avLst/>
          </a:prstGeom>
        </p:spPr>
      </p:pic>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rgbClr val="6699FF"/>
                </a:solidFill>
                <a:latin typeface="Adobe 繁黑體 Std B"/>
                <a:ea typeface="Adobe 繁黑體 Std B"/>
                <a:cs typeface="Adobe 繁黑體 Std B"/>
              </a:defRPr>
            </a:lvl1pPr>
          </a:lstStyle>
          <a:p>
            <a:fld id="{10354FD9-B00D-48FF-85D9-3561B9EC258A}" type="datetime1">
              <a:rPr lang="zh-TW" altLang="en-US" smtClean="0"/>
              <a:t>2026/10/11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rgbClr val="6699FF"/>
                </a:solidFill>
                <a:latin typeface="Adobe 繁黑體 Std B"/>
                <a:ea typeface="Adobe 繁黑體 Std B"/>
                <a:cs typeface="Adobe 繁黑體 Std B"/>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6699FF"/>
                </a:solidFill>
                <a:latin typeface="Adobe 繁黑體 Std B"/>
                <a:ea typeface="Adobe 繁黑體 Std B"/>
                <a:cs typeface="Adobe 繁黑體 Std B"/>
              </a:defRPr>
            </a:lvl1pPr>
          </a:lstStyle>
          <a:p>
            <a:fld id="{51D2D507-09EA-4C6F-96ED-053C801F8797}" type="slidenum">
              <a:rPr lang="zh-TW" altLang="en-US" smtClean="0"/>
              <a:pPr/>
              <a:t>‹#›</a:t>
            </a:fld>
            <a:endParaRPr lang="zh-TW" altLang="en-US"/>
          </a:p>
        </p:txBody>
      </p:sp>
      <p:pic>
        <p:nvPicPr>
          <p:cNvPr id="10" name="圖片 9" descr="一張含有 燈泡 的圖片&#10;&#10;AI 產生的內容可能不正確。">
            <a:extLst>
              <a:ext uri="{FF2B5EF4-FFF2-40B4-BE49-F238E27FC236}">
                <a16:creationId xmlns:a16="http://schemas.microsoft.com/office/drawing/2014/main" id="{BCF0FE7F-8C44-7632-0D32-DC2A2133BE11}"/>
              </a:ext>
            </a:extLst>
          </p:cNvPr>
          <p:cNvPicPr>
            <a:picLocks noChangeAspect="1"/>
          </p:cNvPicPr>
          <p:nvPr/>
        </p:nvPicPr>
        <p:blipFill>
          <a:blip r:embed="rId19" cstate="email">
            <a:extLst>
              <a:ext uri="{28A0092B-C50C-407E-A947-70E740481C1C}">
                <a14:useLocalDpi xmlns:a14="http://schemas.microsoft.com/office/drawing/2010/main" val="0"/>
              </a:ext>
            </a:extLst>
          </a:blip>
          <a:stretch>
            <a:fillRect/>
          </a:stretch>
        </p:blipFill>
        <p:spPr>
          <a:xfrm>
            <a:off x="179512" y="419"/>
            <a:ext cx="744649" cy="764285"/>
          </a:xfrm>
          <a:prstGeom prst="rect">
            <a:avLst/>
          </a:prstGeom>
        </p:spPr>
      </p:pic>
    </p:spTree>
    <p:extLst>
      <p:ext uri="{BB962C8B-B14F-4D97-AF65-F5344CB8AC3E}">
        <p14:creationId xmlns:p14="http://schemas.microsoft.com/office/powerpoint/2010/main" val="54594102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7" r:id="rId1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6699FF"/>
          </a:solidFill>
          <a:latin typeface="Adobe 繁黑體 Std B"/>
          <a:ea typeface="Adobe 繁黑體 Std B"/>
          <a:cs typeface="Adobe 繁黑體 Std B"/>
        </a:defRPr>
      </a:lvl1pPr>
      <a:lvl2pPr marL="742950" indent="-285750" algn="l" defTabSz="914400" rtl="0" eaLnBrk="1" latinLnBrk="0" hangingPunct="1">
        <a:spcBef>
          <a:spcPct val="20000"/>
        </a:spcBef>
        <a:buFont typeface="Arial" pitchFamily="34" charset="0"/>
        <a:buChar char="–"/>
        <a:defRPr sz="2800" kern="1200">
          <a:solidFill>
            <a:srgbClr val="6699FF"/>
          </a:solidFill>
          <a:latin typeface="Adobe 繁黑體 Std B"/>
          <a:ea typeface="Adobe 繁黑體 Std B"/>
          <a:cs typeface="Adobe 繁黑體 Std B"/>
        </a:defRPr>
      </a:lvl2pPr>
      <a:lvl3pPr marL="1143000" indent="-228600" algn="l" defTabSz="914400" rtl="0" eaLnBrk="1" latinLnBrk="0" hangingPunct="1">
        <a:spcBef>
          <a:spcPct val="20000"/>
        </a:spcBef>
        <a:buFont typeface="Arial" pitchFamily="34" charset="0"/>
        <a:buChar char="•"/>
        <a:defRPr sz="2400" kern="1200">
          <a:solidFill>
            <a:srgbClr val="6699FF"/>
          </a:solidFill>
          <a:latin typeface="Adobe 繁黑體 Std B"/>
          <a:ea typeface="Adobe 繁黑體 Std B"/>
          <a:cs typeface="Adobe 繁黑體 Std B"/>
        </a:defRPr>
      </a:lvl3pPr>
      <a:lvl4pPr marL="16002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4pPr>
      <a:lvl5pPr marL="20574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opic.tipo.gov.tw/patents-tw/cp-682-870083-10557-101.html" TargetMode="External"/><Relationship Id="rId2" Type="http://schemas.openxmlformats.org/officeDocument/2006/relationships/hyperlink" Target="https://www.tipo.gov.tw/tw/patents/436-6354.html" TargetMode="Externa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8.wmf"/><Relationship Id="rId2" Type="http://schemas.openxmlformats.org/officeDocument/2006/relationships/image" Target="../media/image13.wmf"/><Relationship Id="rId1" Type="http://schemas.openxmlformats.org/officeDocument/2006/relationships/slideLayout" Target="../slideLayouts/slideLayout4.xml"/><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 Id="rId9" Type="http://schemas.openxmlformats.org/officeDocument/2006/relationships/image" Target="../media/image20.wmf"/></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 Id="rId5" Type="http://schemas.openxmlformats.org/officeDocument/2006/relationships/image" Target="../media/image46.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Layout" Target="../slideLayouts/slideLayout4.xml"/><Relationship Id="rId5" Type="http://schemas.openxmlformats.org/officeDocument/2006/relationships/image" Target="../media/image50.png"/><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 Id="rId5" Type="http://schemas.openxmlformats.org/officeDocument/2006/relationships/image" Target="../media/image54.png"/><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030356" y="3284984"/>
            <a:ext cx="5940152" cy="2232248"/>
          </a:xfrm>
          <a:ln>
            <a:noFill/>
          </a:ln>
        </p:spPr>
        <p:txBody>
          <a:bodyPr>
            <a:normAutofit/>
          </a:bodyPr>
          <a:lstStyle/>
          <a:p>
            <a:pPr>
              <a:lnSpc>
                <a:spcPct val="150000"/>
              </a:lnSpc>
            </a:pPr>
            <a:r>
              <a:rPr lang="zh-TW" altLang="en-US" sz="3600" b="1" cap="all" dirty="0">
                <a:ln w="9000" cmpd="sng">
                  <a:noFill/>
                  <a:prstDash val="solid"/>
                </a:ln>
                <a:solidFill>
                  <a:srgbClr val="0070C0"/>
                </a:solidFill>
                <a:latin typeface="微軟正黑體" panose="020B0604030504040204" pitchFamily="34" charset="-120"/>
                <a:ea typeface="微軟正黑體" panose="020B0604030504040204" pitchFamily="34" charset="-120"/>
              </a:rPr>
              <a:t>軟體專利簡介及標的適格性</a:t>
            </a:r>
          </a:p>
        </p:txBody>
      </p:sp>
      <p:sp>
        <p:nvSpPr>
          <p:cNvPr id="4" name="副標題 3"/>
          <p:cNvSpPr>
            <a:spLocks noGrp="1"/>
          </p:cNvSpPr>
          <p:nvPr>
            <p:ph type="subTitle" idx="1"/>
          </p:nvPr>
        </p:nvSpPr>
        <p:spPr>
          <a:xfrm>
            <a:off x="7020272" y="6309320"/>
            <a:ext cx="2022301" cy="404664"/>
          </a:xfrm>
        </p:spPr>
        <p:txBody>
          <a:bodyPr>
            <a:noAutofit/>
          </a:bodyPr>
          <a:lstStyle/>
          <a:p>
            <a:pPr>
              <a:lnSpc>
                <a:spcPts val="2200"/>
              </a:lnSpc>
            </a:pPr>
            <a:r>
              <a:rPr lang="en-US" altLang="zh-TW" sz="1800" b="1" dirty="0">
                <a:solidFill>
                  <a:srgbClr val="0070C0"/>
                </a:solidFill>
                <a:latin typeface="微軟正黑體" panose="020B0604030504040204" pitchFamily="34" charset="-120"/>
                <a:ea typeface="微軟正黑體" panose="020B0604030504040204" pitchFamily="34" charset="-120"/>
              </a:rPr>
              <a:t>115</a:t>
            </a:r>
            <a:r>
              <a:rPr lang="zh-TW" altLang="en-US" sz="1800" b="1" dirty="0">
                <a:solidFill>
                  <a:srgbClr val="0070C0"/>
                </a:solidFill>
                <a:latin typeface="微軟正黑體" panose="020B0604030504040204" pitchFamily="34" charset="-120"/>
                <a:ea typeface="微軟正黑體" panose="020B0604030504040204" pitchFamily="34" charset="-120"/>
              </a:rPr>
              <a:t>年</a:t>
            </a:r>
            <a:r>
              <a:rPr lang="en-US" altLang="zh-TW" sz="1800" b="1" dirty="0">
                <a:solidFill>
                  <a:srgbClr val="0070C0"/>
                </a:solidFill>
                <a:latin typeface="微軟正黑體" panose="020B0604030504040204" pitchFamily="34" charset="-120"/>
                <a:ea typeface="微軟正黑體" panose="020B0604030504040204" pitchFamily="34" charset="-120"/>
              </a:rPr>
              <a:t>10</a:t>
            </a:r>
            <a:r>
              <a:rPr lang="zh-TW" altLang="en-US" sz="1800" b="1" dirty="0">
                <a:solidFill>
                  <a:srgbClr val="0070C0"/>
                </a:solidFill>
                <a:latin typeface="微軟正黑體" panose="020B0604030504040204" pitchFamily="34" charset="-120"/>
                <a:ea typeface="微軟正黑體" panose="020B0604030504040204" pitchFamily="34" charset="-120"/>
              </a:rPr>
              <a:t>月</a:t>
            </a:r>
            <a:r>
              <a:rPr lang="en-US" altLang="zh-TW" sz="1800" b="1" dirty="0">
                <a:solidFill>
                  <a:srgbClr val="0070C0"/>
                </a:solidFill>
                <a:latin typeface="微軟正黑體" panose="020B0604030504040204" pitchFamily="34" charset="-120"/>
                <a:ea typeface="微軟正黑體" panose="020B0604030504040204" pitchFamily="34" charset="-120"/>
              </a:rPr>
              <a:t>17</a:t>
            </a:r>
            <a:r>
              <a:rPr lang="zh-TW" altLang="en-US" sz="1800" b="1" dirty="0">
                <a:solidFill>
                  <a:srgbClr val="0070C0"/>
                </a:solidFill>
                <a:latin typeface="微軟正黑體" panose="020B0604030504040204" pitchFamily="34" charset="-120"/>
                <a:ea typeface="微軟正黑體" panose="020B0604030504040204" pitchFamily="34" charset="-120"/>
              </a:rPr>
              <a:t>日</a:t>
            </a:r>
          </a:p>
        </p:txBody>
      </p:sp>
      <p:sp>
        <p:nvSpPr>
          <p:cNvPr id="6" name="副標題 2"/>
          <p:cNvSpPr txBox="1">
            <a:spLocks/>
          </p:cNvSpPr>
          <p:nvPr/>
        </p:nvSpPr>
        <p:spPr>
          <a:xfrm>
            <a:off x="4067944" y="4727401"/>
            <a:ext cx="3325339" cy="792088"/>
          </a:xfrm>
          <a:prstGeom prst="rect">
            <a:avLst/>
          </a:prstGeom>
          <a:ln>
            <a:miter lim="800000"/>
            <a:headEnd/>
            <a:tailEnd/>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rgbClr val="6699FF"/>
                </a:solidFill>
                <a:latin typeface="Adobe 繁黑體 Std B"/>
                <a:ea typeface="Adobe 繁黑體 Std B"/>
                <a:cs typeface="Adobe 繁黑體 Std B"/>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Adobe 繁黑體 Std B"/>
                <a:ea typeface="Adobe 繁黑體 Std B"/>
                <a:cs typeface="Adobe 繁黑體 Std B"/>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Adobe 繁黑體 Std B"/>
                <a:ea typeface="Adobe 繁黑體 Std B"/>
                <a:cs typeface="Adobe 繁黑體 Std B"/>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Adobe 繁黑體 Std B"/>
                <a:ea typeface="Adobe 繁黑體 Std B"/>
                <a:cs typeface="Adobe 繁黑體 Std B"/>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Adobe 繁黑體 Std B"/>
                <a:ea typeface="Adobe 繁黑體 Std B"/>
                <a:cs typeface="Adobe 繁黑體 Std B"/>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nSpc>
                <a:spcPts val="2500"/>
              </a:lnSpc>
              <a:defRPr/>
            </a:pPr>
            <a:r>
              <a:rPr lang="zh-TW" altLang="en-US" sz="2200" dirty="0">
                <a:ln w="10541" cmpd="sng">
                  <a:solidFill>
                    <a:schemeClr val="accent1">
                      <a:shade val="88000"/>
                      <a:satMod val="110000"/>
                    </a:schemeClr>
                  </a:solidFill>
                  <a:prstDash val="solid"/>
                </a:ln>
                <a:solidFill>
                  <a:srgbClr val="000099"/>
                </a:solidFill>
                <a:latin typeface="微軟正黑體" panose="020B0604030504040204" pitchFamily="34" charset="-120"/>
                <a:ea typeface="微軟正黑體" panose="020B0604030504040204" pitchFamily="34" charset="-120"/>
              </a:rPr>
              <a:t>智慧財產及商業法院</a:t>
            </a:r>
          </a:p>
          <a:p>
            <a:pPr>
              <a:defRPr/>
            </a:pPr>
            <a:r>
              <a:rPr lang="zh-TW" altLang="en-US" sz="2200" dirty="0">
                <a:solidFill>
                  <a:srgbClr val="000099"/>
                </a:solidFill>
                <a:latin typeface="微軟正黑體" pitchFamily="34" charset="-120"/>
                <a:ea typeface="微軟正黑體" pitchFamily="34" charset="-120"/>
              </a:rPr>
              <a:t>顏俊仁</a:t>
            </a:r>
          </a:p>
        </p:txBody>
      </p:sp>
    </p:spTree>
    <p:extLst>
      <p:ext uri="{BB962C8B-B14F-4D97-AF65-F5344CB8AC3E}">
        <p14:creationId xmlns:p14="http://schemas.microsoft.com/office/powerpoint/2010/main" val="2050690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7ECF36-3F8B-189F-4E9D-EF1F574EF193}"/>
              </a:ext>
            </a:extLst>
          </p:cNvPr>
          <p:cNvSpPr>
            <a:spLocks noGrp="1"/>
          </p:cNvSpPr>
          <p:nvPr>
            <p:ph type="title"/>
          </p:nvPr>
        </p:nvSpPr>
        <p:spPr>
          <a:xfrm>
            <a:off x="1331640" y="2954"/>
            <a:ext cx="7437512" cy="761750"/>
          </a:xfrm>
        </p:spPr>
        <p:txBody>
          <a:bodyPr/>
          <a:lstStyle/>
          <a:p>
            <a:r>
              <a:rPr lang="zh-TW" altLang="en-US" sz="3600" cap="all" dirty="0">
                <a:ln w="9000" cmpd="sng">
                  <a:noFill/>
                  <a:prstDash val="solid"/>
                </a:ln>
                <a:latin typeface="微軟正黑體" panose="020B0604030504040204" pitchFamily="34" charset="-120"/>
                <a:ea typeface="微軟正黑體" panose="020B0604030504040204" pitchFamily="34" charset="-120"/>
              </a:rPr>
              <a:t>電腦軟體相關發明專利審查實務</a:t>
            </a:r>
            <a:endParaRPr lang="zh-TW" altLang="en-US" dirty="0"/>
          </a:p>
        </p:txBody>
      </p:sp>
      <p:sp>
        <p:nvSpPr>
          <p:cNvPr id="4" name="投影片編號版面配置區 3">
            <a:extLst>
              <a:ext uri="{FF2B5EF4-FFF2-40B4-BE49-F238E27FC236}">
                <a16:creationId xmlns:a16="http://schemas.microsoft.com/office/drawing/2014/main" id="{601AA65F-3DA6-0D99-E2E3-1AA8B1441224}"/>
              </a:ext>
            </a:extLst>
          </p:cNvPr>
          <p:cNvSpPr>
            <a:spLocks noGrp="1"/>
          </p:cNvSpPr>
          <p:nvPr>
            <p:ph type="sldNum" sz="quarter" idx="12"/>
          </p:nvPr>
        </p:nvSpPr>
        <p:spPr/>
        <p:txBody>
          <a:bodyPr/>
          <a:lstStyle/>
          <a:p>
            <a:fld id="{51D2D507-09EA-4C6F-96ED-053C801F8797}" type="slidenum">
              <a:rPr lang="zh-TW" altLang="en-US" smtClean="0"/>
              <a:t>2</a:t>
            </a:fld>
            <a:endParaRPr lang="zh-TW" altLang="en-US"/>
          </a:p>
        </p:txBody>
      </p:sp>
      <p:sp>
        <p:nvSpPr>
          <p:cNvPr id="8" name="文字方塊 7">
            <a:extLst>
              <a:ext uri="{FF2B5EF4-FFF2-40B4-BE49-F238E27FC236}">
                <a16:creationId xmlns:a16="http://schemas.microsoft.com/office/drawing/2014/main" id="{71C8C74D-BD96-91C9-BA7D-4D214CE56ED3}"/>
              </a:ext>
            </a:extLst>
          </p:cNvPr>
          <p:cNvSpPr txBox="1"/>
          <p:nvPr/>
        </p:nvSpPr>
        <p:spPr>
          <a:xfrm>
            <a:off x="1431354" y="3958379"/>
            <a:ext cx="5700796" cy="369332"/>
          </a:xfrm>
          <a:prstGeom prst="rect">
            <a:avLst/>
          </a:prstGeom>
          <a:noFill/>
        </p:spPr>
        <p:txBody>
          <a:bodyPr wrap="square">
            <a:spAutoFit/>
          </a:bodyPr>
          <a:lstStyle/>
          <a:p>
            <a:r>
              <a:rPr lang="zh-TW" altLang="en-US" b="0" i="0" strike="noStrike" dirty="0">
                <a:solidFill>
                  <a:srgbClr val="0000FF"/>
                </a:solidFill>
                <a:effectLst/>
                <a:latin typeface="微軟正黑體" panose="020B0604030504040204" pitchFamily="34" charset="-120"/>
                <a:ea typeface="微軟正黑體" panose="020B0604030504040204" pitchFamily="34" charset="-120"/>
                <a:hlinkClick r:id="rId2" tooltip="第12章電腦軟體相關發明(110年7月1日施行版).pdf">
                  <a:extLst>
                    <a:ext uri="{A12FA001-AC4F-418D-AE19-62706E023703}">
                      <ahyp:hlinkClr xmlns:ahyp="http://schemas.microsoft.com/office/drawing/2018/hyperlinkcolor" val="tx"/>
                    </a:ext>
                  </a:extLst>
                </a:hlinkClick>
              </a:rPr>
              <a:t>第</a:t>
            </a:r>
            <a:r>
              <a:rPr lang="en-US" altLang="zh-TW" b="0" i="0" strike="noStrike" dirty="0">
                <a:solidFill>
                  <a:srgbClr val="0000FF"/>
                </a:solidFill>
                <a:effectLst/>
                <a:latin typeface="微軟正黑體" panose="020B0604030504040204" pitchFamily="34" charset="-120"/>
                <a:ea typeface="微軟正黑體" panose="020B0604030504040204" pitchFamily="34" charset="-120"/>
                <a:hlinkClick r:id="rId2" tooltip="第12章電腦軟體相關發明(110年7月1日施行版).pdf">
                  <a:extLst>
                    <a:ext uri="{A12FA001-AC4F-418D-AE19-62706E023703}">
                      <ahyp:hlinkClr xmlns:ahyp="http://schemas.microsoft.com/office/drawing/2018/hyperlinkcolor" val="tx"/>
                    </a:ext>
                  </a:extLst>
                </a:hlinkClick>
              </a:rPr>
              <a:t>12</a:t>
            </a:r>
            <a:r>
              <a:rPr lang="zh-TW" altLang="en-US" b="0" i="0" strike="noStrike" dirty="0">
                <a:solidFill>
                  <a:srgbClr val="0000FF"/>
                </a:solidFill>
                <a:effectLst/>
                <a:latin typeface="微軟正黑體" panose="020B0604030504040204" pitchFamily="34" charset="-120"/>
                <a:ea typeface="微軟正黑體" panose="020B0604030504040204" pitchFamily="34" charset="-120"/>
                <a:hlinkClick r:id="rId2" tooltip="第12章電腦軟體相關發明(110年7月1日施行版).pdf">
                  <a:extLst>
                    <a:ext uri="{A12FA001-AC4F-418D-AE19-62706E023703}">
                      <ahyp:hlinkClr xmlns:ahyp="http://schemas.microsoft.com/office/drawing/2018/hyperlinkcolor" val="tx"/>
                    </a:ext>
                  </a:extLst>
                </a:hlinkClick>
              </a:rPr>
              <a:t>章電腦軟體相關發明</a:t>
            </a:r>
            <a:r>
              <a:rPr lang="en-US" altLang="zh-TW" b="0" i="0" strike="noStrike" dirty="0">
                <a:solidFill>
                  <a:srgbClr val="0000FF"/>
                </a:solidFill>
                <a:effectLst/>
                <a:latin typeface="微軟正黑體" panose="020B0604030504040204" pitchFamily="34" charset="-120"/>
                <a:ea typeface="微軟正黑體" panose="020B0604030504040204" pitchFamily="34" charset="-120"/>
                <a:hlinkClick r:id="rId2" tooltip="第12章電腦軟體相關發明(110年7月1日施行版).pdf">
                  <a:extLst>
                    <a:ext uri="{A12FA001-AC4F-418D-AE19-62706E023703}">
                      <ahyp:hlinkClr xmlns:ahyp="http://schemas.microsoft.com/office/drawing/2018/hyperlinkcolor" val="tx"/>
                    </a:ext>
                  </a:extLst>
                </a:hlinkClick>
              </a:rPr>
              <a:t>(2021</a:t>
            </a:r>
            <a:r>
              <a:rPr lang="zh-TW" altLang="en-US" b="0" i="0" strike="noStrike" dirty="0">
                <a:solidFill>
                  <a:srgbClr val="0000FF"/>
                </a:solidFill>
                <a:effectLst/>
                <a:latin typeface="微軟正黑體" panose="020B0604030504040204" pitchFamily="34" charset="-120"/>
                <a:ea typeface="微軟正黑體" panose="020B0604030504040204" pitchFamily="34" charset="-120"/>
                <a:hlinkClick r:id="rId2" tooltip="第12章電腦軟體相關發明(110年7月1日施行版).pdf">
                  <a:extLst>
                    <a:ext uri="{A12FA001-AC4F-418D-AE19-62706E023703}">
                      <ahyp:hlinkClr xmlns:ahyp="http://schemas.microsoft.com/office/drawing/2018/hyperlinkcolor" val="tx"/>
                    </a:ext>
                  </a:extLst>
                </a:hlinkClick>
              </a:rPr>
              <a:t>年</a:t>
            </a:r>
            <a:r>
              <a:rPr lang="en-US" altLang="zh-TW" b="0" i="0" strike="noStrike" dirty="0">
                <a:solidFill>
                  <a:srgbClr val="0000FF"/>
                </a:solidFill>
                <a:effectLst/>
                <a:latin typeface="微軟正黑體" panose="020B0604030504040204" pitchFamily="34" charset="-120"/>
                <a:ea typeface="微軟正黑體" panose="020B0604030504040204" pitchFamily="34" charset="-120"/>
                <a:hlinkClick r:id="rId2" tooltip="第12章電腦軟體相關發明(110年7月1日施行版).pdf">
                  <a:extLst>
                    <a:ext uri="{A12FA001-AC4F-418D-AE19-62706E023703}">
                      <ahyp:hlinkClr xmlns:ahyp="http://schemas.microsoft.com/office/drawing/2018/hyperlinkcolor" val="tx"/>
                    </a:ext>
                  </a:extLst>
                </a:hlinkClick>
              </a:rPr>
              <a:t>7</a:t>
            </a:r>
            <a:r>
              <a:rPr lang="zh-TW" altLang="en-US" b="0" i="0" strike="noStrike" dirty="0">
                <a:solidFill>
                  <a:srgbClr val="0000FF"/>
                </a:solidFill>
                <a:effectLst/>
                <a:latin typeface="微軟正黑體" panose="020B0604030504040204" pitchFamily="34" charset="-120"/>
                <a:ea typeface="微軟正黑體" panose="020B0604030504040204" pitchFamily="34" charset="-120"/>
                <a:hlinkClick r:id="rId2" tooltip="第12章電腦軟體相關發明(110年7月1日施行版).pdf">
                  <a:extLst>
                    <a:ext uri="{A12FA001-AC4F-418D-AE19-62706E023703}">
                      <ahyp:hlinkClr xmlns:ahyp="http://schemas.microsoft.com/office/drawing/2018/hyperlinkcolor" val="tx"/>
                    </a:ext>
                  </a:extLst>
                </a:hlinkClick>
              </a:rPr>
              <a:t>月</a:t>
            </a:r>
            <a:r>
              <a:rPr lang="en-US" altLang="zh-TW" b="0" i="0" strike="noStrike" dirty="0">
                <a:solidFill>
                  <a:srgbClr val="0000FF"/>
                </a:solidFill>
                <a:effectLst/>
                <a:latin typeface="微軟正黑體" panose="020B0604030504040204" pitchFamily="34" charset="-120"/>
                <a:ea typeface="微軟正黑體" panose="020B0604030504040204" pitchFamily="34" charset="-120"/>
                <a:hlinkClick r:id="rId2" tooltip="第12章電腦軟體相關發明(110年7月1日施行版).pdf">
                  <a:extLst>
                    <a:ext uri="{A12FA001-AC4F-418D-AE19-62706E023703}">
                      <ahyp:hlinkClr xmlns:ahyp="http://schemas.microsoft.com/office/drawing/2018/hyperlinkcolor" val="tx"/>
                    </a:ext>
                  </a:extLst>
                </a:hlinkClick>
              </a:rPr>
              <a:t>1</a:t>
            </a:r>
            <a:r>
              <a:rPr lang="zh-TW" altLang="en-US" b="0" i="0" strike="noStrike" dirty="0">
                <a:solidFill>
                  <a:srgbClr val="0000FF"/>
                </a:solidFill>
                <a:effectLst/>
                <a:latin typeface="微軟正黑體" panose="020B0604030504040204" pitchFamily="34" charset="-120"/>
                <a:ea typeface="微軟正黑體" panose="020B0604030504040204" pitchFamily="34" charset="-120"/>
                <a:hlinkClick r:id="rId2" tooltip="第12章電腦軟體相關發明(110年7月1日施行版).pdf">
                  <a:extLst>
                    <a:ext uri="{A12FA001-AC4F-418D-AE19-62706E023703}">
                      <ahyp:hlinkClr xmlns:ahyp="http://schemas.microsoft.com/office/drawing/2018/hyperlinkcolor" val="tx"/>
                    </a:ext>
                  </a:extLst>
                </a:hlinkClick>
              </a:rPr>
              <a:t>日施行版</a:t>
            </a:r>
            <a:r>
              <a:rPr lang="en-US" altLang="zh-TW" b="0" i="0" strike="noStrike" dirty="0">
                <a:effectLst/>
                <a:latin typeface="微軟正黑體" panose="020B0604030504040204" pitchFamily="34" charset="-120"/>
                <a:ea typeface="微軟正黑體" panose="020B0604030504040204" pitchFamily="34" charset="-120"/>
                <a:hlinkClick r:id="rId2" tooltip="第12章電腦軟體相關發明(110年7月1日施行版).pdf">
                  <a:extLst>
                    <a:ext uri="{A12FA001-AC4F-418D-AE19-62706E023703}">
                      <ahyp:hlinkClr xmlns:ahyp="http://schemas.microsoft.com/office/drawing/2018/hyperlinkcolor" val="tx"/>
                    </a:ext>
                  </a:extLst>
                </a:hlinkClick>
              </a:rPr>
              <a:t>)</a:t>
            </a:r>
            <a:endParaRPr lang="zh-TW" altLang="en-US" dirty="0">
              <a:latin typeface="微軟正黑體" panose="020B0604030504040204" pitchFamily="34" charset="-120"/>
              <a:ea typeface="微軟正黑體" panose="020B0604030504040204" pitchFamily="34" charset="-120"/>
            </a:endParaRPr>
          </a:p>
        </p:txBody>
      </p:sp>
      <p:sp>
        <p:nvSpPr>
          <p:cNvPr id="10" name="文字方塊 9">
            <a:hlinkClick r:id="rId3"/>
            <a:extLst>
              <a:ext uri="{FF2B5EF4-FFF2-40B4-BE49-F238E27FC236}">
                <a16:creationId xmlns:a16="http://schemas.microsoft.com/office/drawing/2014/main" id="{5DC0E42B-4EA7-8227-9FF4-9973C25BE517}"/>
              </a:ext>
            </a:extLst>
          </p:cNvPr>
          <p:cNvSpPr txBox="1"/>
          <p:nvPr/>
        </p:nvSpPr>
        <p:spPr>
          <a:xfrm>
            <a:off x="634094" y="4455817"/>
            <a:ext cx="6624736" cy="369332"/>
          </a:xfrm>
          <a:prstGeom prst="rect">
            <a:avLst/>
          </a:prstGeom>
          <a:noFill/>
        </p:spPr>
        <p:txBody>
          <a:bodyPr wrap="square">
            <a:spAutoFit/>
          </a:bodyPr>
          <a:lstStyle/>
          <a:p>
            <a:r>
              <a:rPr lang="en-US" altLang="zh-TW" dirty="0">
                <a:latin typeface="微軟正黑體" panose="020B0604030504040204" pitchFamily="34" charset="-120"/>
                <a:ea typeface="微軟正黑體" panose="020B0604030504040204" pitchFamily="34" charset="-120"/>
              </a:rPr>
              <a:t>https://www.tipo.gov.tw/tw/patents/436-6354.html</a:t>
            </a:r>
            <a:endParaRPr lang="zh-TW" altLang="en-US" dirty="0">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id="{0BDDB74E-D4AC-5027-F68D-9DB7025F9148}"/>
              </a:ext>
            </a:extLst>
          </p:cNvPr>
          <p:cNvSpPr txBox="1"/>
          <p:nvPr/>
        </p:nvSpPr>
        <p:spPr>
          <a:xfrm>
            <a:off x="634094" y="3958379"/>
            <a:ext cx="877163"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下載：</a:t>
            </a:r>
          </a:p>
        </p:txBody>
      </p:sp>
      <p:pic>
        <p:nvPicPr>
          <p:cNvPr id="5" name="圖片 4">
            <a:extLst>
              <a:ext uri="{FF2B5EF4-FFF2-40B4-BE49-F238E27FC236}">
                <a16:creationId xmlns:a16="http://schemas.microsoft.com/office/drawing/2014/main" id="{B2177B47-607F-06E6-CFA1-59F053A6D7C5}"/>
              </a:ext>
            </a:extLst>
          </p:cNvPr>
          <p:cNvPicPr>
            <a:picLocks noChangeAspect="1"/>
          </p:cNvPicPr>
          <p:nvPr/>
        </p:nvPicPr>
        <p:blipFill>
          <a:blip r:embed="rId4"/>
          <a:stretch>
            <a:fillRect/>
          </a:stretch>
        </p:blipFill>
        <p:spPr>
          <a:xfrm>
            <a:off x="634094" y="1253127"/>
            <a:ext cx="2641762" cy="2613477"/>
          </a:xfrm>
          <a:prstGeom prst="rect">
            <a:avLst/>
          </a:prstGeom>
        </p:spPr>
      </p:pic>
    </p:spTree>
    <p:extLst>
      <p:ext uri="{BB962C8B-B14F-4D97-AF65-F5344CB8AC3E}">
        <p14:creationId xmlns:p14="http://schemas.microsoft.com/office/powerpoint/2010/main" val="831365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2996952"/>
            <a:ext cx="7772400" cy="968939"/>
          </a:xfrm>
        </p:spPr>
        <p:txBody>
          <a:bodyPr>
            <a:normAutofit/>
          </a:bodyPr>
          <a:lstStyle/>
          <a:p>
            <a:r>
              <a:rPr lang="zh-TW" altLang="en-US" sz="3600" dirty="0"/>
              <a:t>電腦軟體及軟體專利</a:t>
            </a:r>
          </a:p>
        </p:txBody>
      </p:sp>
      <p:sp>
        <p:nvSpPr>
          <p:cNvPr id="3" name="投影片編號版面配置區 3"/>
          <p:cNvSpPr>
            <a:spLocks noGrp="1"/>
          </p:cNvSpPr>
          <p:nvPr>
            <p:ph type="sldNum" sz="quarter" idx="12"/>
          </p:nvPr>
        </p:nvSpPr>
        <p:spPr>
          <a:xfrm>
            <a:off x="6553200" y="6446880"/>
            <a:ext cx="2133600" cy="365125"/>
          </a:xfrm>
        </p:spPr>
        <p:txBody>
          <a:bodyPr/>
          <a:lstStyle/>
          <a:p>
            <a:fld id="{51D2D507-09EA-4C6F-96ED-053C801F8797}" type="slidenum">
              <a:rPr lang="zh-TW" altLang="en-US" smtClean="0"/>
              <a:t>3</a:t>
            </a:fld>
            <a:endParaRPr lang="zh-TW" altLang="en-US" dirty="0"/>
          </a:p>
        </p:txBody>
      </p:sp>
    </p:spTree>
    <p:extLst>
      <p:ext uri="{BB962C8B-B14F-4D97-AF65-F5344CB8AC3E}">
        <p14:creationId xmlns:p14="http://schemas.microsoft.com/office/powerpoint/2010/main" val="341334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專利權與著作權</a:t>
            </a:r>
          </a:p>
        </p:txBody>
      </p:sp>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pPr>
                <a:defRPr/>
              </a:pPr>
              <a:t>4</a:t>
            </a:fld>
            <a:endParaRPr lang="zh-TW" altLang="en-US"/>
          </a:p>
        </p:txBody>
      </p:sp>
      <p:pic>
        <p:nvPicPr>
          <p:cNvPr id="5" name="Picture 3"/>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366690" y="1861540"/>
            <a:ext cx="1453122" cy="18393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文字方塊 5"/>
          <p:cNvSpPr txBox="1"/>
          <p:nvPr/>
        </p:nvSpPr>
        <p:spPr>
          <a:xfrm>
            <a:off x="669762" y="3700935"/>
            <a:ext cx="2846977" cy="338554"/>
          </a:xfrm>
          <a:prstGeom prst="rect">
            <a:avLst/>
          </a:prstGeom>
          <a:noFill/>
        </p:spPr>
        <p:txBody>
          <a:bodyPr wrap="square" rtlCol="0">
            <a:spAutoFit/>
          </a:bodyPr>
          <a:lstStyle/>
          <a:p>
            <a:r>
              <a:rPr lang="en-US" altLang="zh-TW" sz="800" b="0" dirty="0">
                <a:solidFill>
                  <a:schemeClr val="tx1"/>
                </a:solidFill>
                <a:latin typeface="微軟正黑體" panose="020B0604030504040204" pitchFamily="34" charset="-120"/>
                <a:ea typeface="微軟正黑體" panose="020B0604030504040204" pitchFamily="34" charset="-120"/>
              </a:rPr>
              <a:t>http://1.bp.blogspot.com/-YrWEizfL0Aw/TYbdp-AVeII/AAAAAAAAF60/Onh835W-tvE/s1600/write.jpg</a:t>
            </a:r>
            <a:endParaRPr lang="zh-TW" altLang="en-US" sz="800" b="0" dirty="0">
              <a:solidFill>
                <a:schemeClr val="tx1"/>
              </a:solidFill>
              <a:latin typeface="微軟正黑體" panose="020B0604030504040204" pitchFamily="34" charset="-120"/>
              <a:ea typeface="微軟正黑體" panose="020B0604030504040204" pitchFamily="34" charset="-120"/>
            </a:endParaRPr>
          </a:p>
        </p:txBody>
      </p:sp>
      <p:sp>
        <p:nvSpPr>
          <p:cNvPr id="7" name="矩形 6"/>
          <p:cNvSpPr/>
          <p:nvPr/>
        </p:nvSpPr>
        <p:spPr>
          <a:xfrm>
            <a:off x="1150666" y="1352166"/>
            <a:ext cx="1912370" cy="3600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sz="1800" b="0" dirty="0">
                <a:latin typeface="微軟正黑體" panose="020B0604030504040204" pitchFamily="34" charset="-120"/>
                <a:ea typeface="微軟正黑體" panose="020B0604030504040204" pitchFamily="34" charset="-120"/>
              </a:rPr>
              <a:t>著作權</a:t>
            </a:r>
          </a:p>
        </p:txBody>
      </p:sp>
      <p:sp>
        <p:nvSpPr>
          <p:cNvPr id="14" name="矩形 13"/>
          <p:cNvSpPr/>
          <p:nvPr/>
        </p:nvSpPr>
        <p:spPr>
          <a:xfrm>
            <a:off x="718617" y="4119070"/>
            <a:ext cx="2798121" cy="182825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285750" indent="-285750">
              <a:buFont typeface="Arial" panose="020B0604020202020204" pitchFamily="34" charset="0"/>
              <a:buChar char="•"/>
            </a:pPr>
            <a:r>
              <a:rPr lang="zh-TW" altLang="en-US" sz="2000" b="0" dirty="0">
                <a:latin typeface="微軟正黑體" panose="020B0604030504040204" pitchFamily="34" charset="-120"/>
                <a:ea typeface="微軟正黑體" panose="020B0604030504040204" pitchFamily="34" charset="-120"/>
              </a:rPr>
              <a:t>保護理念之</a:t>
            </a:r>
            <a:r>
              <a:rPr lang="zh-TW" altLang="en-US" sz="2000" b="0" dirty="0">
                <a:solidFill>
                  <a:srgbClr val="FF0000"/>
                </a:solidFill>
                <a:latin typeface="微軟正黑體" panose="020B0604030504040204" pitchFamily="34" charset="-120"/>
                <a:ea typeface="微軟正黑體" panose="020B0604030504040204" pitchFamily="34" charset="-120"/>
              </a:rPr>
              <a:t>外在表現形式</a:t>
            </a:r>
            <a:r>
              <a:rPr lang="en-US" altLang="zh-TW" sz="2000" b="0" dirty="0">
                <a:solidFill>
                  <a:srgbClr val="FF0000"/>
                </a:solidFill>
                <a:latin typeface="微軟正黑體" panose="020B0604030504040204" pitchFamily="34" charset="-120"/>
                <a:ea typeface="微軟正黑體" panose="020B0604030504040204" pitchFamily="34" charset="-120"/>
              </a:rPr>
              <a:t>(</a:t>
            </a:r>
            <a:r>
              <a:rPr lang="zh-TW" altLang="en-US" sz="2000" b="0">
                <a:solidFill>
                  <a:srgbClr val="FF0000"/>
                </a:solidFill>
                <a:latin typeface="微軟正黑體" panose="020B0604030504040204" pitchFamily="34" charset="-120"/>
                <a:ea typeface="微軟正黑體" panose="020B0604030504040204" pitchFamily="34" charset="-120"/>
              </a:rPr>
              <a:t>表達</a:t>
            </a:r>
            <a:r>
              <a:rPr lang="en-US" altLang="zh-TW" sz="2000" b="0">
                <a:solidFill>
                  <a:srgbClr val="FF0000"/>
                </a:solidFill>
                <a:latin typeface="微軟正黑體" panose="020B0604030504040204" pitchFamily="34" charset="-120"/>
                <a:ea typeface="微軟正黑體" panose="020B0604030504040204" pitchFamily="34" charset="-120"/>
              </a:rPr>
              <a:t>)</a:t>
            </a:r>
            <a:endParaRPr lang="en-US" altLang="zh-TW" sz="2000" b="0" dirty="0">
              <a:solidFill>
                <a:srgbClr val="FF0000"/>
              </a:solidFill>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ü"/>
            </a:pPr>
            <a:r>
              <a:rPr lang="zh-TW" altLang="en-US" sz="2000" b="0" dirty="0">
                <a:latin typeface="微軟正黑體" panose="020B0604030504040204" pitchFamily="34" charset="-120"/>
                <a:ea typeface="微軟正黑體" panose="020B0604030504040204" pitchFamily="34" charset="-120"/>
              </a:rPr>
              <a:t>電腦程式著作</a:t>
            </a:r>
            <a:endParaRPr lang="en-US" altLang="zh-TW" sz="2000" b="0" dirty="0">
              <a:latin typeface="微軟正黑體" panose="020B0604030504040204" pitchFamily="34" charset="-120"/>
              <a:ea typeface="微軟正黑體" panose="020B0604030504040204" pitchFamily="34" charset="-120"/>
            </a:endParaRPr>
          </a:p>
          <a:p>
            <a:pPr marL="1257300" lvl="2" indent="-342900">
              <a:buFont typeface="Wingdings" panose="05000000000000000000" pitchFamily="2" charset="2"/>
              <a:buChar char="Ø"/>
            </a:pPr>
            <a:r>
              <a:rPr lang="zh-TW" altLang="en-US" sz="2000" b="0" dirty="0">
                <a:latin typeface="微軟正黑體" panose="020B0604030504040204" pitchFamily="34" charset="-120"/>
                <a:ea typeface="微軟正黑體" panose="020B0604030504040204" pitchFamily="34" charset="-120"/>
              </a:rPr>
              <a:t>原始碼</a:t>
            </a:r>
            <a:endParaRPr lang="en-US" altLang="zh-TW" sz="2000" b="0" dirty="0">
              <a:latin typeface="微軟正黑體" panose="020B0604030504040204" pitchFamily="34" charset="-120"/>
              <a:ea typeface="微軟正黑體" panose="020B0604030504040204" pitchFamily="34" charset="-120"/>
            </a:endParaRPr>
          </a:p>
          <a:p>
            <a:pPr marL="1257300" lvl="2" indent="-342900">
              <a:buFont typeface="Wingdings" panose="05000000000000000000" pitchFamily="2" charset="2"/>
              <a:buChar char="Ø"/>
            </a:pPr>
            <a:r>
              <a:rPr lang="zh-TW" altLang="en-US" sz="2000" b="0" dirty="0">
                <a:latin typeface="微軟正黑體" panose="020B0604030504040204" pitchFamily="34" charset="-120"/>
                <a:ea typeface="微軟正黑體" panose="020B0604030504040204" pitchFamily="34" charset="-120"/>
              </a:rPr>
              <a:t>目的碼</a:t>
            </a:r>
          </a:p>
        </p:txBody>
      </p:sp>
      <p:pic>
        <p:nvPicPr>
          <p:cNvPr id="1026"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067944" y="885453"/>
            <a:ext cx="4787652" cy="51895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文字方塊 2"/>
          <p:cNvSpPr txBox="1"/>
          <p:nvPr/>
        </p:nvSpPr>
        <p:spPr>
          <a:xfrm>
            <a:off x="6156176" y="6309320"/>
            <a:ext cx="2304256" cy="276999"/>
          </a:xfrm>
          <a:prstGeom prst="rect">
            <a:avLst/>
          </a:prstGeom>
          <a:noFill/>
        </p:spPr>
        <p:txBody>
          <a:bodyPr wrap="square" rtlCol="0">
            <a:spAutoFit/>
          </a:bodyPr>
          <a:lstStyle/>
          <a:p>
            <a:r>
              <a:rPr lang="en-US" altLang="zh-TW" sz="1200" dirty="0"/>
              <a:t>From </a:t>
            </a:r>
            <a:r>
              <a:rPr lang="zh-TW" altLang="en-US" sz="1200" dirty="0"/>
              <a:t>陳昇瑋，</a:t>
            </a:r>
            <a:r>
              <a:rPr lang="en-US" altLang="zh-TW" sz="1200" dirty="0"/>
              <a:t>Delphi</a:t>
            </a:r>
            <a:r>
              <a:rPr lang="zh-TW" altLang="en-US" sz="1200" dirty="0"/>
              <a:t> 深度歷險</a:t>
            </a:r>
          </a:p>
        </p:txBody>
      </p:sp>
    </p:spTree>
    <p:extLst>
      <p:ext uri="{BB962C8B-B14F-4D97-AF65-F5344CB8AC3E}">
        <p14:creationId xmlns:p14="http://schemas.microsoft.com/office/powerpoint/2010/main" val="2779679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971093" y="4168897"/>
            <a:ext cx="5079077" cy="25724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r>
              <a:rPr lang="zh-TW" altLang="en-US" dirty="0"/>
              <a:t>專利權與著作權</a:t>
            </a:r>
          </a:p>
        </p:txBody>
      </p:sp>
      <p:sp>
        <p:nvSpPr>
          <p:cNvPr id="4" name="投影片編號版面配置區 3"/>
          <p:cNvSpPr>
            <a:spLocks noGrp="1"/>
          </p:cNvSpPr>
          <p:nvPr>
            <p:ph type="sldNum" sz="quarter" idx="12"/>
          </p:nvPr>
        </p:nvSpPr>
        <p:spPr>
          <a:xfrm>
            <a:off x="6804248" y="6376243"/>
            <a:ext cx="2133600" cy="365125"/>
          </a:xfrm>
        </p:spPr>
        <p:txBody>
          <a:bodyPr/>
          <a:lstStyle/>
          <a:p>
            <a:pPr>
              <a:defRPr/>
            </a:pPr>
            <a:fld id="{B83ACBEE-1837-4398-8376-AF0F7C4E2424}" type="slidenum">
              <a:rPr lang="zh-TW" altLang="en-US" smtClean="0"/>
              <a:pPr>
                <a:defRPr/>
              </a:pPr>
              <a:t>5</a:t>
            </a:fld>
            <a:endParaRPr lang="zh-TW" altLang="en-US" dirty="0"/>
          </a:p>
        </p:txBody>
      </p:sp>
      <p:pic>
        <p:nvPicPr>
          <p:cNvPr id="8"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39527" y="1828269"/>
            <a:ext cx="1628095" cy="23000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文字方塊 8"/>
          <p:cNvSpPr txBox="1"/>
          <p:nvPr/>
        </p:nvSpPr>
        <p:spPr>
          <a:xfrm>
            <a:off x="505502" y="3854382"/>
            <a:ext cx="1296144" cy="215444"/>
          </a:xfrm>
          <a:prstGeom prst="rect">
            <a:avLst/>
          </a:prstGeom>
          <a:noFill/>
        </p:spPr>
        <p:txBody>
          <a:bodyPr wrap="square" rtlCol="0">
            <a:spAutoFit/>
          </a:bodyPr>
          <a:lstStyle/>
          <a:p>
            <a:r>
              <a:rPr lang="en-US" altLang="zh-TW" sz="800" b="0" dirty="0">
                <a:solidFill>
                  <a:schemeClr val="tx1"/>
                </a:solidFill>
                <a:latin typeface="微軟正黑體" panose="020B0604030504040204" pitchFamily="34" charset="-120"/>
                <a:ea typeface="微軟正黑體" panose="020B0604030504040204" pitchFamily="34" charset="-120"/>
              </a:rPr>
              <a:t>https://pixabay.com/</a:t>
            </a:r>
            <a:endParaRPr lang="zh-TW" altLang="en-US" sz="800" b="0" dirty="0">
              <a:solidFill>
                <a:schemeClr val="tx1"/>
              </a:solidFill>
              <a:latin typeface="微軟正黑體" panose="020B0604030504040204" pitchFamily="34" charset="-120"/>
              <a:ea typeface="微軟正黑體" panose="020B0604030504040204" pitchFamily="34" charset="-120"/>
            </a:endParaRPr>
          </a:p>
        </p:txBody>
      </p:sp>
      <p:pic>
        <p:nvPicPr>
          <p:cNvPr id="10"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219922" y="1872903"/>
            <a:ext cx="1458149" cy="1894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文字方塊 10"/>
          <p:cNvSpPr txBox="1"/>
          <p:nvPr/>
        </p:nvSpPr>
        <p:spPr>
          <a:xfrm>
            <a:off x="2343042" y="3826208"/>
            <a:ext cx="1296144" cy="215444"/>
          </a:xfrm>
          <a:prstGeom prst="rect">
            <a:avLst/>
          </a:prstGeom>
          <a:noFill/>
        </p:spPr>
        <p:txBody>
          <a:bodyPr wrap="square" rtlCol="0">
            <a:spAutoFit/>
          </a:bodyPr>
          <a:lstStyle/>
          <a:p>
            <a:r>
              <a:rPr lang="en-US" altLang="zh-TW" sz="800" b="0" dirty="0">
                <a:solidFill>
                  <a:schemeClr val="tx1"/>
                </a:solidFill>
                <a:latin typeface="微軟正黑體" panose="020B0604030504040204" pitchFamily="34" charset="-120"/>
                <a:ea typeface="微軟正黑體" panose="020B0604030504040204" pitchFamily="34" charset="-120"/>
              </a:rPr>
              <a:t>https://pixabay.com/</a:t>
            </a:r>
            <a:endParaRPr lang="zh-TW" altLang="en-US" sz="800" b="0" dirty="0">
              <a:solidFill>
                <a:schemeClr val="tx1"/>
              </a:solidFill>
              <a:latin typeface="微軟正黑體" panose="020B0604030504040204" pitchFamily="34" charset="-120"/>
              <a:ea typeface="微軟正黑體" panose="020B0604030504040204" pitchFamily="34" charset="-120"/>
            </a:endParaRPr>
          </a:p>
        </p:txBody>
      </p:sp>
      <p:sp>
        <p:nvSpPr>
          <p:cNvPr id="12" name="文字方塊 11"/>
          <p:cNvSpPr txBox="1"/>
          <p:nvPr/>
        </p:nvSpPr>
        <p:spPr>
          <a:xfrm>
            <a:off x="1635671" y="2192605"/>
            <a:ext cx="984960" cy="1569660"/>
          </a:xfrm>
          <a:prstGeom prst="rect">
            <a:avLst/>
          </a:prstGeom>
          <a:noFill/>
        </p:spPr>
        <p:txBody>
          <a:bodyPr wrap="square" rtlCol="0">
            <a:spAutoFit/>
          </a:bodyPr>
          <a:lstStyle/>
          <a:p>
            <a:r>
              <a:rPr lang="en-US" altLang="zh-TW" sz="9600" dirty="0">
                <a:solidFill>
                  <a:srgbClr val="FF0000"/>
                </a:solidFill>
                <a:latin typeface="微軟正黑體" pitchFamily="34" charset="-120"/>
                <a:ea typeface="微軟正黑體" pitchFamily="34" charset="-120"/>
              </a:rPr>
              <a:t>+</a:t>
            </a:r>
            <a:endParaRPr lang="zh-TW" altLang="en-US" sz="9600" dirty="0">
              <a:solidFill>
                <a:srgbClr val="FF0000"/>
              </a:solidFill>
              <a:latin typeface="微軟正黑體" pitchFamily="34" charset="-120"/>
              <a:ea typeface="微軟正黑體" pitchFamily="34" charset="-120"/>
            </a:endParaRPr>
          </a:p>
        </p:txBody>
      </p:sp>
      <p:sp>
        <p:nvSpPr>
          <p:cNvPr id="13" name="矩形 12"/>
          <p:cNvSpPr/>
          <p:nvPr/>
        </p:nvSpPr>
        <p:spPr>
          <a:xfrm>
            <a:off x="1171966" y="1394508"/>
            <a:ext cx="1912370" cy="3600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sz="1800" b="0" dirty="0">
                <a:latin typeface="微軟正黑體" panose="020B0604030504040204" pitchFamily="34" charset="-120"/>
                <a:ea typeface="微軟正黑體" panose="020B0604030504040204" pitchFamily="34" charset="-120"/>
              </a:rPr>
              <a:t>專利權</a:t>
            </a:r>
          </a:p>
        </p:txBody>
      </p:sp>
      <p:sp>
        <p:nvSpPr>
          <p:cNvPr id="15" name="矩形 14"/>
          <p:cNvSpPr/>
          <p:nvPr/>
        </p:nvSpPr>
        <p:spPr>
          <a:xfrm>
            <a:off x="879950" y="4161412"/>
            <a:ext cx="2798121" cy="182825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285750" indent="-285750">
              <a:buFont typeface="Arial" panose="020B0604020202020204" pitchFamily="34" charset="0"/>
              <a:buChar char="•"/>
            </a:pPr>
            <a:r>
              <a:rPr lang="zh-TW" altLang="en-US" sz="2000" b="0" dirty="0">
                <a:latin typeface="微軟正黑體" panose="020B0604030504040204" pitchFamily="34" charset="-120"/>
                <a:ea typeface="微軟正黑體" panose="020B0604030504040204" pitchFamily="34" charset="-120"/>
              </a:rPr>
              <a:t>保護理念之</a:t>
            </a:r>
            <a:r>
              <a:rPr lang="zh-TW" altLang="en-US" sz="2000" b="0" dirty="0">
                <a:solidFill>
                  <a:srgbClr val="FF0000"/>
                </a:solidFill>
                <a:latin typeface="微軟正黑體" panose="020B0604030504040204" pitchFamily="34" charset="-120"/>
                <a:ea typeface="微軟正黑體" panose="020B0604030504040204" pitchFamily="34" charset="-120"/>
              </a:rPr>
              <a:t>具體實施</a:t>
            </a:r>
            <a:endParaRPr lang="en-US" altLang="zh-TW" sz="2000" b="0" dirty="0">
              <a:solidFill>
                <a:srgbClr val="FF0000"/>
              </a:solidFill>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ü"/>
            </a:pPr>
            <a:r>
              <a:rPr lang="zh-TW" altLang="en-US" sz="2000" b="0" dirty="0">
                <a:latin typeface="微軟正黑體" panose="020B0604030504040204" pitchFamily="34" charset="-120"/>
                <a:ea typeface="微軟正黑體" panose="020B0604030504040204" pitchFamily="34" charset="-120"/>
              </a:rPr>
              <a:t>系統、裝置、電腦程式產品</a:t>
            </a:r>
            <a:endParaRPr lang="en-US" altLang="zh-TW" sz="2000" b="0"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ü"/>
            </a:pPr>
            <a:r>
              <a:rPr lang="zh-TW" altLang="en-US" sz="2000" b="0" dirty="0">
                <a:latin typeface="微軟正黑體" panose="020B0604030504040204" pitchFamily="34" charset="-120"/>
                <a:ea typeface="微軟正黑體" panose="020B0604030504040204" pitchFamily="34" charset="-120"/>
              </a:rPr>
              <a:t>方法</a:t>
            </a:r>
          </a:p>
        </p:txBody>
      </p:sp>
      <p:sp>
        <p:nvSpPr>
          <p:cNvPr id="16" name="圓角矩形 15"/>
          <p:cNvSpPr/>
          <p:nvPr/>
        </p:nvSpPr>
        <p:spPr>
          <a:xfrm>
            <a:off x="3971094" y="966112"/>
            <a:ext cx="5079077" cy="3180684"/>
          </a:xfrm>
          <a:prstGeom prst="roundRect">
            <a:avLst>
              <a:gd name="adj" fmla="val 3653"/>
            </a:avLst>
          </a:prstGeom>
        </p:spPr>
        <p:style>
          <a:lnRef idx="1">
            <a:schemeClr val="accent3"/>
          </a:lnRef>
          <a:fillRef idx="2">
            <a:schemeClr val="accent3"/>
          </a:fillRef>
          <a:effectRef idx="1">
            <a:schemeClr val="accent3"/>
          </a:effectRef>
          <a:fontRef idx="minor">
            <a:schemeClr val="dk1"/>
          </a:fontRef>
        </p:style>
        <p:txBody>
          <a:bodyPr rtlCol="0" anchor="ctr"/>
          <a:lstStyle/>
          <a:p>
            <a:r>
              <a:rPr lang="zh-TW" altLang="en-US" sz="1600" b="0" dirty="0">
                <a:solidFill>
                  <a:prstClr val="black"/>
                </a:solidFill>
                <a:latin typeface="微軟正黑體" panose="020B0604030504040204" pitchFamily="34" charset="-120"/>
                <a:ea typeface="微軟正黑體" panose="020B0604030504040204" pitchFamily="34" charset="-120"/>
              </a:rPr>
              <a:t>一種自我評量回饋的影音學習系統，包括有：</a:t>
            </a:r>
            <a:br>
              <a:rPr lang="zh-TW" altLang="en-US" sz="1600" b="0" dirty="0">
                <a:solidFill>
                  <a:prstClr val="black"/>
                </a:solidFill>
                <a:latin typeface="微軟正黑體" panose="020B0604030504040204" pitchFamily="34" charset="-120"/>
                <a:ea typeface="微軟正黑體" panose="020B0604030504040204" pitchFamily="34" charset="-120"/>
              </a:rPr>
            </a:br>
            <a:r>
              <a:rPr lang="zh-TW" altLang="en-US" sz="1600" b="0" dirty="0">
                <a:solidFill>
                  <a:prstClr val="black"/>
                </a:solidFill>
                <a:latin typeface="微軟正黑體" panose="020B0604030504040204" pitchFamily="34" charset="-120"/>
                <a:ea typeface="微軟正黑體" panose="020B0604030504040204" pitchFamily="34" charset="-120"/>
              </a:rPr>
              <a:t>　　一</a:t>
            </a:r>
            <a:r>
              <a:rPr lang="zh-TW" altLang="en-US" sz="1600" b="0" dirty="0">
                <a:solidFill>
                  <a:schemeClr val="tx1"/>
                </a:solidFill>
                <a:latin typeface="微軟正黑體" panose="020B0604030504040204" pitchFamily="34" charset="-120"/>
                <a:ea typeface="微軟正黑體" panose="020B0604030504040204" pitchFamily="34" charset="-120"/>
              </a:rPr>
              <a:t>學習資料庫</a:t>
            </a:r>
            <a:r>
              <a:rPr lang="zh-TW" altLang="en-US" sz="1600" b="0" dirty="0">
                <a:solidFill>
                  <a:prstClr val="black"/>
                </a:solidFill>
                <a:latin typeface="微軟正黑體" panose="020B0604030504040204" pitchFamily="34" charset="-120"/>
                <a:ea typeface="微軟正黑體" panose="020B0604030504040204" pitchFamily="34" charset="-120"/>
              </a:rPr>
              <a:t>，儲存有複數</a:t>
            </a:r>
            <a:r>
              <a:rPr lang="zh-TW" altLang="en-US" sz="1600" b="0" u="sng" dirty="0">
                <a:solidFill>
                  <a:prstClr val="black"/>
                </a:solidFill>
                <a:latin typeface="微軟正黑體" panose="020B0604030504040204" pitchFamily="34" charset="-120"/>
                <a:ea typeface="微軟正黑體" panose="020B0604030504040204" pitchFamily="34" charset="-120"/>
              </a:rPr>
              <a:t>試題</a:t>
            </a:r>
            <a:r>
              <a:rPr lang="zh-TW" altLang="en-US" sz="1600" b="0" dirty="0">
                <a:solidFill>
                  <a:prstClr val="black"/>
                </a:solidFill>
                <a:latin typeface="微軟正黑體" panose="020B0604030504040204" pitchFamily="34" charset="-120"/>
                <a:ea typeface="微軟正黑體" panose="020B0604030504040204" pitchFamily="34" charset="-120"/>
              </a:rPr>
              <a:t>以及複數學習</a:t>
            </a:r>
            <a:r>
              <a:rPr lang="zh-TW" altLang="en-US" sz="1600" b="0" u="sng" dirty="0">
                <a:solidFill>
                  <a:prstClr val="black"/>
                </a:solidFill>
                <a:latin typeface="微軟正黑體" panose="020B0604030504040204" pitchFamily="34" charset="-120"/>
                <a:ea typeface="微軟正黑體" panose="020B0604030504040204" pitchFamily="34" charset="-120"/>
              </a:rPr>
              <a:t>影片</a:t>
            </a:r>
            <a:r>
              <a:rPr lang="zh-TW" altLang="en-US" sz="1600" b="0" dirty="0">
                <a:solidFill>
                  <a:prstClr val="black"/>
                </a:solidFill>
                <a:latin typeface="微軟正黑體" panose="020B0604030504040204" pitchFamily="34" charset="-120"/>
                <a:ea typeface="微軟正黑體" panose="020B0604030504040204" pitchFamily="34" charset="-120"/>
              </a:rPr>
              <a:t>，每一該試題與每一該學習影片分別具有相對應一學習單元的一</a:t>
            </a:r>
            <a:r>
              <a:rPr lang="zh-TW" altLang="en-US" sz="1600" dirty="0">
                <a:solidFill>
                  <a:schemeClr val="tx1"/>
                </a:solidFill>
                <a:latin typeface="微軟正黑體" panose="020B0604030504040204" pitchFamily="34" charset="-120"/>
                <a:ea typeface="微軟正黑體" panose="020B0604030504040204" pitchFamily="34" charset="-120"/>
              </a:rPr>
              <a:t>學習單元標記</a:t>
            </a:r>
            <a:r>
              <a:rPr lang="zh-TW" altLang="en-US" sz="1600" b="0" dirty="0">
                <a:solidFill>
                  <a:prstClr val="black"/>
                </a:solidFill>
                <a:latin typeface="微軟正黑體" panose="020B0604030504040204" pitchFamily="34" charset="-120"/>
                <a:ea typeface="微軟正黑體" panose="020B0604030504040204" pitchFamily="34" charset="-120"/>
              </a:rPr>
              <a:t>；</a:t>
            </a:r>
            <a:br>
              <a:rPr lang="zh-TW" altLang="en-US" sz="1600" b="0" dirty="0">
                <a:solidFill>
                  <a:prstClr val="black"/>
                </a:solidFill>
                <a:latin typeface="微軟正黑體" panose="020B0604030504040204" pitchFamily="34" charset="-120"/>
                <a:ea typeface="微軟正黑體" panose="020B0604030504040204" pitchFamily="34" charset="-120"/>
              </a:rPr>
            </a:br>
            <a:r>
              <a:rPr lang="zh-TW" altLang="en-US" sz="1600" b="0" dirty="0">
                <a:solidFill>
                  <a:prstClr val="black"/>
                </a:solidFill>
                <a:latin typeface="微軟正黑體" panose="020B0604030504040204" pitchFamily="34" charset="-120"/>
                <a:ea typeface="微軟正黑體" panose="020B0604030504040204" pitchFamily="34" charset="-120"/>
              </a:rPr>
              <a:t>　　一</a:t>
            </a:r>
            <a:r>
              <a:rPr lang="zh-TW" altLang="en-US" sz="1600" b="0" dirty="0">
                <a:solidFill>
                  <a:srgbClr val="FF0000"/>
                </a:solidFill>
                <a:latin typeface="微軟正黑體" panose="020B0604030504040204" pitchFamily="34" charset="-120"/>
                <a:ea typeface="微軟正黑體" panose="020B0604030504040204" pitchFamily="34" charset="-120"/>
              </a:rPr>
              <a:t>試題測驗單元</a:t>
            </a:r>
            <a:r>
              <a:rPr lang="zh-TW" altLang="en-US" sz="1600" b="0" dirty="0">
                <a:solidFill>
                  <a:prstClr val="black"/>
                </a:solidFill>
                <a:latin typeface="微軟正黑體" panose="020B0604030504040204" pitchFamily="34" charset="-120"/>
                <a:ea typeface="微軟正黑體" panose="020B0604030504040204" pitchFamily="34" charset="-120"/>
              </a:rPr>
              <a:t>，自該</a:t>
            </a:r>
            <a:r>
              <a:rPr lang="zh-TW" altLang="en-US" sz="1600" b="0" dirty="0">
                <a:solidFill>
                  <a:schemeClr val="tx1"/>
                </a:solidFill>
                <a:latin typeface="微軟正黑體" panose="020B0604030504040204" pitchFamily="34" charset="-120"/>
                <a:ea typeface="微軟正黑體" panose="020B0604030504040204" pitchFamily="34" charset="-120"/>
              </a:rPr>
              <a:t>學習資料庫</a:t>
            </a:r>
            <a:r>
              <a:rPr lang="zh-TW" altLang="en-US" sz="1600" b="0" dirty="0">
                <a:solidFill>
                  <a:prstClr val="black"/>
                </a:solidFill>
                <a:latin typeface="微軟正黑體" panose="020B0604030504040204" pitchFamily="34" charset="-120"/>
                <a:ea typeface="微軟正黑體" panose="020B0604030504040204" pitchFamily="34" charset="-120"/>
              </a:rPr>
              <a:t>擷取至少一試題，並於該試題被測驗後產生一測驗結果；</a:t>
            </a:r>
            <a:br>
              <a:rPr lang="zh-TW" altLang="en-US" sz="1600" b="0" dirty="0">
                <a:solidFill>
                  <a:prstClr val="black"/>
                </a:solidFill>
                <a:latin typeface="微軟正黑體" panose="020B0604030504040204" pitchFamily="34" charset="-120"/>
                <a:ea typeface="微軟正黑體" panose="020B0604030504040204" pitchFamily="34" charset="-120"/>
              </a:rPr>
            </a:br>
            <a:r>
              <a:rPr lang="zh-TW" altLang="en-US" sz="1600" b="0" dirty="0">
                <a:solidFill>
                  <a:prstClr val="black"/>
                </a:solidFill>
                <a:latin typeface="微軟正黑體" panose="020B0604030504040204" pitchFamily="34" charset="-120"/>
                <a:ea typeface="微軟正黑體" panose="020B0604030504040204" pitchFamily="34" charset="-120"/>
              </a:rPr>
              <a:t>　　一</a:t>
            </a:r>
            <a:r>
              <a:rPr lang="zh-TW" altLang="en-US" sz="1600" b="0" dirty="0">
                <a:solidFill>
                  <a:srgbClr val="FF0000"/>
                </a:solidFill>
                <a:latin typeface="微軟正黑體" panose="020B0604030504040204" pitchFamily="34" charset="-120"/>
                <a:ea typeface="微軟正黑體" panose="020B0604030504040204" pitchFamily="34" charset="-120"/>
              </a:rPr>
              <a:t>學習建議單元</a:t>
            </a:r>
            <a:r>
              <a:rPr lang="zh-TW" altLang="en-US" sz="1600" b="0" dirty="0">
                <a:solidFill>
                  <a:prstClr val="black"/>
                </a:solidFill>
                <a:latin typeface="微軟正黑體" panose="020B0604030504040204" pitchFamily="34" charset="-120"/>
                <a:ea typeface="微軟正黑體" panose="020B0604030504040204" pitchFamily="34" charset="-120"/>
              </a:rPr>
              <a:t>，連接該</a:t>
            </a:r>
            <a:r>
              <a:rPr lang="zh-TW" altLang="en-US" sz="1600" b="0" dirty="0">
                <a:solidFill>
                  <a:srgbClr val="FF0000"/>
                </a:solidFill>
                <a:latin typeface="微軟正黑體" panose="020B0604030504040204" pitchFamily="34" charset="-120"/>
                <a:ea typeface="微軟正黑體" panose="020B0604030504040204" pitchFamily="34" charset="-120"/>
              </a:rPr>
              <a:t>試題測驗單元</a:t>
            </a:r>
            <a:r>
              <a:rPr lang="zh-TW" altLang="en-US" sz="1600" b="0" dirty="0">
                <a:solidFill>
                  <a:prstClr val="black"/>
                </a:solidFill>
                <a:latin typeface="微軟正黑體" panose="020B0604030504040204" pitchFamily="34" charset="-120"/>
                <a:ea typeface="微軟正黑體" panose="020B0604030504040204" pitchFamily="34" charset="-120"/>
              </a:rPr>
              <a:t>取得該測驗結果，由該測驗結果</a:t>
            </a:r>
            <a:r>
              <a:rPr lang="zh-TW" altLang="en-US" sz="1600" dirty="0">
                <a:solidFill>
                  <a:schemeClr val="tx1"/>
                </a:solidFill>
                <a:latin typeface="微軟正黑體" panose="020B0604030504040204" pitchFamily="34" charset="-120"/>
                <a:ea typeface="微軟正黑體" panose="020B0604030504040204" pitchFamily="34" charset="-120"/>
              </a:rPr>
              <a:t>產生一學習建議資訊</a:t>
            </a:r>
            <a:r>
              <a:rPr lang="zh-TW" altLang="en-US" sz="1600" b="0" dirty="0">
                <a:solidFill>
                  <a:prstClr val="black"/>
                </a:solidFill>
                <a:latin typeface="微軟正黑體" panose="020B0604030504040204" pitchFamily="34" charset="-120"/>
                <a:ea typeface="微軟正黑體" panose="020B0604030504040204" pitchFamily="34" charset="-120"/>
              </a:rPr>
              <a:t>，該學習建議資訊包含該測驗結果中答題錯誤的該試題；</a:t>
            </a:r>
            <a:br>
              <a:rPr lang="zh-TW" altLang="en-US" sz="1600" b="0" dirty="0">
                <a:solidFill>
                  <a:prstClr val="black"/>
                </a:solidFill>
                <a:latin typeface="微軟正黑體" panose="020B0604030504040204" pitchFamily="34" charset="-120"/>
                <a:ea typeface="微軟正黑體" panose="020B0604030504040204" pitchFamily="34" charset="-120"/>
              </a:rPr>
            </a:br>
            <a:r>
              <a:rPr lang="zh-TW" altLang="en-US" sz="1600" b="0" dirty="0">
                <a:solidFill>
                  <a:prstClr val="black"/>
                </a:solidFill>
                <a:latin typeface="微軟正黑體" panose="020B0604030504040204" pitchFamily="34" charset="-120"/>
                <a:ea typeface="微軟正黑體" panose="020B0604030504040204" pitchFamily="34" charset="-120"/>
              </a:rPr>
              <a:t>　　一</a:t>
            </a:r>
            <a:r>
              <a:rPr lang="zh-TW" altLang="en-US" sz="1600" b="0" dirty="0">
                <a:solidFill>
                  <a:srgbClr val="FF0000"/>
                </a:solidFill>
                <a:latin typeface="微軟正黑體" panose="020B0604030504040204" pitchFamily="34" charset="-120"/>
                <a:ea typeface="微軟正黑體" panose="020B0604030504040204" pitchFamily="34" charset="-120"/>
              </a:rPr>
              <a:t>影片提供單元</a:t>
            </a:r>
            <a:r>
              <a:rPr lang="zh-TW" altLang="en-US" sz="1600" b="0" dirty="0">
                <a:solidFill>
                  <a:prstClr val="black"/>
                </a:solidFill>
                <a:latin typeface="微軟正黑體" panose="020B0604030504040204" pitchFamily="34" charset="-120"/>
                <a:ea typeface="微軟正黑體" panose="020B0604030504040204" pitchFamily="34" charset="-120"/>
              </a:rPr>
              <a:t>，連接該</a:t>
            </a:r>
            <a:r>
              <a:rPr lang="zh-TW" altLang="en-US" sz="1600" b="0" dirty="0">
                <a:solidFill>
                  <a:srgbClr val="FF0000"/>
                </a:solidFill>
                <a:latin typeface="微軟正黑體" panose="020B0604030504040204" pitchFamily="34" charset="-120"/>
                <a:ea typeface="微軟正黑體" panose="020B0604030504040204" pitchFamily="34" charset="-120"/>
              </a:rPr>
              <a:t>學習建議單元</a:t>
            </a:r>
            <a:r>
              <a:rPr lang="zh-TW" altLang="en-US" sz="1600" b="0" dirty="0">
                <a:solidFill>
                  <a:prstClr val="black"/>
                </a:solidFill>
                <a:latin typeface="微軟正黑體" panose="020B0604030504040204" pitchFamily="34" charset="-120"/>
                <a:ea typeface="微軟正黑體" panose="020B0604030504040204" pitchFamily="34" charset="-120"/>
              </a:rPr>
              <a:t>，依該學習建議資訊的該試題自該</a:t>
            </a:r>
            <a:r>
              <a:rPr lang="zh-TW" altLang="en-US" sz="1600" b="0" dirty="0">
                <a:solidFill>
                  <a:schemeClr val="tx1"/>
                </a:solidFill>
                <a:latin typeface="微軟正黑體" panose="020B0604030504040204" pitchFamily="34" charset="-120"/>
                <a:ea typeface="微軟正黑體" panose="020B0604030504040204" pitchFamily="34" charset="-120"/>
              </a:rPr>
              <a:t>學習資料庫</a:t>
            </a:r>
            <a:r>
              <a:rPr lang="zh-TW" altLang="en-US" sz="1600" b="0" dirty="0">
                <a:solidFill>
                  <a:prstClr val="black"/>
                </a:solidFill>
                <a:latin typeface="微軟正黑體" panose="020B0604030504040204" pitchFamily="34" charset="-120"/>
                <a:ea typeface="微軟正黑體" panose="020B0604030504040204" pitchFamily="34" charset="-120"/>
              </a:rPr>
              <a:t>中搜尋具相同該學習單元標記的該學習影片。</a:t>
            </a:r>
            <a:endParaRPr lang="zh-TW" altLang="zh-TW" sz="1600" b="0" dirty="0">
              <a:solidFill>
                <a:prstClr val="black"/>
              </a:solidFill>
              <a:latin typeface="微軟正黑體" panose="020B0604030504040204" pitchFamily="34" charset="-120"/>
              <a:ea typeface="微軟正黑體" panose="020B0604030504040204" pitchFamily="34" charset="-120"/>
            </a:endParaRPr>
          </a:p>
        </p:txBody>
      </p:sp>
      <p:sp>
        <p:nvSpPr>
          <p:cNvPr id="3" name="橢圓 2"/>
          <p:cNvSpPr/>
          <p:nvPr/>
        </p:nvSpPr>
        <p:spPr>
          <a:xfrm>
            <a:off x="3971092" y="4938861"/>
            <a:ext cx="1825043"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p:cNvSpPr/>
          <p:nvPr/>
        </p:nvSpPr>
        <p:spPr>
          <a:xfrm>
            <a:off x="6228184" y="4293096"/>
            <a:ext cx="1825043"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橢圓 18"/>
          <p:cNvSpPr/>
          <p:nvPr/>
        </p:nvSpPr>
        <p:spPr>
          <a:xfrm>
            <a:off x="6217121" y="5661248"/>
            <a:ext cx="1825043"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28502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電腦軟體</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6</a:t>
            </a:fld>
            <a:endParaRPr lang="zh-TW" altLang="en-US"/>
          </a:p>
        </p:txBody>
      </p:sp>
      <p:sp>
        <p:nvSpPr>
          <p:cNvPr id="5" name="矩形 4"/>
          <p:cNvSpPr/>
          <p:nvPr/>
        </p:nvSpPr>
        <p:spPr>
          <a:xfrm>
            <a:off x="395536" y="1556792"/>
            <a:ext cx="8424936" cy="2585323"/>
          </a:xfrm>
          <a:prstGeom prst="rect">
            <a:avLst/>
          </a:prstGeom>
        </p:spPr>
        <p:txBody>
          <a:bodyPr wrap="square">
            <a:spAutoFit/>
          </a:bodyPr>
          <a:lstStyle/>
          <a:p>
            <a:r>
              <a:rPr lang="zh-TW" altLang="en-US" dirty="0">
                <a:latin typeface="微軟正黑體" panose="020B0604030504040204" pitchFamily="34" charset="-120"/>
                <a:ea typeface="微軟正黑體" panose="020B0604030504040204" pitchFamily="34" charset="-120"/>
              </a:rPr>
              <a:t>軟體（英語：</a:t>
            </a:r>
            <a:r>
              <a:rPr lang="en-US" altLang="zh-TW" dirty="0">
                <a:latin typeface="微軟正黑體" panose="020B0604030504040204" pitchFamily="34" charset="-120"/>
                <a:ea typeface="微軟正黑體" panose="020B0604030504040204" pitchFamily="34" charset="-120"/>
              </a:rPr>
              <a:t>software</a:t>
            </a:r>
            <a:r>
              <a:rPr lang="zh-TW" altLang="en-US" dirty="0">
                <a:latin typeface="微軟正黑體" panose="020B0604030504040204" pitchFamily="34" charset="-120"/>
                <a:ea typeface="微軟正黑體" panose="020B0604030504040204" pitchFamily="34" charset="-120"/>
              </a:rPr>
              <a:t>）是一系列按照特定順序組織的</a:t>
            </a:r>
            <a:r>
              <a:rPr lang="zh-TW" altLang="en-US" b="1" u="sng" dirty="0">
                <a:latin typeface="微軟正黑體" panose="020B0604030504040204" pitchFamily="34" charset="-120"/>
                <a:ea typeface="微軟正黑體" panose="020B0604030504040204" pitchFamily="34" charset="-120"/>
              </a:rPr>
              <a:t>電腦資料和指令</a:t>
            </a:r>
            <a:r>
              <a:rPr lang="zh-TW" altLang="en-US" dirty="0">
                <a:latin typeface="微軟正黑體" panose="020B0604030504040204" pitchFamily="34" charset="-120"/>
                <a:ea typeface="微軟正黑體" panose="020B0604030504040204" pitchFamily="34" charset="-120"/>
              </a:rPr>
              <a:t>，</a:t>
            </a:r>
            <a:r>
              <a:rPr lang="zh-TW" altLang="en-US" b="1" u="sng" dirty="0">
                <a:latin typeface="微軟正黑體" panose="020B0604030504040204" pitchFamily="34" charset="-120"/>
                <a:ea typeface="微軟正黑體" panose="020B0604030504040204" pitchFamily="34" charset="-120"/>
              </a:rPr>
              <a:t>是電腦中的非有形部分</a:t>
            </a:r>
            <a:r>
              <a:rPr lang="zh-TW" altLang="en-US" dirty="0">
                <a:latin typeface="微軟正黑體" panose="020B0604030504040204" pitchFamily="34" charset="-120"/>
                <a:ea typeface="微軟正黑體" panose="020B0604030504040204" pitchFamily="34" charset="-120"/>
              </a:rPr>
              <a:t>。電腦中的有形部分稱為硬體，由電腦的外殼及各零件及電路所組成。</a:t>
            </a:r>
            <a:r>
              <a:rPr lang="zh-TW" altLang="en-US" b="1" u="sng" dirty="0">
                <a:latin typeface="微軟正黑體" panose="020B0604030504040204" pitchFamily="34" charset="-120"/>
                <a:ea typeface="微軟正黑體" panose="020B0604030504040204" pitchFamily="34" charset="-120"/>
              </a:rPr>
              <a:t>電腦軟體需有硬體才能運作</a:t>
            </a:r>
            <a:r>
              <a:rPr lang="zh-TW" altLang="en-US" dirty="0">
                <a:latin typeface="微軟正黑體" panose="020B0604030504040204" pitchFamily="34" charset="-120"/>
                <a:ea typeface="微軟正黑體" panose="020B0604030504040204" pitchFamily="34" charset="-120"/>
              </a:rPr>
              <a:t>，反之亦然，</a:t>
            </a:r>
            <a:r>
              <a:rPr lang="zh-TW" altLang="en-US" u="sng" dirty="0">
                <a:latin typeface="微軟正黑體" panose="020B0604030504040204" pitchFamily="34" charset="-120"/>
                <a:ea typeface="微軟正黑體" panose="020B0604030504040204" pitchFamily="34" charset="-120"/>
              </a:rPr>
              <a:t>軟體和硬體都無法在不互相配合的情形下進行實際的運作</a:t>
            </a:r>
            <a:r>
              <a:rPr lang="zh-TW" altLang="en-US" dirty="0">
                <a:latin typeface="微軟正黑體" panose="020B0604030504040204" pitchFamily="34" charset="-120"/>
                <a:ea typeface="微軟正黑體" panose="020B0604030504040204" pitchFamily="34" charset="-120"/>
              </a:rPr>
              <a:t>。</a:t>
            </a:r>
          </a:p>
          <a:p>
            <a:endParaRPr lang="zh-TW" altLang="en-US"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一般來說，</a:t>
            </a:r>
            <a:r>
              <a:rPr lang="zh-TW" altLang="en-US" u="sng" dirty="0">
                <a:latin typeface="微軟正黑體" panose="020B0604030504040204" pitchFamily="34" charset="-120"/>
                <a:ea typeface="微軟正黑體" panose="020B0604030504040204" pitchFamily="34" charset="-120"/>
              </a:rPr>
              <a:t>電腦軟體劃分為程式語言、系統軟體、應用軟體和介於這兩者之間的中介軟體</a:t>
            </a:r>
            <a:r>
              <a:rPr lang="zh-TW" altLang="en-US" dirty="0">
                <a:latin typeface="微軟正黑體" panose="020B0604030504040204" pitchFamily="34" charset="-120"/>
                <a:ea typeface="微軟正黑體" panose="020B0604030504040204" pitchFamily="34" charset="-120"/>
              </a:rPr>
              <a:t>。其中系統軟體為電腦使用提供最基本的功能，但是並不針對某一特定應用領域。而應用軟體則恰好相反，</a:t>
            </a:r>
            <a:r>
              <a:rPr lang="zh-TW" altLang="en-US" u="sng" dirty="0">
                <a:latin typeface="微軟正黑體" panose="020B0604030504040204" pitchFamily="34" charset="-120"/>
                <a:ea typeface="微軟正黑體" panose="020B0604030504040204" pitchFamily="34" charset="-120"/>
              </a:rPr>
              <a:t>不同的應用軟體根據使用者和所服務的領域提供不同的功能</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維基百科</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6" name="圓角矩形 5"/>
          <p:cNvSpPr/>
          <p:nvPr/>
        </p:nvSpPr>
        <p:spPr>
          <a:xfrm>
            <a:off x="467544" y="961874"/>
            <a:ext cx="1944216" cy="4572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什麼是電腦軟體</a:t>
            </a:r>
          </a:p>
        </p:txBody>
      </p:sp>
      <p:grpSp>
        <p:nvGrpSpPr>
          <p:cNvPr id="14" name="群組 13"/>
          <p:cNvGrpSpPr/>
          <p:nvPr/>
        </p:nvGrpSpPr>
        <p:grpSpPr>
          <a:xfrm>
            <a:off x="737501" y="4438072"/>
            <a:ext cx="7662961" cy="1943256"/>
            <a:chOff x="869479" y="4438072"/>
            <a:chExt cx="7662961" cy="1943256"/>
          </a:xfrm>
        </p:grpSpPr>
        <p:grpSp>
          <p:nvGrpSpPr>
            <p:cNvPr id="8" name="群組 7"/>
            <p:cNvGrpSpPr/>
            <p:nvPr/>
          </p:nvGrpSpPr>
          <p:grpSpPr>
            <a:xfrm>
              <a:off x="1033195" y="4797152"/>
              <a:ext cx="7499245" cy="1584176"/>
              <a:chOff x="2381256" y="1543052"/>
              <a:chExt cx="1378565" cy="1209600"/>
            </a:xfrm>
            <a:scene3d>
              <a:camera prst="orthographicFront"/>
              <a:lightRig rig="flat" dir="t"/>
            </a:scene3d>
          </p:grpSpPr>
          <p:sp>
            <p:nvSpPr>
              <p:cNvPr id="9" name="圓角矩形 8"/>
              <p:cNvSpPr/>
              <p:nvPr/>
            </p:nvSpPr>
            <p:spPr>
              <a:xfrm>
                <a:off x="2381256" y="1543052"/>
                <a:ext cx="1378565" cy="1209600"/>
              </a:xfrm>
              <a:prstGeom prst="roundRect">
                <a:avLst>
                  <a:gd name="adj" fmla="val 10000"/>
                </a:avLst>
              </a:prstGeom>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0" name="圓角矩形 6"/>
              <p:cNvSpPr/>
              <p:nvPr/>
            </p:nvSpPr>
            <p:spPr>
              <a:xfrm>
                <a:off x="2416684" y="1578480"/>
                <a:ext cx="1307709" cy="1138744"/>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9352" tIns="149352" rIns="149352" bIns="149352" numCol="1" spcCol="1270" anchor="t" anchorCtr="0">
                <a:noAutofit/>
              </a:bodyPr>
              <a:lstStyle/>
              <a:p>
                <a:pPr marL="228600" lvl="1" indent="-228600" algn="l" defTabSz="933450">
                  <a:lnSpc>
                    <a:spcPct val="90000"/>
                  </a:lnSpc>
                  <a:spcBef>
                    <a:spcPct val="0"/>
                  </a:spcBef>
                  <a:spcAft>
                    <a:spcPct val="15000"/>
                  </a:spcAft>
                  <a:buChar char="••"/>
                </a:pPr>
                <a:r>
                  <a:rPr lang="zh-TW" altLang="en-US" sz="2100" kern="1200" dirty="0">
                    <a:latin typeface="微軟正黑體" panose="020B0604030504040204" pitchFamily="34" charset="-120"/>
                    <a:ea typeface="微軟正黑體" panose="020B0604030504040204" pitchFamily="34" charset="-120"/>
                  </a:rPr>
                  <a:t>一系列資料與指令的組合</a:t>
                </a:r>
                <a:endParaRPr lang="en-US" altLang="zh-TW" sz="2100" kern="1200" dirty="0">
                  <a:latin typeface="微軟正黑體" panose="020B0604030504040204" pitchFamily="34" charset="-120"/>
                  <a:ea typeface="微軟正黑體" panose="020B0604030504040204" pitchFamily="34" charset="-120"/>
                </a:endParaRPr>
              </a:p>
              <a:p>
                <a:pPr marL="228600" lvl="1" indent="-228600" algn="l" defTabSz="933450">
                  <a:lnSpc>
                    <a:spcPct val="90000"/>
                  </a:lnSpc>
                  <a:spcBef>
                    <a:spcPct val="0"/>
                  </a:spcBef>
                  <a:spcAft>
                    <a:spcPct val="15000"/>
                  </a:spcAft>
                  <a:buChar char="••"/>
                </a:pPr>
                <a:r>
                  <a:rPr lang="zh-TW" altLang="en-US" sz="2100" kern="1200" dirty="0">
                    <a:latin typeface="微軟正黑體" panose="020B0604030504040204" pitchFamily="34" charset="-120"/>
                    <a:ea typeface="微軟正黑體" panose="020B0604030504040204" pitchFamily="34" charset="-120"/>
                  </a:rPr>
                  <a:t>必須有硬體互相配合運作</a:t>
                </a:r>
                <a:endParaRPr lang="en-US" altLang="zh-TW" sz="2100" kern="1200" dirty="0">
                  <a:latin typeface="微軟正黑體" panose="020B0604030504040204" pitchFamily="34" charset="-120"/>
                  <a:ea typeface="微軟正黑體" panose="020B0604030504040204" pitchFamily="34" charset="-120"/>
                </a:endParaRPr>
              </a:p>
              <a:p>
                <a:pPr marL="228600" lvl="1" indent="-228600" algn="l" defTabSz="933450">
                  <a:lnSpc>
                    <a:spcPct val="90000"/>
                  </a:lnSpc>
                  <a:spcBef>
                    <a:spcPct val="0"/>
                  </a:spcBef>
                  <a:spcAft>
                    <a:spcPct val="15000"/>
                  </a:spcAft>
                  <a:buChar char="••"/>
                </a:pPr>
                <a:r>
                  <a:rPr lang="zh-TW" altLang="en-US" sz="2100" dirty="0">
                    <a:latin typeface="微軟正黑體" panose="020B0604030504040204" pitchFamily="34" charset="-120"/>
                    <a:ea typeface="微軟正黑體" panose="020B0604030504040204" pitchFamily="34" charset="-120"/>
                  </a:rPr>
                  <a:t>電腦軟體有層級分別，自泛用的系統軟體至專用的應用軟體，提供不同的功能</a:t>
                </a:r>
                <a:endParaRPr lang="zh-CN" altLang="en-US" sz="2100" kern="1200" dirty="0">
                  <a:latin typeface="微軟正黑體" panose="020B0604030504040204" pitchFamily="34" charset="-120"/>
                  <a:ea typeface="微軟正黑體" panose="020B0604030504040204" pitchFamily="34" charset="-120"/>
                </a:endParaRPr>
              </a:p>
            </p:txBody>
          </p:sp>
        </p:grpSp>
        <p:grpSp>
          <p:nvGrpSpPr>
            <p:cNvPr id="7" name="群組 6"/>
            <p:cNvGrpSpPr/>
            <p:nvPr/>
          </p:nvGrpSpPr>
          <p:grpSpPr>
            <a:xfrm>
              <a:off x="869479" y="4438072"/>
              <a:ext cx="1830313" cy="473057"/>
              <a:chOff x="2217539" y="1151486"/>
              <a:chExt cx="1378565" cy="907200"/>
            </a:xfrm>
            <a:scene3d>
              <a:camera prst="orthographicFront"/>
              <a:lightRig rig="flat" dir="t"/>
            </a:scene3d>
          </p:grpSpPr>
          <p:sp>
            <p:nvSpPr>
              <p:cNvPr id="11" name="圓角矩形 10"/>
              <p:cNvSpPr/>
              <p:nvPr/>
            </p:nvSpPr>
            <p:spPr>
              <a:xfrm>
                <a:off x="2217539" y="1151486"/>
                <a:ext cx="1378565" cy="907200"/>
              </a:xfrm>
              <a:prstGeom prst="roundRect">
                <a:avLst>
                  <a:gd name="adj" fmla="val 10000"/>
                </a:avLst>
              </a:prstGeom>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12" name="圓角矩形 4"/>
              <p:cNvSpPr/>
              <p:nvPr/>
            </p:nvSpPr>
            <p:spPr>
              <a:xfrm>
                <a:off x="2217539" y="1151486"/>
                <a:ext cx="1378565" cy="551426"/>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9352" tIns="149352" rIns="149352" bIns="80010" numCol="1" spcCol="1270" anchor="t" anchorCtr="0">
                <a:noAutofit/>
              </a:bodyPr>
              <a:lstStyle/>
              <a:p>
                <a:pPr lvl="0" algn="l" defTabSz="933450">
                  <a:lnSpc>
                    <a:spcPct val="90000"/>
                  </a:lnSpc>
                  <a:spcBef>
                    <a:spcPct val="0"/>
                  </a:spcBef>
                  <a:spcAft>
                    <a:spcPct val="35000"/>
                  </a:spcAft>
                </a:pPr>
                <a:endParaRPr lang="zh-CN" altLang="en-US" sz="2100" kern="1200">
                  <a:latin typeface="微軟正黑體" panose="020B0604030504040204" pitchFamily="34" charset="-120"/>
                  <a:ea typeface="微軟正黑體" panose="020B0604030504040204" pitchFamily="34" charset="-120"/>
                </a:endParaRPr>
              </a:p>
            </p:txBody>
          </p:sp>
        </p:grpSp>
        <p:sp>
          <p:nvSpPr>
            <p:cNvPr id="13" name="矩形 12"/>
            <p:cNvSpPr/>
            <p:nvPr/>
          </p:nvSpPr>
          <p:spPr>
            <a:xfrm>
              <a:off x="1033195" y="4493073"/>
              <a:ext cx="1522581" cy="369332"/>
            </a:xfrm>
            <a:prstGeom prst="rect">
              <a:avLst/>
            </a:prstGeom>
          </p:spPr>
          <p:txBody>
            <a:bodyPr wrap="square">
              <a:spAutoFit/>
            </a:bodyPr>
            <a:lstStyle/>
            <a:p>
              <a:r>
                <a:rPr lang="zh-TW" altLang="en-US" dirty="0">
                  <a:latin typeface="微軟正黑體" panose="020B0604030504040204" pitchFamily="34" charset="-120"/>
                  <a:ea typeface="微軟正黑體" panose="020B0604030504040204" pitchFamily="34" charset="-120"/>
                </a:rPr>
                <a:t>電腦軟體是</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1269177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電腦軟體相關發明</a:t>
            </a:r>
            <a:r>
              <a:rPr lang="en-US" altLang="zh-TW" dirty="0"/>
              <a:t>(</a:t>
            </a:r>
            <a:r>
              <a:rPr lang="zh-TW" altLang="en-US" dirty="0"/>
              <a:t>軟體專利</a:t>
            </a:r>
            <a:r>
              <a:rPr lang="en-US" altLang="zh-TW" dirty="0"/>
              <a:t>)</a:t>
            </a:r>
            <a:endParaRPr lang="zh-TW" altLang="en-US"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7</a:t>
            </a:fld>
            <a:endParaRPr lang="zh-TW" altLang="en-US"/>
          </a:p>
        </p:txBody>
      </p:sp>
      <p:sp>
        <p:nvSpPr>
          <p:cNvPr id="5" name="矩形 4"/>
          <p:cNvSpPr/>
          <p:nvPr/>
        </p:nvSpPr>
        <p:spPr>
          <a:xfrm>
            <a:off x="395536" y="1556792"/>
            <a:ext cx="8424936" cy="369332"/>
          </a:xfrm>
          <a:prstGeom prst="rect">
            <a:avLst/>
          </a:prstGeom>
        </p:spPr>
        <p:txBody>
          <a:bodyPr wrap="square">
            <a:spAutoFit/>
          </a:bodyPr>
          <a:lstStyle/>
          <a:p>
            <a:r>
              <a:rPr lang="zh-TW" altLang="en-US" dirty="0">
                <a:latin typeface="微軟正黑體" panose="020B0604030504040204" pitchFamily="34" charset="-120"/>
                <a:ea typeface="微軟正黑體" panose="020B0604030504040204" pitchFamily="34" charset="-120"/>
              </a:rPr>
              <a:t>凡申請專利之發明實現時</a:t>
            </a:r>
            <a:r>
              <a:rPr lang="zh-TW" altLang="en-US" b="1" u="sng" dirty="0">
                <a:latin typeface="微軟正黑體" panose="020B0604030504040204" pitchFamily="34" charset="-120"/>
                <a:ea typeface="微軟正黑體" panose="020B0604030504040204" pitchFamily="34" charset="-120"/>
              </a:rPr>
              <a:t>以利用電腦軟體為必要者</a:t>
            </a:r>
            <a:r>
              <a:rPr lang="zh-TW" altLang="en-US" dirty="0">
                <a:latin typeface="微軟正黑體" panose="020B0604030504040204" pitchFamily="34" charset="-120"/>
                <a:ea typeface="微軟正黑體" panose="020B0604030504040204" pitchFamily="34" charset="-120"/>
              </a:rPr>
              <a:t>，為電腦軟體相關發明</a:t>
            </a:r>
          </a:p>
        </p:txBody>
      </p:sp>
      <p:sp>
        <p:nvSpPr>
          <p:cNvPr id="6" name="圓角矩形 5"/>
          <p:cNvSpPr/>
          <p:nvPr/>
        </p:nvSpPr>
        <p:spPr>
          <a:xfrm>
            <a:off x="467544" y="961874"/>
            <a:ext cx="2880320" cy="457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什麼是電腦軟體相關發明</a:t>
            </a:r>
          </a:p>
        </p:txBody>
      </p:sp>
      <p:grpSp>
        <p:nvGrpSpPr>
          <p:cNvPr id="33" name="群組 32"/>
          <p:cNvGrpSpPr/>
          <p:nvPr/>
        </p:nvGrpSpPr>
        <p:grpSpPr>
          <a:xfrm>
            <a:off x="467544" y="2609989"/>
            <a:ext cx="6696744" cy="3341691"/>
            <a:chOff x="467544" y="1926125"/>
            <a:chExt cx="8280920" cy="3735126"/>
          </a:xfrm>
        </p:grpSpPr>
        <p:grpSp>
          <p:nvGrpSpPr>
            <p:cNvPr id="29" name="群組 28"/>
            <p:cNvGrpSpPr/>
            <p:nvPr/>
          </p:nvGrpSpPr>
          <p:grpSpPr>
            <a:xfrm>
              <a:off x="467544" y="2659081"/>
              <a:ext cx="8280920" cy="2053685"/>
              <a:chOff x="467544" y="2311418"/>
              <a:chExt cx="8280920" cy="2053685"/>
            </a:xfrm>
          </p:grpSpPr>
          <p:grpSp>
            <p:nvGrpSpPr>
              <p:cNvPr id="7" name="群組 6"/>
              <p:cNvGrpSpPr/>
              <p:nvPr/>
            </p:nvGrpSpPr>
            <p:grpSpPr>
              <a:xfrm>
                <a:off x="467544" y="2311418"/>
                <a:ext cx="8280920" cy="2053685"/>
                <a:chOff x="683568" y="980728"/>
                <a:chExt cx="5256584" cy="1512168"/>
              </a:xfrm>
            </p:grpSpPr>
            <p:sp>
              <p:nvSpPr>
                <p:cNvPr id="8" name="laptop"/>
                <p:cNvSpPr>
                  <a:spLocks noEditPoints="1" noChangeArrowheads="1"/>
                </p:cNvSpPr>
                <p:nvPr/>
              </p:nvSpPr>
              <p:spPr bwMode="auto">
                <a:xfrm>
                  <a:off x="1457745" y="1355683"/>
                  <a:ext cx="760859" cy="810618"/>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TW" altLang="en-US"/>
                </a:p>
              </p:txBody>
            </p:sp>
            <p:grpSp>
              <p:nvGrpSpPr>
                <p:cNvPr id="9" name="群組 8"/>
                <p:cNvGrpSpPr/>
                <p:nvPr/>
              </p:nvGrpSpPr>
              <p:grpSpPr>
                <a:xfrm>
                  <a:off x="3185937" y="1096439"/>
                  <a:ext cx="1674357" cy="1315595"/>
                  <a:chOff x="4644008" y="1331414"/>
                  <a:chExt cx="4032448" cy="4605801"/>
                </a:xfrm>
              </p:grpSpPr>
              <p:sp>
                <p:nvSpPr>
                  <p:cNvPr id="12" name="文字方塊 11"/>
                  <p:cNvSpPr txBox="1"/>
                  <p:nvPr/>
                </p:nvSpPr>
                <p:spPr>
                  <a:xfrm>
                    <a:off x="5436098" y="1331414"/>
                    <a:ext cx="1718078" cy="532077"/>
                  </a:xfrm>
                  <a:prstGeom prst="rect">
                    <a:avLst/>
                  </a:prstGeom>
                  <a:noFill/>
                  <a:ln w="12700">
                    <a:solidFill>
                      <a:schemeClr val="tx1"/>
                    </a:solidFill>
                  </a:ln>
                </p:spPr>
                <p:txBody>
                  <a:bodyPr wrap="none" lIns="72000" rtlCol="0">
                    <a:spAutoFit/>
                  </a:bodyPr>
                  <a:lstStyle/>
                  <a:p>
                    <a:r>
                      <a:rPr lang="zh-TW" altLang="en-US" sz="600" b="0" dirty="0">
                        <a:solidFill>
                          <a:schemeClr val="tx1"/>
                        </a:solidFill>
                        <a:latin typeface="微軟正黑體" panose="020B0604030504040204" pitchFamily="34" charset="-120"/>
                        <a:ea typeface="微軟正黑體" panose="020B0604030504040204" pitchFamily="34" charset="-120"/>
                      </a:rPr>
                      <a:t>企業稅務資源計畫</a:t>
                    </a:r>
                    <a:r>
                      <a:rPr lang="zh-TW" altLang="en-US" sz="500" b="0" dirty="0">
                        <a:solidFill>
                          <a:schemeClr val="tx1"/>
                        </a:solidFill>
                        <a:latin typeface="微軟正黑體" panose="020B0604030504040204" pitchFamily="34" charset="-120"/>
                        <a:ea typeface="微軟正黑體" panose="020B0604030504040204" pitchFamily="34" charset="-120"/>
                      </a:rPr>
                      <a:t>系統</a:t>
                    </a:r>
                  </a:p>
                </p:txBody>
              </p:sp>
              <p:sp>
                <p:nvSpPr>
                  <p:cNvPr id="13" name="文字方塊 12"/>
                  <p:cNvSpPr txBox="1"/>
                  <p:nvPr/>
                </p:nvSpPr>
                <p:spPr>
                  <a:xfrm>
                    <a:off x="4644008" y="2132857"/>
                    <a:ext cx="432048" cy="1666111"/>
                  </a:xfrm>
                  <a:prstGeom prst="rect">
                    <a:avLst/>
                  </a:prstGeom>
                  <a:noFill/>
                  <a:ln w="12700">
                    <a:solidFill>
                      <a:schemeClr val="tx1"/>
                    </a:solidFill>
                  </a:ln>
                </p:spPr>
                <p:txBody>
                  <a:bodyPr wrap="square" lIns="72000" rtlCol="0">
                    <a:spAutoFit/>
                  </a:bodyPr>
                  <a:lstStyle/>
                  <a:p>
                    <a:r>
                      <a:rPr lang="zh-TW" altLang="en-US" sz="600" b="0" dirty="0">
                        <a:solidFill>
                          <a:schemeClr val="tx1"/>
                        </a:solidFill>
                        <a:latin typeface="微軟正黑體" panose="020B0604030504040204" pitchFamily="34" charset="-120"/>
                        <a:ea typeface="微軟正黑體" panose="020B0604030504040204" pitchFamily="34" charset="-120"/>
                      </a:rPr>
                      <a:t>用戶登錄模組</a:t>
                    </a:r>
                  </a:p>
                </p:txBody>
              </p:sp>
              <p:sp>
                <p:nvSpPr>
                  <p:cNvPr id="14" name="文字方塊 13"/>
                  <p:cNvSpPr txBox="1"/>
                  <p:nvPr/>
                </p:nvSpPr>
                <p:spPr>
                  <a:xfrm>
                    <a:off x="5844140" y="2132857"/>
                    <a:ext cx="432048" cy="1666111"/>
                  </a:xfrm>
                  <a:prstGeom prst="rect">
                    <a:avLst/>
                  </a:prstGeom>
                  <a:noFill/>
                  <a:ln w="12700">
                    <a:solidFill>
                      <a:schemeClr val="tx1"/>
                    </a:solidFill>
                  </a:ln>
                </p:spPr>
                <p:txBody>
                  <a:bodyPr wrap="square" lIns="72000" rtlCol="0">
                    <a:spAutoFit/>
                  </a:bodyPr>
                  <a:lstStyle/>
                  <a:p>
                    <a:r>
                      <a:rPr lang="zh-TW" altLang="en-US" sz="600" b="0" dirty="0">
                        <a:solidFill>
                          <a:schemeClr val="tx1"/>
                        </a:solidFill>
                        <a:latin typeface="微軟正黑體" panose="020B0604030504040204" pitchFamily="34" charset="-120"/>
                        <a:ea typeface="微軟正黑體" panose="020B0604030504040204" pitchFamily="34" charset="-120"/>
                      </a:rPr>
                      <a:t>資料獲取模組</a:t>
                    </a:r>
                  </a:p>
                </p:txBody>
              </p:sp>
              <p:sp>
                <p:nvSpPr>
                  <p:cNvPr id="15" name="文字方塊 14"/>
                  <p:cNvSpPr txBox="1"/>
                  <p:nvPr/>
                </p:nvSpPr>
                <p:spPr>
                  <a:xfrm>
                    <a:off x="7044272" y="2132858"/>
                    <a:ext cx="432048" cy="2039629"/>
                  </a:xfrm>
                  <a:prstGeom prst="rect">
                    <a:avLst/>
                  </a:prstGeom>
                  <a:noFill/>
                  <a:ln w="12700">
                    <a:solidFill>
                      <a:schemeClr val="tx1"/>
                    </a:solidFill>
                  </a:ln>
                </p:spPr>
                <p:txBody>
                  <a:bodyPr wrap="square" lIns="72000" rtlCol="0">
                    <a:spAutoFit/>
                  </a:bodyPr>
                  <a:lstStyle/>
                  <a:p>
                    <a:r>
                      <a:rPr lang="zh-TW" altLang="en-US" sz="500" b="0" dirty="0">
                        <a:solidFill>
                          <a:schemeClr val="tx1"/>
                        </a:solidFill>
                        <a:latin typeface="微軟正黑體" panose="020B0604030504040204" pitchFamily="34" charset="-120"/>
                        <a:ea typeface="微軟正黑體" panose="020B0604030504040204" pitchFamily="34" charset="-120"/>
                      </a:rPr>
                      <a:t>資料分析處理模組</a:t>
                    </a:r>
                  </a:p>
                </p:txBody>
              </p:sp>
              <p:sp>
                <p:nvSpPr>
                  <p:cNvPr id="16" name="文字方塊 15"/>
                  <p:cNvSpPr txBox="1"/>
                  <p:nvPr/>
                </p:nvSpPr>
                <p:spPr>
                  <a:xfrm>
                    <a:off x="8244408" y="2132857"/>
                    <a:ext cx="432048" cy="1666111"/>
                  </a:xfrm>
                  <a:prstGeom prst="rect">
                    <a:avLst/>
                  </a:prstGeom>
                  <a:noFill/>
                  <a:ln w="12700">
                    <a:solidFill>
                      <a:schemeClr val="tx1"/>
                    </a:solidFill>
                  </a:ln>
                </p:spPr>
                <p:txBody>
                  <a:bodyPr wrap="square" lIns="72000" rtlCol="0">
                    <a:spAutoFit/>
                  </a:bodyPr>
                  <a:lstStyle/>
                  <a:p>
                    <a:r>
                      <a:rPr lang="zh-TW" altLang="en-US" sz="600" b="0" dirty="0">
                        <a:solidFill>
                          <a:schemeClr val="tx1"/>
                        </a:solidFill>
                        <a:latin typeface="微軟正黑體" panose="020B0604030504040204" pitchFamily="34" charset="-120"/>
                        <a:ea typeface="微軟正黑體" panose="020B0604030504040204" pitchFamily="34" charset="-120"/>
                      </a:rPr>
                      <a:t>結果輸出模組</a:t>
                    </a:r>
                  </a:p>
                </p:txBody>
              </p:sp>
              <p:sp>
                <p:nvSpPr>
                  <p:cNvPr id="17" name="文字方塊 16"/>
                  <p:cNvSpPr txBox="1"/>
                  <p:nvPr/>
                </p:nvSpPr>
                <p:spPr>
                  <a:xfrm>
                    <a:off x="6275574" y="4509119"/>
                    <a:ext cx="432048" cy="1428096"/>
                  </a:xfrm>
                  <a:prstGeom prst="rect">
                    <a:avLst/>
                  </a:prstGeom>
                  <a:noFill/>
                  <a:ln w="12700">
                    <a:solidFill>
                      <a:schemeClr val="tx1"/>
                    </a:solidFill>
                  </a:ln>
                </p:spPr>
                <p:txBody>
                  <a:bodyPr wrap="square" lIns="72000" rtlCol="0">
                    <a:spAutoFit/>
                  </a:bodyPr>
                  <a:lstStyle/>
                  <a:p>
                    <a:r>
                      <a:rPr lang="zh-TW" altLang="en-US" sz="600" b="0" dirty="0">
                        <a:solidFill>
                          <a:schemeClr val="tx1"/>
                        </a:solidFill>
                        <a:latin typeface="微軟正黑體" panose="020B0604030504040204" pitchFamily="34" charset="-120"/>
                        <a:ea typeface="微軟正黑體" panose="020B0604030504040204" pitchFamily="34" charset="-120"/>
                      </a:rPr>
                      <a:t>業務執行層</a:t>
                    </a:r>
                  </a:p>
                </p:txBody>
              </p:sp>
              <p:sp>
                <p:nvSpPr>
                  <p:cNvPr id="18" name="文字方塊 17"/>
                  <p:cNvSpPr txBox="1"/>
                  <p:nvPr/>
                </p:nvSpPr>
                <p:spPr>
                  <a:xfrm>
                    <a:off x="7054002" y="4509119"/>
                    <a:ext cx="432048" cy="1428096"/>
                  </a:xfrm>
                  <a:prstGeom prst="rect">
                    <a:avLst/>
                  </a:prstGeom>
                  <a:noFill/>
                  <a:ln w="12700">
                    <a:solidFill>
                      <a:schemeClr val="tx1"/>
                    </a:solidFill>
                  </a:ln>
                </p:spPr>
                <p:txBody>
                  <a:bodyPr wrap="square" lIns="72000" rtlCol="0">
                    <a:spAutoFit/>
                  </a:bodyPr>
                  <a:lstStyle/>
                  <a:p>
                    <a:r>
                      <a:rPr lang="zh-TW" altLang="en-US" sz="600" b="0" dirty="0">
                        <a:solidFill>
                          <a:schemeClr val="tx1"/>
                        </a:solidFill>
                        <a:latin typeface="微軟正黑體" panose="020B0604030504040204" pitchFamily="34" charset="-120"/>
                        <a:ea typeface="微軟正黑體" panose="020B0604030504040204" pitchFamily="34" charset="-120"/>
                      </a:rPr>
                      <a:t>稅務審批層</a:t>
                    </a:r>
                  </a:p>
                </p:txBody>
              </p:sp>
              <p:sp>
                <p:nvSpPr>
                  <p:cNvPr id="19" name="文字方塊 18"/>
                  <p:cNvSpPr txBox="1"/>
                  <p:nvPr/>
                </p:nvSpPr>
                <p:spPr>
                  <a:xfrm>
                    <a:off x="7788440" y="4509120"/>
                    <a:ext cx="432048" cy="1428095"/>
                  </a:xfrm>
                  <a:prstGeom prst="rect">
                    <a:avLst/>
                  </a:prstGeom>
                  <a:noFill/>
                  <a:ln w="12700">
                    <a:solidFill>
                      <a:schemeClr val="tx1"/>
                    </a:solidFill>
                  </a:ln>
                </p:spPr>
                <p:txBody>
                  <a:bodyPr wrap="square" lIns="72000" rtlCol="0">
                    <a:spAutoFit/>
                  </a:bodyPr>
                  <a:lstStyle/>
                  <a:p>
                    <a:r>
                      <a:rPr lang="zh-TW" altLang="en-US" sz="600" b="0" dirty="0">
                        <a:solidFill>
                          <a:schemeClr val="tx1"/>
                        </a:solidFill>
                        <a:latin typeface="微軟正黑體" panose="020B0604030504040204" pitchFamily="34" charset="-120"/>
                        <a:ea typeface="微軟正黑體" panose="020B0604030504040204" pitchFamily="34" charset="-120"/>
                      </a:rPr>
                      <a:t>分析管控層</a:t>
                    </a:r>
                  </a:p>
                </p:txBody>
              </p:sp>
              <p:cxnSp>
                <p:nvCxnSpPr>
                  <p:cNvPr id="20" name="肘形接點 19"/>
                  <p:cNvCxnSpPr>
                    <a:stCxn id="12" idx="2"/>
                    <a:endCxn id="13" idx="0"/>
                  </p:cNvCxnSpPr>
                  <p:nvPr/>
                </p:nvCxnSpPr>
                <p:spPr>
                  <a:xfrm rot="5400000">
                    <a:off x="5442902" y="1280622"/>
                    <a:ext cx="269367" cy="143510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1" name="肘形接點 20"/>
                  <p:cNvCxnSpPr>
                    <a:stCxn id="12" idx="2"/>
                    <a:endCxn id="16" idx="0"/>
                  </p:cNvCxnSpPr>
                  <p:nvPr/>
                </p:nvCxnSpPr>
                <p:spPr>
                  <a:xfrm rot="16200000" flipH="1">
                    <a:off x="7243102" y="915527"/>
                    <a:ext cx="269367" cy="216529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2" name="肘形接點 21"/>
                  <p:cNvCxnSpPr>
                    <a:stCxn id="12" idx="2"/>
                    <a:endCxn id="14" idx="0"/>
                  </p:cNvCxnSpPr>
                  <p:nvPr/>
                </p:nvCxnSpPr>
                <p:spPr>
                  <a:xfrm rot="5400000">
                    <a:off x="6042968" y="1880688"/>
                    <a:ext cx="269367" cy="23497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 name="肘形接點 22"/>
                  <p:cNvCxnSpPr>
                    <a:stCxn id="12" idx="2"/>
                    <a:endCxn id="15" idx="0"/>
                  </p:cNvCxnSpPr>
                  <p:nvPr/>
                </p:nvCxnSpPr>
                <p:spPr>
                  <a:xfrm rot="16200000" flipH="1">
                    <a:off x="6643034" y="1515595"/>
                    <a:ext cx="269367" cy="96515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4" name="肘形接點 23"/>
                  <p:cNvCxnSpPr>
                    <a:stCxn id="15" idx="2"/>
                    <a:endCxn id="17" idx="0"/>
                  </p:cNvCxnSpPr>
                  <p:nvPr/>
                </p:nvCxnSpPr>
                <p:spPr>
                  <a:xfrm rot="5400000">
                    <a:off x="6707634" y="3956452"/>
                    <a:ext cx="336630" cy="76869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5" name="肘形接點 24"/>
                  <p:cNvCxnSpPr>
                    <a:stCxn id="15" idx="2"/>
                    <a:endCxn id="19" idx="0"/>
                  </p:cNvCxnSpPr>
                  <p:nvPr/>
                </p:nvCxnSpPr>
                <p:spPr>
                  <a:xfrm rot="16200000" flipH="1">
                    <a:off x="7464064" y="3968720"/>
                    <a:ext cx="336633" cy="74416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6" name="直線接點 25"/>
                  <p:cNvCxnSpPr>
                    <a:stCxn id="15" idx="2"/>
                    <a:endCxn id="18" idx="0"/>
                  </p:cNvCxnSpPr>
                  <p:nvPr/>
                </p:nvCxnSpPr>
                <p:spPr>
                  <a:xfrm>
                    <a:off x="7260297" y="4172487"/>
                    <a:ext cx="9730" cy="33663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0" name="加號 9"/>
                <p:cNvSpPr/>
                <p:nvPr/>
              </p:nvSpPr>
              <p:spPr>
                <a:xfrm>
                  <a:off x="2465857" y="1411319"/>
                  <a:ext cx="576064" cy="698098"/>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圓角矩形 10"/>
                <p:cNvSpPr/>
                <p:nvPr/>
              </p:nvSpPr>
              <p:spPr>
                <a:xfrm>
                  <a:off x="683568" y="980728"/>
                  <a:ext cx="5256584" cy="1512168"/>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7" name="圓角矩形 26"/>
              <p:cNvSpPr/>
              <p:nvPr/>
            </p:nvSpPr>
            <p:spPr>
              <a:xfrm>
                <a:off x="827584" y="2468566"/>
                <a:ext cx="914400" cy="35208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硬體</a:t>
                </a:r>
              </a:p>
            </p:txBody>
          </p:sp>
          <p:sp>
            <p:nvSpPr>
              <p:cNvPr id="28" name="圓角矩形 27"/>
              <p:cNvSpPr/>
              <p:nvPr/>
            </p:nvSpPr>
            <p:spPr>
              <a:xfrm>
                <a:off x="7452320" y="2468566"/>
                <a:ext cx="914400" cy="35208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軟體</a:t>
                </a:r>
              </a:p>
            </p:txBody>
          </p:sp>
        </p:grpSp>
        <p:sp>
          <p:nvSpPr>
            <p:cNvPr id="30" name="圓角矩形 29"/>
            <p:cNvSpPr/>
            <p:nvPr/>
          </p:nvSpPr>
          <p:spPr>
            <a:xfrm>
              <a:off x="3131840" y="2060848"/>
              <a:ext cx="2486328" cy="43204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輸入資料</a:t>
              </a:r>
              <a:endParaRPr lang="en-US" altLang="zh-TW" dirty="0">
                <a:solidFill>
                  <a:schemeClr val="tx1"/>
                </a:solidFill>
                <a:latin typeface="微軟正黑體" panose="020B0604030504040204" pitchFamily="34" charset="-120"/>
                <a:ea typeface="微軟正黑體" panose="020B0604030504040204" pitchFamily="34" charset="-120"/>
              </a:endParaRPr>
            </a:p>
          </p:txBody>
        </p:sp>
        <p:sp>
          <p:nvSpPr>
            <p:cNvPr id="31" name="圓角矩形 30"/>
            <p:cNvSpPr/>
            <p:nvPr/>
          </p:nvSpPr>
          <p:spPr>
            <a:xfrm>
              <a:off x="3246237" y="4869160"/>
              <a:ext cx="2486328" cy="43204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輸出資料</a:t>
              </a:r>
              <a:endParaRPr lang="en-US" altLang="zh-TW" dirty="0">
                <a:solidFill>
                  <a:schemeClr val="tx1"/>
                </a:solidFill>
                <a:latin typeface="微軟正黑體" panose="020B0604030504040204" pitchFamily="34" charset="-120"/>
                <a:ea typeface="微軟正黑體" panose="020B0604030504040204" pitchFamily="34" charset="-120"/>
              </a:endParaRPr>
            </a:p>
          </p:txBody>
        </p:sp>
        <p:sp>
          <p:nvSpPr>
            <p:cNvPr id="32" name="AutoShape 71"/>
            <p:cNvSpPr>
              <a:spLocks noChangeArrowheads="1"/>
            </p:cNvSpPr>
            <p:nvPr/>
          </p:nvSpPr>
          <p:spPr bwMode="auto">
            <a:xfrm rot="5400000">
              <a:off x="2542069" y="3261081"/>
              <a:ext cx="3735126" cy="1065213"/>
            </a:xfrm>
            <a:prstGeom prst="rightArrow">
              <a:avLst>
                <a:gd name="adj1" fmla="val 70389"/>
                <a:gd name="adj2" fmla="val 62116"/>
              </a:avLst>
            </a:prstGeom>
            <a:solidFill>
              <a:srgbClr val="B2B2B2">
                <a:alpha val="30000"/>
              </a:srgbClr>
            </a:solidFill>
            <a:ln w="12700" algn="ctr">
              <a:solidFill>
                <a:schemeClr val="bg2"/>
              </a:solidFill>
              <a:round/>
              <a:headEnd/>
              <a:tailEnd/>
            </a:ln>
          </p:spPr>
          <p:txBody>
            <a:bodyPr anchor="ctr"/>
            <a:lstStyle/>
            <a:p>
              <a:pPr algn="ctr"/>
              <a:endParaRPr lang="zh-CN" altLang="zh-CN">
                <a:solidFill>
                  <a:srgbClr val="FFFFFF"/>
                </a:solidFill>
                <a:latin typeface="Calibri" pitchFamily="34" charset="0"/>
              </a:endParaRPr>
            </a:p>
          </p:txBody>
        </p:sp>
      </p:grpSp>
      <p:sp>
        <p:nvSpPr>
          <p:cNvPr id="34" name="十角星形 33"/>
          <p:cNvSpPr/>
          <p:nvPr/>
        </p:nvSpPr>
        <p:spPr>
          <a:xfrm>
            <a:off x="2784405" y="6058548"/>
            <a:ext cx="1821654" cy="707035"/>
          </a:xfrm>
          <a:prstGeom prst="star1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功效</a:t>
            </a:r>
          </a:p>
        </p:txBody>
      </p:sp>
      <p:sp>
        <p:nvSpPr>
          <p:cNvPr id="35" name="圓角矩形 34"/>
          <p:cNvSpPr/>
          <p:nvPr/>
        </p:nvSpPr>
        <p:spPr>
          <a:xfrm>
            <a:off x="8046171" y="2211680"/>
            <a:ext cx="796399" cy="35208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目的</a:t>
            </a:r>
          </a:p>
        </p:txBody>
      </p:sp>
      <p:sp>
        <p:nvSpPr>
          <p:cNvPr id="36" name="圓角矩形 35"/>
          <p:cNvSpPr/>
          <p:nvPr/>
        </p:nvSpPr>
        <p:spPr>
          <a:xfrm>
            <a:off x="8046171" y="3703305"/>
            <a:ext cx="796399" cy="35208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手段</a:t>
            </a:r>
          </a:p>
        </p:txBody>
      </p:sp>
      <p:sp>
        <p:nvSpPr>
          <p:cNvPr id="37" name="圓角矩形 36"/>
          <p:cNvSpPr/>
          <p:nvPr/>
        </p:nvSpPr>
        <p:spPr>
          <a:xfrm>
            <a:off x="8046171" y="5194930"/>
            <a:ext cx="796399" cy="35208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功效</a:t>
            </a:r>
          </a:p>
        </p:txBody>
      </p:sp>
      <p:sp>
        <p:nvSpPr>
          <p:cNvPr id="38" name="AutoShape 71"/>
          <p:cNvSpPr>
            <a:spLocks noChangeArrowheads="1"/>
          </p:cNvSpPr>
          <p:nvPr/>
        </p:nvSpPr>
        <p:spPr bwMode="auto">
          <a:xfrm rot="5400000">
            <a:off x="6304673" y="3752778"/>
            <a:ext cx="4279394" cy="927750"/>
          </a:xfrm>
          <a:prstGeom prst="rightArrow">
            <a:avLst>
              <a:gd name="adj1" fmla="val 70389"/>
              <a:gd name="adj2" fmla="val 62116"/>
            </a:avLst>
          </a:prstGeom>
          <a:solidFill>
            <a:srgbClr val="B2B2B2">
              <a:alpha val="30000"/>
            </a:srgbClr>
          </a:solidFill>
          <a:ln w="12700" algn="ctr">
            <a:solidFill>
              <a:schemeClr val="bg2"/>
            </a:solidFill>
            <a:round/>
            <a:headEnd/>
            <a:tailEnd/>
          </a:ln>
        </p:spPr>
        <p:txBody>
          <a:bodyPr anchor="ctr"/>
          <a:lstStyle/>
          <a:p>
            <a:pPr algn="ctr"/>
            <a:endParaRPr lang="zh-CN" altLang="zh-CN">
              <a:solidFill>
                <a:srgbClr val="FFFFFF"/>
              </a:solidFill>
              <a:latin typeface="Calibri" pitchFamily="34" charset="0"/>
            </a:endParaRPr>
          </a:p>
        </p:txBody>
      </p:sp>
      <p:sp>
        <p:nvSpPr>
          <p:cNvPr id="3" name="想法泡泡: 雲朵 2">
            <a:extLst>
              <a:ext uri="{FF2B5EF4-FFF2-40B4-BE49-F238E27FC236}">
                <a16:creationId xmlns:a16="http://schemas.microsoft.com/office/drawing/2014/main" id="{56788FEE-669A-911D-0AA8-CE457E411082}"/>
              </a:ext>
            </a:extLst>
          </p:cNvPr>
          <p:cNvSpPr/>
          <p:nvPr/>
        </p:nvSpPr>
        <p:spPr>
          <a:xfrm>
            <a:off x="2423139" y="1942264"/>
            <a:ext cx="2369326" cy="550407"/>
          </a:xfrm>
          <a:prstGeom prst="cloudCallout">
            <a:avLst>
              <a:gd name="adj1" fmla="val -84"/>
              <a:gd name="adj2" fmla="val 625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場景</a:t>
            </a:r>
          </a:p>
        </p:txBody>
      </p:sp>
    </p:spTree>
    <p:extLst>
      <p:ext uri="{BB962C8B-B14F-4D97-AF65-F5344CB8AC3E}">
        <p14:creationId xmlns:p14="http://schemas.microsoft.com/office/powerpoint/2010/main" val="2606446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88A4FA-E0EA-A5A6-4EDA-10EA89CD2D80}"/>
              </a:ext>
            </a:extLst>
          </p:cNvPr>
          <p:cNvSpPr>
            <a:spLocks noGrp="1"/>
          </p:cNvSpPr>
          <p:nvPr>
            <p:ph type="title"/>
          </p:nvPr>
        </p:nvSpPr>
        <p:spPr/>
        <p:txBody>
          <a:bodyPr/>
          <a:lstStyle/>
          <a:p>
            <a:r>
              <a:rPr lang="zh-TW" altLang="en-US" dirty="0"/>
              <a:t>軟體專利</a:t>
            </a:r>
            <a:r>
              <a:rPr lang="en-US" altLang="zh-TW" dirty="0"/>
              <a:t>3</a:t>
            </a:r>
            <a:r>
              <a:rPr lang="zh-TW" altLang="en-US" dirty="0"/>
              <a:t>件事</a:t>
            </a:r>
          </a:p>
        </p:txBody>
      </p:sp>
      <p:sp>
        <p:nvSpPr>
          <p:cNvPr id="4" name="投影片編號版面配置區 3">
            <a:extLst>
              <a:ext uri="{FF2B5EF4-FFF2-40B4-BE49-F238E27FC236}">
                <a16:creationId xmlns:a16="http://schemas.microsoft.com/office/drawing/2014/main" id="{B3BA7EDB-425C-0A09-3565-AD28E6677EB4}"/>
              </a:ext>
            </a:extLst>
          </p:cNvPr>
          <p:cNvSpPr>
            <a:spLocks noGrp="1"/>
          </p:cNvSpPr>
          <p:nvPr>
            <p:ph type="sldNum" sz="quarter" idx="12"/>
          </p:nvPr>
        </p:nvSpPr>
        <p:spPr/>
        <p:txBody>
          <a:bodyPr/>
          <a:lstStyle/>
          <a:p>
            <a:fld id="{51D2D507-09EA-4C6F-96ED-053C801F8797}" type="slidenum">
              <a:rPr lang="zh-TW" altLang="en-US" smtClean="0"/>
              <a:t>8</a:t>
            </a:fld>
            <a:endParaRPr lang="zh-TW" altLang="en-US"/>
          </a:p>
        </p:txBody>
      </p:sp>
      <p:sp>
        <p:nvSpPr>
          <p:cNvPr id="5" name="等腰三角形 4">
            <a:extLst>
              <a:ext uri="{FF2B5EF4-FFF2-40B4-BE49-F238E27FC236}">
                <a16:creationId xmlns:a16="http://schemas.microsoft.com/office/drawing/2014/main" id="{9E0012A7-3466-D190-D5BF-A862DB8FB55A}"/>
              </a:ext>
            </a:extLst>
          </p:cNvPr>
          <p:cNvSpPr/>
          <p:nvPr/>
        </p:nvSpPr>
        <p:spPr>
          <a:xfrm>
            <a:off x="2235200" y="1397000"/>
            <a:ext cx="4064000" cy="4064000"/>
          </a:xfrm>
          <a:prstGeom prst="triangl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grpSp>
        <p:nvGrpSpPr>
          <p:cNvPr id="6" name="群組 5">
            <a:extLst>
              <a:ext uri="{FF2B5EF4-FFF2-40B4-BE49-F238E27FC236}">
                <a16:creationId xmlns:a16="http://schemas.microsoft.com/office/drawing/2014/main" id="{FA091F73-8294-B7B2-D9F7-4257B85F30D2}"/>
              </a:ext>
            </a:extLst>
          </p:cNvPr>
          <p:cNvGrpSpPr/>
          <p:nvPr/>
        </p:nvGrpSpPr>
        <p:grpSpPr>
          <a:xfrm>
            <a:off x="4267200" y="1805582"/>
            <a:ext cx="2641600" cy="962025"/>
            <a:chOff x="2743199" y="408582"/>
            <a:chExt cx="2641600" cy="962025"/>
          </a:xfrm>
          <a:scene3d>
            <a:camera prst="orthographicFront"/>
            <a:lightRig rig="flat" dir="t"/>
          </a:scene3d>
        </p:grpSpPr>
        <p:sp>
          <p:nvSpPr>
            <p:cNvPr id="13" name="矩形: 圓角 12">
              <a:extLst>
                <a:ext uri="{FF2B5EF4-FFF2-40B4-BE49-F238E27FC236}">
                  <a16:creationId xmlns:a16="http://schemas.microsoft.com/office/drawing/2014/main" id="{1BD2F0EB-6A85-6492-CDE9-6F4D4CF54C11}"/>
                </a:ext>
              </a:extLst>
            </p:cNvPr>
            <p:cNvSpPr/>
            <p:nvPr/>
          </p:nvSpPr>
          <p:spPr>
            <a:xfrm>
              <a:off x="2743199" y="408582"/>
              <a:ext cx="2641600" cy="962025"/>
            </a:xfrm>
            <a:prstGeom prst="roundRect">
              <a:avLst/>
            </a:prstGeom>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4" name="矩形: 圓角 5">
              <a:extLst>
                <a:ext uri="{FF2B5EF4-FFF2-40B4-BE49-F238E27FC236}">
                  <a16:creationId xmlns:a16="http://schemas.microsoft.com/office/drawing/2014/main" id="{253B1384-3DEF-5A9E-BAC5-D3F0DFCC29D7}"/>
                </a:ext>
              </a:extLst>
            </p:cNvPr>
            <p:cNvSpPr txBox="1"/>
            <p:nvPr/>
          </p:nvSpPr>
          <p:spPr>
            <a:xfrm>
              <a:off x="2790161" y="455544"/>
              <a:ext cx="2547676" cy="868101"/>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簡單變更</a:t>
              </a:r>
              <a:endParaRPr lang="zh-CN" altLang="en-US" sz="2800" kern="1200" dirty="0">
                <a:latin typeface="微軟正黑體" panose="020B0604030504040204" pitchFamily="34" charset="-120"/>
                <a:ea typeface="微軟正黑體" panose="020B0604030504040204" pitchFamily="34" charset="-120"/>
              </a:endParaRPr>
            </a:p>
          </p:txBody>
        </p:sp>
      </p:grpSp>
      <p:grpSp>
        <p:nvGrpSpPr>
          <p:cNvPr id="7" name="群組 6">
            <a:extLst>
              <a:ext uri="{FF2B5EF4-FFF2-40B4-BE49-F238E27FC236}">
                <a16:creationId xmlns:a16="http://schemas.microsoft.com/office/drawing/2014/main" id="{91774A13-16AA-51C7-79D7-20142AE3EEC7}"/>
              </a:ext>
            </a:extLst>
          </p:cNvPr>
          <p:cNvGrpSpPr/>
          <p:nvPr/>
        </p:nvGrpSpPr>
        <p:grpSpPr>
          <a:xfrm>
            <a:off x="4267200" y="2887860"/>
            <a:ext cx="2641600" cy="962025"/>
            <a:chOff x="2743199" y="1490860"/>
            <a:chExt cx="2641600" cy="962025"/>
          </a:xfrm>
          <a:scene3d>
            <a:camera prst="orthographicFront"/>
            <a:lightRig rig="flat" dir="t"/>
          </a:scene3d>
        </p:grpSpPr>
        <p:sp>
          <p:nvSpPr>
            <p:cNvPr id="11" name="矩形: 圓角 10">
              <a:extLst>
                <a:ext uri="{FF2B5EF4-FFF2-40B4-BE49-F238E27FC236}">
                  <a16:creationId xmlns:a16="http://schemas.microsoft.com/office/drawing/2014/main" id="{B45C929C-AA50-BB46-48D3-DCB29B348DB1}"/>
                </a:ext>
              </a:extLst>
            </p:cNvPr>
            <p:cNvSpPr/>
            <p:nvPr/>
          </p:nvSpPr>
          <p:spPr>
            <a:xfrm>
              <a:off x="2743199" y="1490860"/>
              <a:ext cx="2641600" cy="962025"/>
            </a:xfrm>
            <a:prstGeom prst="roundRect">
              <a:avLst/>
            </a:prstGeom>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2" name="矩形: 圓角 7">
              <a:extLst>
                <a:ext uri="{FF2B5EF4-FFF2-40B4-BE49-F238E27FC236}">
                  <a16:creationId xmlns:a16="http://schemas.microsoft.com/office/drawing/2014/main" id="{A9765286-DB3F-4D7C-927F-8984054F5920}"/>
                </a:ext>
              </a:extLst>
            </p:cNvPr>
            <p:cNvSpPr txBox="1"/>
            <p:nvPr/>
          </p:nvSpPr>
          <p:spPr>
            <a:xfrm>
              <a:off x="2790161" y="1537822"/>
              <a:ext cx="2547676" cy="868101"/>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可據以實現</a:t>
              </a:r>
              <a:endParaRPr lang="zh-CN" altLang="en-US" sz="2800" kern="1200" dirty="0">
                <a:latin typeface="微軟正黑體" panose="020B0604030504040204" pitchFamily="34" charset="-120"/>
                <a:ea typeface="微軟正黑體" panose="020B0604030504040204" pitchFamily="34" charset="-120"/>
              </a:endParaRPr>
            </a:p>
          </p:txBody>
        </p:sp>
      </p:grpSp>
      <p:grpSp>
        <p:nvGrpSpPr>
          <p:cNvPr id="8" name="群組 7">
            <a:extLst>
              <a:ext uri="{FF2B5EF4-FFF2-40B4-BE49-F238E27FC236}">
                <a16:creationId xmlns:a16="http://schemas.microsoft.com/office/drawing/2014/main" id="{F4658198-E2E4-1465-EBB8-25813DB82023}"/>
              </a:ext>
            </a:extLst>
          </p:cNvPr>
          <p:cNvGrpSpPr/>
          <p:nvPr/>
        </p:nvGrpSpPr>
        <p:grpSpPr>
          <a:xfrm>
            <a:off x="4267200" y="3970139"/>
            <a:ext cx="2641600" cy="962025"/>
            <a:chOff x="2743199" y="2573139"/>
            <a:chExt cx="2641600" cy="962025"/>
          </a:xfrm>
          <a:scene3d>
            <a:camera prst="orthographicFront"/>
            <a:lightRig rig="flat" dir="t"/>
          </a:scene3d>
        </p:grpSpPr>
        <p:sp>
          <p:nvSpPr>
            <p:cNvPr id="9" name="矩形: 圓角 8">
              <a:extLst>
                <a:ext uri="{FF2B5EF4-FFF2-40B4-BE49-F238E27FC236}">
                  <a16:creationId xmlns:a16="http://schemas.microsoft.com/office/drawing/2014/main" id="{E89BC53B-942E-1B7E-C761-66FE0B4C827A}"/>
                </a:ext>
              </a:extLst>
            </p:cNvPr>
            <p:cNvSpPr/>
            <p:nvPr/>
          </p:nvSpPr>
          <p:spPr>
            <a:xfrm>
              <a:off x="2743199" y="2573139"/>
              <a:ext cx="2641600" cy="962025"/>
            </a:xfrm>
            <a:prstGeom prst="roundRect">
              <a:avLst/>
            </a:prstGeom>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0" name="矩形: 圓角 9">
              <a:extLst>
                <a:ext uri="{FF2B5EF4-FFF2-40B4-BE49-F238E27FC236}">
                  <a16:creationId xmlns:a16="http://schemas.microsoft.com/office/drawing/2014/main" id="{C1989325-9DC3-DDFC-39C9-9F7EADF2CCC2}"/>
                </a:ext>
              </a:extLst>
            </p:cNvPr>
            <p:cNvSpPr txBox="1"/>
            <p:nvPr/>
          </p:nvSpPr>
          <p:spPr>
            <a:xfrm>
              <a:off x="2790161" y="2620101"/>
              <a:ext cx="2547676" cy="868101"/>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zh-TW" altLang="en-US" sz="2800" kern="1200" dirty="0">
                  <a:latin typeface="微軟正黑體" panose="020B0604030504040204" pitchFamily="34" charset="-120"/>
                  <a:ea typeface="微軟正黑體" panose="020B0604030504040204" pitchFamily="34" charset="-120"/>
                </a:rPr>
                <a:t>發明定義</a:t>
              </a:r>
              <a:endParaRPr lang="zh-CN" altLang="en-US" sz="2800" kern="12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1129458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電腦軟體與專利</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9</a:t>
            </a:fld>
            <a:endParaRPr lang="zh-TW" altLang="en-US"/>
          </a:p>
        </p:txBody>
      </p:sp>
      <p:sp>
        <p:nvSpPr>
          <p:cNvPr id="3" name="矩形 2"/>
          <p:cNvSpPr/>
          <p:nvPr/>
        </p:nvSpPr>
        <p:spPr>
          <a:xfrm>
            <a:off x="453802" y="1052736"/>
            <a:ext cx="8424936" cy="954107"/>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TW" altLang="en-US" sz="2800" dirty="0">
                <a:latin typeface="微軟正黑體" panose="020B0604030504040204" pitchFamily="34" charset="-120"/>
                <a:ea typeface="微軟正黑體" panose="020B0604030504040204" pitchFamily="34" charset="-120"/>
              </a:rPr>
              <a:t>專利法第一條　　為鼓勵、保護、利用發明、新型及設計之創作，以</a:t>
            </a:r>
            <a:r>
              <a:rPr lang="zh-TW" altLang="en-US" sz="2800" dirty="0">
                <a:solidFill>
                  <a:srgbClr val="FF0000"/>
                </a:solidFill>
                <a:latin typeface="微軟正黑體" panose="020B0604030504040204" pitchFamily="34" charset="-120"/>
                <a:ea typeface="微軟正黑體" panose="020B0604030504040204" pitchFamily="34" charset="-120"/>
              </a:rPr>
              <a:t>促進產業發展</a:t>
            </a:r>
            <a:r>
              <a:rPr lang="zh-TW" altLang="en-US" sz="2800" dirty="0">
                <a:latin typeface="微軟正黑體" panose="020B0604030504040204" pitchFamily="34" charset="-120"/>
                <a:ea typeface="微軟正黑體" panose="020B0604030504040204" pitchFamily="34" charset="-120"/>
              </a:rPr>
              <a:t>，特制定本法。</a:t>
            </a:r>
          </a:p>
        </p:txBody>
      </p:sp>
      <p:sp>
        <p:nvSpPr>
          <p:cNvPr id="5" name="矩形 4"/>
          <p:cNvSpPr/>
          <p:nvPr/>
        </p:nvSpPr>
        <p:spPr>
          <a:xfrm>
            <a:off x="461837" y="5085184"/>
            <a:ext cx="8424936" cy="954107"/>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TW" altLang="en-US" sz="2800" dirty="0">
                <a:latin typeface="微軟正黑體" panose="020B0604030504040204" pitchFamily="34" charset="-120"/>
                <a:ea typeface="微軟正黑體" panose="020B0604030504040204" pitchFamily="34" charset="-120"/>
              </a:rPr>
              <a:t>專利法第二十一條    發明，指</a:t>
            </a:r>
            <a:r>
              <a:rPr lang="zh-TW" altLang="en-US" sz="2800" dirty="0">
                <a:solidFill>
                  <a:srgbClr val="FF0000"/>
                </a:solidFill>
                <a:latin typeface="微軟正黑體" panose="020B0604030504040204" pitchFamily="34" charset="-120"/>
                <a:ea typeface="微軟正黑體" panose="020B0604030504040204" pitchFamily="34" charset="-120"/>
              </a:rPr>
              <a:t>利用自然法則</a:t>
            </a:r>
            <a:r>
              <a:rPr lang="zh-TW" altLang="en-US" sz="2800" dirty="0">
                <a:latin typeface="微軟正黑體" panose="020B0604030504040204" pitchFamily="34" charset="-120"/>
                <a:ea typeface="微軟正黑體" panose="020B0604030504040204" pitchFamily="34" charset="-120"/>
              </a:rPr>
              <a:t>之</a:t>
            </a:r>
            <a:r>
              <a:rPr lang="zh-TW" altLang="en-US" sz="2800" dirty="0">
                <a:solidFill>
                  <a:srgbClr val="FF0000"/>
                </a:solidFill>
                <a:latin typeface="微軟正黑體" panose="020B0604030504040204" pitchFamily="34" charset="-120"/>
                <a:ea typeface="微軟正黑體" panose="020B0604030504040204" pitchFamily="34" charset="-120"/>
              </a:rPr>
              <a:t>技術思想</a:t>
            </a:r>
            <a:r>
              <a:rPr lang="zh-TW" altLang="en-US" sz="2800" dirty="0">
                <a:latin typeface="微軟正黑體" panose="020B0604030504040204" pitchFamily="34" charset="-120"/>
                <a:ea typeface="微軟正黑體" panose="020B0604030504040204" pitchFamily="34" charset="-120"/>
              </a:rPr>
              <a:t>之創作。</a:t>
            </a:r>
          </a:p>
        </p:txBody>
      </p:sp>
      <p:grpSp>
        <p:nvGrpSpPr>
          <p:cNvPr id="8" name="群組 7"/>
          <p:cNvGrpSpPr/>
          <p:nvPr/>
        </p:nvGrpSpPr>
        <p:grpSpPr>
          <a:xfrm>
            <a:off x="752922" y="3075998"/>
            <a:ext cx="649657" cy="967933"/>
            <a:chOff x="714628" y="2794251"/>
            <a:chExt cx="649657" cy="967933"/>
          </a:xfrm>
        </p:grpSpPr>
        <p:pic>
          <p:nvPicPr>
            <p:cNvPr id="6" name="Picture 7" descr="C:\Program Files\Microsoft Office\MEDIA\CAGCAT10\j0285360.wmf"/>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55576" y="2794251"/>
              <a:ext cx="608709" cy="750690"/>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p:cNvSpPr txBox="1"/>
            <p:nvPr/>
          </p:nvSpPr>
          <p:spPr>
            <a:xfrm>
              <a:off x="714628" y="3454407"/>
              <a:ext cx="543739" cy="307777"/>
            </a:xfrm>
            <a:prstGeom prst="rect">
              <a:avLst/>
            </a:prstGeom>
            <a:noFill/>
          </p:spPr>
          <p:txBody>
            <a:bodyPr wrap="none" rtlCol="0">
              <a:spAutoFit/>
            </a:bodyPr>
            <a:lstStyle/>
            <a:p>
              <a:r>
                <a:rPr lang="zh-TW" altLang="en-US" sz="1400" b="0" dirty="0">
                  <a:solidFill>
                    <a:schemeClr val="tx1"/>
                  </a:solidFill>
                  <a:latin typeface="微軟正黑體" panose="020B0604030504040204" pitchFamily="34" charset="-120"/>
                  <a:ea typeface="微軟正黑體" panose="020B0604030504040204" pitchFamily="34" charset="-120"/>
                </a:rPr>
                <a:t>工業</a:t>
              </a:r>
            </a:p>
          </p:txBody>
        </p:sp>
      </p:grpSp>
      <p:grpSp>
        <p:nvGrpSpPr>
          <p:cNvPr id="11" name="群組 10"/>
          <p:cNvGrpSpPr/>
          <p:nvPr/>
        </p:nvGrpSpPr>
        <p:grpSpPr>
          <a:xfrm>
            <a:off x="1657966" y="3048171"/>
            <a:ext cx="949436" cy="995760"/>
            <a:chOff x="1619672" y="2791007"/>
            <a:chExt cx="949436" cy="995760"/>
          </a:xfrm>
        </p:grpSpPr>
        <p:pic>
          <p:nvPicPr>
            <p:cNvPr id="9" name="Picture 10" descr="C:\Program Files\Microsoft Office\MEDIA\CAGCAT10\j0149627.wmf"/>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19672" y="2791007"/>
              <a:ext cx="949436" cy="674614"/>
            </a:xfrm>
            <a:prstGeom prst="rect">
              <a:avLst/>
            </a:prstGeom>
            <a:noFill/>
            <a:extLst>
              <a:ext uri="{909E8E84-426E-40DD-AFC4-6F175D3DCCD1}">
                <a14:hiddenFill xmlns:a14="http://schemas.microsoft.com/office/drawing/2010/main">
                  <a:solidFill>
                    <a:srgbClr val="FFFFFF"/>
                  </a:solidFill>
                </a14:hiddenFill>
              </a:ext>
            </a:extLst>
          </p:spPr>
        </p:pic>
        <p:sp>
          <p:nvSpPr>
            <p:cNvPr id="10" name="文字方塊 9"/>
            <p:cNvSpPr txBox="1"/>
            <p:nvPr/>
          </p:nvSpPr>
          <p:spPr>
            <a:xfrm>
              <a:off x="1891819" y="3478990"/>
              <a:ext cx="543739" cy="307777"/>
            </a:xfrm>
            <a:prstGeom prst="rect">
              <a:avLst/>
            </a:prstGeom>
            <a:noFill/>
          </p:spPr>
          <p:txBody>
            <a:bodyPr wrap="none" rtlCol="0">
              <a:spAutoFit/>
            </a:bodyPr>
            <a:lstStyle/>
            <a:p>
              <a:r>
                <a:rPr lang="zh-TW" altLang="en-US" sz="1400" b="0" dirty="0">
                  <a:solidFill>
                    <a:schemeClr val="tx1"/>
                  </a:solidFill>
                  <a:latin typeface="微軟正黑體" panose="020B0604030504040204" pitchFamily="34" charset="-120"/>
                  <a:ea typeface="微軟正黑體" panose="020B0604030504040204" pitchFamily="34" charset="-120"/>
                </a:rPr>
                <a:t>農業</a:t>
              </a:r>
            </a:p>
          </p:txBody>
        </p:sp>
      </p:grpSp>
      <p:grpSp>
        <p:nvGrpSpPr>
          <p:cNvPr id="15" name="群組 14"/>
          <p:cNvGrpSpPr/>
          <p:nvPr/>
        </p:nvGrpSpPr>
        <p:grpSpPr>
          <a:xfrm>
            <a:off x="3041270" y="2919893"/>
            <a:ext cx="919776" cy="1124038"/>
            <a:chOff x="3659511" y="1677109"/>
            <a:chExt cx="919776" cy="1124038"/>
          </a:xfrm>
        </p:grpSpPr>
        <p:pic>
          <p:nvPicPr>
            <p:cNvPr id="12" name="Picture 8" descr="C:\Program Files\Microsoft Office\MEDIA\CAGCAT10\j0293234.wmf"/>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777159" y="1875285"/>
              <a:ext cx="802128" cy="591757"/>
            </a:xfrm>
            <a:prstGeom prst="rect">
              <a:avLst/>
            </a:prstGeom>
            <a:noFill/>
            <a:extLst>
              <a:ext uri="{909E8E84-426E-40DD-AFC4-6F175D3DCCD1}">
                <a14:hiddenFill xmlns:a14="http://schemas.microsoft.com/office/drawing/2010/main">
                  <a:solidFill>
                    <a:srgbClr val="FFFFFF"/>
                  </a:solidFill>
                </a14:hiddenFill>
              </a:ext>
            </a:extLst>
          </p:spPr>
        </p:pic>
        <p:sp>
          <p:nvSpPr>
            <p:cNvPr id="13" name="文字方塊 12"/>
            <p:cNvSpPr txBox="1"/>
            <p:nvPr/>
          </p:nvSpPr>
          <p:spPr>
            <a:xfrm>
              <a:off x="3866199" y="2493370"/>
              <a:ext cx="543739" cy="307777"/>
            </a:xfrm>
            <a:prstGeom prst="rect">
              <a:avLst/>
            </a:prstGeom>
            <a:noFill/>
          </p:spPr>
          <p:txBody>
            <a:bodyPr wrap="none" rtlCol="0">
              <a:spAutoFit/>
            </a:bodyPr>
            <a:lstStyle/>
            <a:p>
              <a:r>
                <a:rPr lang="zh-TW" altLang="en-US" sz="1400" b="0" dirty="0">
                  <a:solidFill>
                    <a:schemeClr val="tx1"/>
                  </a:solidFill>
                  <a:latin typeface="微軟正黑體" panose="020B0604030504040204" pitchFamily="34" charset="-120"/>
                  <a:ea typeface="微軟正黑體" panose="020B0604030504040204" pitchFamily="34" charset="-120"/>
                </a:rPr>
                <a:t>交通</a:t>
              </a:r>
            </a:p>
          </p:txBody>
        </p:sp>
        <p:pic>
          <p:nvPicPr>
            <p:cNvPr id="14" name="Picture 2" descr="C:\Program Files\Microsoft Office\MEDIA\CAGCAT10\j0183328.wmf"/>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659511" y="1677109"/>
              <a:ext cx="511996" cy="5143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群組 17"/>
          <p:cNvGrpSpPr/>
          <p:nvPr/>
        </p:nvGrpSpPr>
        <p:grpSpPr>
          <a:xfrm>
            <a:off x="4447001" y="2919893"/>
            <a:ext cx="543739" cy="1124038"/>
            <a:chOff x="4408707" y="2515425"/>
            <a:chExt cx="543739" cy="1124038"/>
          </a:xfrm>
        </p:grpSpPr>
        <p:pic>
          <p:nvPicPr>
            <p:cNvPr id="16" name="Picture 6" descr="C:\Program Files\Microsoft Office\MEDIA\CAGCAT10\j0240719.wmf"/>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4408707" y="2515425"/>
              <a:ext cx="542609" cy="851636"/>
            </a:xfrm>
            <a:prstGeom prst="rect">
              <a:avLst/>
            </a:prstGeom>
            <a:noFill/>
            <a:extLst>
              <a:ext uri="{909E8E84-426E-40DD-AFC4-6F175D3DCCD1}">
                <a14:hiddenFill xmlns:a14="http://schemas.microsoft.com/office/drawing/2010/main">
                  <a:solidFill>
                    <a:srgbClr val="FFFFFF"/>
                  </a:solidFill>
                </a14:hiddenFill>
              </a:ext>
            </a:extLst>
          </p:spPr>
        </p:pic>
        <p:sp>
          <p:nvSpPr>
            <p:cNvPr id="17" name="文字方塊 16"/>
            <p:cNvSpPr txBox="1"/>
            <p:nvPr/>
          </p:nvSpPr>
          <p:spPr>
            <a:xfrm>
              <a:off x="4408707" y="3331686"/>
              <a:ext cx="543739" cy="307777"/>
            </a:xfrm>
            <a:prstGeom prst="rect">
              <a:avLst/>
            </a:prstGeom>
            <a:noFill/>
          </p:spPr>
          <p:txBody>
            <a:bodyPr wrap="none" rtlCol="0">
              <a:spAutoFit/>
            </a:bodyPr>
            <a:lstStyle/>
            <a:p>
              <a:r>
                <a:rPr lang="zh-TW" altLang="en-US" sz="1400" b="0" dirty="0">
                  <a:solidFill>
                    <a:schemeClr val="tx1"/>
                  </a:solidFill>
                  <a:latin typeface="微軟正黑體" panose="020B0604030504040204" pitchFamily="34" charset="-120"/>
                  <a:ea typeface="微軟正黑體" panose="020B0604030504040204" pitchFamily="34" charset="-120"/>
                </a:rPr>
                <a:t>醫療</a:t>
              </a:r>
            </a:p>
          </p:txBody>
        </p:sp>
      </p:grpSp>
      <p:grpSp>
        <p:nvGrpSpPr>
          <p:cNvPr id="21" name="群組 20"/>
          <p:cNvGrpSpPr/>
          <p:nvPr/>
        </p:nvGrpSpPr>
        <p:grpSpPr>
          <a:xfrm>
            <a:off x="5508104" y="3006867"/>
            <a:ext cx="810479" cy="1037064"/>
            <a:chOff x="5508104" y="2958136"/>
            <a:chExt cx="810479" cy="1037064"/>
          </a:xfrm>
        </p:grpSpPr>
        <p:pic>
          <p:nvPicPr>
            <p:cNvPr id="19" name="Picture 5" descr="C:\Program Files\Microsoft Office\MEDIA\CAGCAT10\j0222015.wmf"/>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508104" y="2958136"/>
              <a:ext cx="810479" cy="813393"/>
            </a:xfrm>
            <a:prstGeom prst="rect">
              <a:avLst/>
            </a:prstGeom>
            <a:noFill/>
            <a:extLst>
              <a:ext uri="{909E8E84-426E-40DD-AFC4-6F175D3DCCD1}">
                <a14:hiddenFill xmlns:a14="http://schemas.microsoft.com/office/drawing/2010/main">
                  <a:solidFill>
                    <a:srgbClr val="FFFFFF"/>
                  </a:solidFill>
                </a14:hiddenFill>
              </a:ext>
            </a:extLst>
          </p:spPr>
        </p:pic>
        <p:sp>
          <p:nvSpPr>
            <p:cNvPr id="20" name="文字方塊 19"/>
            <p:cNvSpPr txBox="1"/>
            <p:nvPr/>
          </p:nvSpPr>
          <p:spPr>
            <a:xfrm>
              <a:off x="5711700" y="3687423"/>
              <a:ext cx="543739" cy="307777"/>
            </a:xfrm>
            <a:prstGeom prst="rect">
              <a:avLst/>
            </a:prstGeom>
            <a:noFill/>
          </p:spPr>
          <p:txBody>
            <a:bodyPr wrap="none" rtlCol="0">
              <a:spAutoFit/>
            </a:bodyPr>
            <a:lstStyle/>
            <a:p>
              <a:r>
                <a:rPr lang="zh-TW" altLang="en-US" sz="1400" dirty="0">
                  <a:latin typeface="微軟正黑體" panose="020B0604030504040204" pitchFamily="34" charset="-120"/>
                  <a:ea typeface="微軟正黑體" panose="020B0604030504040204" pitchFamily="34" charset="-120"/>
                </a:rPr>
                <a:t>金融</a:t>
              </a:r>
              <a:endParaRPr lang="zh-TW" altLang="en-US" sz="1400" b="0" dirty="0">
                <a:solidFill>
                  <a:schemeClr val="tx1"/>
                </a:solidFill>
                <a:latin typeface="微軟正黑體" panose="020B0604030504040204" pitchFamily="34" charset="-120"/>
                <a:ea typeface="微軟正黑體" panose="020B0604030504040204" pitchFamily="34" charset="-120"/>
              </a:endParaRPr>
            </a:p>
          </p:txBody>
        </p:sp>
      </p:grpSp>
      <p:grpSp>
        <p:nvGrpSpPr>
          <p:cNvPr id="24" name="群組 23"/>
          <p:cNvGrpSpPr/>
          <p:nvPr/>
        </p:nvGrpSpPr>
        <p:grpSpPr>
          <a:xfrm>
            <a:off x="6660232" y="2919692"/>
            <a:ext cx="1036662" cy="1124239"/>
            <a:chOff x="6660232" y="2811640"/>
            <a:chExt cx="1036662" cy="1124239"/>
          </a:xfrm>
        </p:grpSpPr>
        <p:pic>
          <p:nvPicPr>
            <p:cNvPr id="22" name="Picture 9" descr="C:\Program Files\Microsoft Office\MEDIA\CAGCAT10\j0300840.wmf"/>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6660232" y="2811640"/>
              <a:ext cx="1036662" cy="873198"/>
            </a:xfrm>
            <a:prstGeom prst="rect">
              <a:avLst/>
            </a:prstGeom>
            <a:noFill/>
            <a:extLst>
              <a:ext uri="{909E8E84-426E-40DD-AFC4-6F175D3DCCD1}">
                <a14:hiddenFill xmlns:a14="http://schemas.microsoft.com/office/drawing/2010/main">
                  <a:solidFill>
                    <a:srgbClr val="FFFFFF"/>
                  </a:solidFill>
                </a14:hiddenFill>
              </a:ext>
            </a:extLst>
          </p:spPr>
        </p:pic>
        <p:sp>
          <p:nvSpPr>
            <p:cNvPr id="23" name="文字方塊 22"/>
            <p:cNvSpPr txBox="1"/>
            <p:nvPr/>
          </p:nvSpPr>
          <p:spPr>
            <a:xfrm>
              <a:off x="6872709" y="3628102"/>
              <a:ext cx="543739" cy="307777"/>
            </a:xfrm>
            <a:prstGeom prst="rect">
              <a:avLst/>
            </a:prstGeom>
            <a:noFill/>
          </p:spPr>
          <p:txBody>
            <a:bodyPr wrap="none" rtlCol="0">
              <a:spAutoFit/>
            </a:bodyPr>
            <a:lstStyle/>
            <a:p>
              <a:r>
                <a:rPr lang="zh-TW" altLang="en-US" sz="1400" b="0" dirty="0">
                  <a:solidFill>
                    <a:schemeClr val="tx1"/>
                  </a:solidFill>
                  <a:latin typeface="微軟正黑體" panose="020B0604030504040204" pitchFamily="34" charset="-120"/>
                  <a:ea typeface="微軟正黑體" panose="020B0604030504040204" pitchFamily="34" charset="-120"/>
                </a:rPr>
                <a:t>法律</a:t>
              </a:r>
            </a:p>
          </p:txBody>
        </p:sp>
      </p:grpSp>
      <p:grpSp>
        <p:nvGrpSpPr>
          <p:cNvPr id="27" name="群組 26"/>
          <p:cNvGrpSpPr/>
          <p:nvPr/>
        </p:nvGrpSpPr>
        <p:grpSpPr>
          <a:xfrm>
            <a:off x="8052768" y="2950853"/>
            <a:ext cx="631898" cy="1093078"/>
            <a:chOff x="8052768" y="2735375"/>
            <a:chExt cx="631898" cy="1093078"/>
          </a:xfrm>
        </p:grpSpPr>
        <p:pic>
          <p:nvPicPr>
            <p:cNvPr id="25" name="Picture 11" descr="C:\Program Files\Microsoft Office\MEDIA\CAGCAT10\j0216724.wmf"/>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8052768" y="2735375"/>
              <a:ext cx="631898" cy="794454"/>
            </a:xfrm>
            <a:prstGeom prst="rect">
              <a:avLst/>
            </a:prstGeom>
            <a:noFill/>
            <a:extLst>
              <a:ext uri="{909E8E84-426E-40DD-AFC4-6F175D3DCCD1}">
                <a14:hiddenFill xmlns:a14="http://schemas.microsoft.com/office/drawing/2010/main">
                  <a:solidFill>
                    <a:srgbClr val="FFFFFF"/>
                  </a:solidFill>
                </a14:hiddenFill>
              </a:ext>
            </a:extLst>
          </p:spPr>
        </p:pic>
        <p:sp>
          <p:nvSpPr>
            <p:cNvPr id="26" name="文字方塊 25"/>
            <p:cNvSpPr txBox="1"/>
            <p:nvPr/>
          </p:nvSpPr>
          <p:spPr>
            <a:xfrm>
              <a:off x="8115867" y="3520676"/>
              <a:ext cx="543739" cy="307777"/>
            </a:xfrm>
            <a:prstGeom prst="rect">
              <a:avLst/>
            </a:prstGeom>
            <a:noFill/>
          </p:spPr>
          <p:txBody>
            <a:bodyPr wrap="none" rtlCol="0">
              <a:spAutoFit/>
            </a:bodyPr>
            <a:lstStyle/>
            <a:p>
              <a:r>
                <a:rPr lang="zh-TW" altLang="en-US" sz="1400" b="0" dirty="0">
                  <a:solidFill>
                    <a:schemeClr val="tx1"/>
                  </a:solidFill>
                  <a:latin typeface="微軟正黑體" panose="020B0604030504040204" pitchFamily="34" charset="-120"/>
                  <a:ea typeface="微軟正黑體" panose="020B0604030504040204" pitchFamily="34" charset="-120"/>
                </a:rPr>
                <a:t>家庭</a:t>
              </a:r>
            </a:p>
          </p:txBody>
        </p:sp>
      </p:grpSp>
      <p:sp>
        <p:nvSpPr>
          <p:cNvPr id="28" name="向上箭號 27"/>
          <p:cNvSpPr/>
          <p:nvPr/>
        </p:nvSpPr>
        <p:spPr>
          <a:xfrm>
            <a:off x="4260326" y="4293096"/>
            <a:ext cx="917087" cy="648072"/>
          </a:xfrm>
          <a:prstGeom prst="up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9" name="向上箭號 28"/>
          <p:cNvSpPr/>
          <p:nvPr/>
        </p:nvSpPr>
        <p:spPr>
          <a:xfrm>
            <a:off x="4207726" y="2119445"/>
            <a:ext cx="917087" cy="589475"/>
          </a:xfrm>
          <a:prstGeom prst="up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1801167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loud"/>
          <p:cNvSpPr>
            <a:spLocks noChangeAspect="1" noEditPoints="1" noChangeArrowheads="1"/>
          </p:cNvSpPr>
          <p:nvPr/>
        </p:nvSpPr>
        <p:spPr bwMode="auto">
          <a:xfrm>
            <a:off x="456006" y="1340768"/>
            <a:ext cx="8001615" cy="5362193"/>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5">
              <a:lumMod val="20000"/>
              <a:lumOff val="80000"/>
            </a:schemeClr>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zh-TW" altLang="en-US" dirty="0"/>
          </a:p>
        </p:txBody>
      </p:sp>
      <p:pic>
        <p:nvPicPr>
          <p:cNvPr id="35" name="Picture 7"/>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736069" y="958176"/>
            <a:ext cx="2982858" cy="20400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709246" y="4591435"/>
            <a:ext cx="2236787"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標題 1"/>
          <p:cNvSpPr>
            <a:spLocks noGrp="1"/>
          </p:cNvSpPr>
          <p:nvPr>
            <p:ph type="title"/>
          </p:nvPr>
        </p:nvSpPr>
        <p:spPr/>
        <p:txBody>
          <a:bodyPr/>
          <a:lstStyle/>
          <a:p>
            <a:r>
              <a:rPr lang="zh-TW" altLang="en-US" dirty="0"/>
              <a:t>軟體專利特性</a:t>
            </a:r>
          </a:p>
        </p:txBody>
      </p:sp>
      <p:sp>
        <p:nvSpPr>
          <p:cNvPr id="11" name="投影片編號版面配置區 10"/>
          <p:cNvSpPr>
            <a:spLocks noGrp="1"/>
          </p:cNvSpPr>
          <p:nvPr>
            <p:ph type="sldNum" sz="quarter" idx="12"/>
          </p:nvPr>
        </p:nvSpPr>
        <p:spPr>
          <a:xfrm>
            <a:off x="6355233" y="6356350"/>
            <a:ext cx="2133600" cy="365125"/>
          </a:xfrm>
        </p:spPr>
        <p:txBody>
          <a:bodyPr/>
          <a:lstStyle/>
          <a:p>
            <a:fld id="{51D2D507-09EA-4C6F-96ED-053C801F8797}" type="slidenum">
              <a:rPr lang="zh-TW" altLang="en-US" smtClean="0"/>
              <a:t>10</a:t>
            </a:fld>
            <a:endParaRPr lang="zh-TW" altLang="en-US"/>
          </a:p>
        </p:txBody>
      </p:sp>
      <p:sp>
        <p:nvSpPr>
          <p:cNvPr id="4" name="文字方塊 3"/>
          <p:cNvSpPr txBox="1"/>
          <p:nvPr/>
        </p:nvSpPr>
        <p:spPr>
          <a:xfrm>
            <a:off x="6076337" y="6570564"/>
            <a:ext cx="2869696" cy="230832"/>
          </a:xfrm>
          <a:prstGeom prst="rect">
            <a:avLst/>
          </a:prstGeom>
          <a:noFill/>
        </p:spPr>
        <p:txBody>
          <a:bodyPr wrap="none" rtlCol="0">
            <a:spAutoFit/>
          </a:bodyPr>
          <a:lstStyle/>
          <a:p>
            <a:r>
              <a:rPr lang="zh-TW" altLang="en-US" sz="900" dirty="0"/>
              <a:t>圖片來源：</a:t>
            </a:r>
            <a:r>
              <a:rPr lang="en-US" altLang="zh-TW" sz="900" dirty="0"/>
              <a:t>https://pixabay.com/</a:t>
            </a:r>
            <a:r>
              <a:rPr lang="zh-TW" altLang="en-US" sz="900" dirty="0"/>
              <a:t> 、</a:t>
            </a:r>
            <a:r>
              <a:rPr lang="en-US" altLang="zh-TW" sz="900" dirty="0"/>
              <a:t>https://pxhere.com/</a:t>
            </a:r>
            <a:endParaRPr lang="zh-TW" altLang="en-US" sz="900" dirty="0"/>
          </a:p>
        </p:txBody>
      </p:sp>
      <p:pic>
        <p:nvPicPr>
          <p:cNvPr id="1027" name="Picture 3"/>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736069" y="4882421"/>
            <a:ext cx="1172344" cy="16985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3522983" y="6545931"/>
            <a:ext cx="1598515" cy="246221"/>
          </a:xfrm>
          <a:prstGeom prst="rect">
            <a:avLst/>
          </a:prstGeom>
        </p:spPr>
        <p:txBody>
          <a:bodyPr wrap="none">
            <a:spAutoFit/>
          </a:bodyPr>
          <a:lstStyle/>
          <a:p>
            <a:r>
              <a:rPr lang="en-US" altLang="zh-TW" sz="1000" dirty="0"/>
              <a:t>https://disp.cc/b/733-9T1S</a:t>
            </a:r>
            <a:endParaRPr lang="zh-TW" altLang="en-US" sz="1000" dirty="0"/>
          </a:p>
        </p:txBody>
      </p:sp>
      <p:pic>
        <p:nvPicPr>
          <p:cNvPr id="1028" name="Picture 4"/>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57609" y="3743890"/>
            <a:ext cx="1382717" cy="10505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321991" y="4794456"/>
            <a:ext cx="1853952" cy="1061829"/>
          </a:xfrm>
          <a:prstGeom prst="rect">
            <a:avLst/>
          </a:prstGeom>
        </p:spPr>
        <p:txBody>
          <a:bodyPr wrap="square">
            <a:spAutoFit/>
          </a:bodyPr>
          <a:lstStyle/>
          <a:p>
            <a:r>
              <a:rPr lang="en-US" altLang="zh-TW" sz="900" dirty="0"/>
              <a:t>https://cnews.com.tw/%E6%89%8B%E6%A9%9F%E6%94%AF%E4%BB%98%E4%B8%8D%E5%A4%A0%E7%9C%8B%EF%BC%81nec%E9%96%8B%E7%99%BC%E4%BA%BA%E8%87%89%E8%BE%A8%E8%AD%98%E7%B5%90%E5%B8%B3/</a:t>
            </a:r>
            <a:endParaRPr lang="zh-TW" altLang="en-US" sz="900" dirty="0"/>
          </a:p>
        </p:txBody>
      </p:sp>
      <p:pic>
        <p:nvPicPr>
          <p:cNvPr id="1029" name="Picture 5"/>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113707" y="1540066"/>
            <a:ext cx="1062236" cy="8306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239561" y="2384553"/>
            <a:ext cx="2934072" cy="246221"/>
          </a:xfrm>
          <a:prstGeom prst="rect">
            <a:avLst/>
          </a:prstGeom>
        </p:spPr>
        <p:txBody>
          <a:bodyPr wrap="square">
            <a:spAutoFit/>
          </a:bodyPr>
          <a:lstStyle/>
          <a:p>
            <a:r>
              <a:rPr lang="en-US" altLang="zh-TW" sz="1000" dirty="0"/>
              <a:t>https://newtalk.tw/news/view/2019-09-12/298051</a:t>
            </a:r>
            <a:endParaRPr lang="zh-TW" altLang="en-US" sz="1000" dirty="0"/>
          </a:p>
        </p:txBody>
      </p:sp>
      <p:pic>
        <p:nvPicPr>
          <p:cNvPr id="1030" name="Picture 6"/>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flipH="1">
            <a:off x="5896308" y="2095834"/>
            <a:ext cx="627974" cy="7741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p:cNvSpPr/>
          <p:nvPr/>
        </p:nvSpPr>
        <p:spPr>
          <a:xfrm>
            <a:off x="3723694" y="3011565"/>
            <a:ext cx="2995233" cy="230832"/>
          </a:xfrm>
          <a:prstGeom prst="rect">
            <a:avLst/>
          </a:prstGeom>
        </p:spPr>
        <p:txBody>
          <a:bodyPr wrap="square">
            <a:spAutoFit/>
          </a:bodyPr>
          <a:lstStyle/>
          <a:p>
            <a:r>
              <a:rPr lang="en-US" altLang="zh-TW" sz="900" dirty="0"/>
              <a:t>https://www.aiotcloud.net/media/singl.php?aid=339&amp;cid=2</a:t>
            </a:r>
            <a:endParaRPr lang="zh-TW" altLang="en-US" sz="900" dirty="0"/>
          </a:p>
        </p:txBody>
      </p:sp>
      <p:pic>
        <p:nvPicPr>
          <p:cNvPr id="1032" name="Picture 8"/>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7557109" y="1978207"/>
            <a:ext cx="1260234" cy="1765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文字方塊 15"/>
          <p:cNvSpPr txBox="1"/>
          <p:nvPr/>
        </p:nvSpPr>
        <p:spPr>
          <a:xfrm>
            <a:off x="7445081" y="3743382"/>
            <a:ext cx="1451038" cy="246221"/>
          </a:xfrm>
          <a:prstGeom prst="rect">
            <a:avLst/>
          </a:prstGeom>
          <a:noFill/>
        </p:spPr>
        <p:txBody>
          <a:bodyPr wrap="none" rtlCol="0">
            <a:spAutoFit/>
          </a:bodyPr>
          <a:lstStyle/>
          <a:p>
            <a:r>
              <a:rPr lang="zh-TW" altLang="en-US" sz="1000" dirty="0"/>
              <a:t>圖片來源：</a:t>
            </a:r>
            <a:r>
              <a:rPr lang="en-US" altLang="zh-TW" sz="1000" dirty="0"/>
              <a:t>Google</a:t>
            </a:r>
            <a:r>
              <a:rPr lang="zh-TW" altLang="en-US" sz="1000" dirty="0"/>
              <a:t>地圖</a:t>
            </a:r>
          </a:p>
        </p:txBody>
      </p:sp>
      <p:sp>
        <p:nvSpPr>
          <p:cNvPr id="9" name="矩形 8"/>
          <p:cNvSpPr/>
          <p:nvPr/>
        </p:nvSpPr>
        <p:spPr>
          <a:xfrm>
            <a:off x="3722553" y="3168495"/>
            <a:ext cx="1787669" cy="230832"/>
          </a:xfrm>
          <a:prstGeom prst="rect">
            <a:avLst/>
          </a:prstGeom>
        </p:spPr>
        <p:txBody>
          <a:bodyPr wrap="none">
            <a:spAutoFit/>
          </a:bodyPr>
          <a:lstStyle/>
          <a:p>
            <a:r>
              <a:rPr lang="zh-TW" altLang="en-US" sz="900" dirty="0"/>
              <a:t>圖片來源：</a:t>
            </a:r>
            <a:r>
              <a:rPr lang="en-US" altLang="zh-TW" sz="900" dirty="0"/>
              <a:t>https://pixabay.com/</a:t>
            </a:r>
            <a:r>
              <a:rPr lang="zh-TW" altLang="en-US" sz="900" dirty="0"/>
              <a:t> </a:t>
            </a:r>
          </a:p>
        </p:txBody>
      </p:sp>
      <p:sp>
        <p:nvSpPr>
          <p:cNvPr id="20" name="_s1031"/>
          <p:cNvSpPr>
            <a:spLocks noChangeArrowheads="1" noTextEdit="1"/>
          </p:cNvSpPr>
          <p:nvPr/>
        </p:nvSpPr>
        <p:spPr bwMode="auto">
          <a:xfrm rot="21281835">
            <a:off x="2496152" y="1703221"/>
            <a:ext cx="1184910" cy="721360"/>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0">
            <a:schemeClr val="accent3"/>
          </a:lnRef>
          <a:fillRef idx="3">
            <a:schemeClr val="accent3"/>
          </a:fillRef>
          <a:effectRef idx="3">
            <a:schemeClr val="accent3"/>
          </a:effectRef>
          <a:fontRef idx="minor">
            <a:schemeClr val="lt1"/>
          </a:fontRef>
        </p:style>
        <p:txBody>
          <a:bodyPr rot="0" vert="horz" wrap="square" lIns="0" tIns="0" rIns="0" bIns="0" anchor="ctr" anchorCtr="0" upright="1">
            <a:noAutofit/>
          </a:bodyPr>
          <a:lstStyle/>
          <a:p>
            <a:endParaRPr lang="zh-TW" altLang="en-US"/>
          </a:p>
        </p:txBody>
      </p:sp>
      <p:sp>
        <p:nvSpPr>
          <p:cNvPr id="21" name="_s1031"/>
          <p:cNvSpPr>
            <a:spLocks noChangeArrowheads="1" noTextEdit="1"/>
          </p:cNvSpPr>
          <p:nvPr/>
        </p:nvSpPr>
        <p:spPr bwMode="auto">
          <a:xfrm rot="2399945">
            <a:off x="6486044" y="1960579"/>
            <a:ext cx="1184910" cy="721360"/>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0">
            <a:schemeClr val="accent3"/>
          </a:lnRef>
          <a:fillRef idx="3">
            <a:schemeClr val="accent3"/>
          </a:fillRef>
          <a:effectRef idx="3">
            <a:schemeClr val="accent3"/>
          </a:effectRef>
          <a:fontRef idx="minor">
            <a:schemeClr val="lt1"/>
          </a:fontRef>
        </p:style>
        <p:txBody>
          <a:bodyPr rot="0" vert="horz" wrap="square" lIns="0" tIns="0" rIns="0" bIns="0" anchor="ctr" anchorCtr="0" upright="1">
            <a:noAutofit/>
          </a:bodyPr>
          <a:lstStyle/>
          <a:p>
            <a:endParaRPr lang="zh-TW" altLang="en-US"/>
          </a:p>
        </p:txBody>
      </p:sp>
      <p:sp>
        <p:nvSpPr>
          <p:cNvPr id="22" name="_s1031"/>
          <p:cNvSpPr>
            <a:spLocks noChangeArrowheads="1" noTextEdit="1"/>
          </p:cNvSpPr>
          <p:nvPr/>
        </p:nvSpPr>
        <p:spPr bwMode="auto">
          <a:xfrm rot="429337" flipH="1" flipV="1">
            <a:off x="5237238" y="4871983"/>
            <a:ext cx="1070882" cy="701776"/>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0">
            <a:schemeClr val="accent3"/>
          </a:lnRef>
          <a:fillRef idx="3">
            <a:schemeClr val="accent3"/>
          </a:fillRef>
          <a:effectRef idx="3">
            <a:schemeClr val="accent3"/>
          </a:effectRef>
          <a:fontRef idx="minor">
            <a:schemeClr val="lt1"/>
          </a:fontRef>
        </p:style>
        <p:txBody>
          <a:bodyPr rot="0" vert="horz" wrap="square" lIns="0" tIns="0" rIns="0" bIns="0" anchor="ctr" anchorCtr="0" upright="1">
            <a:noAutofit/>
          </a:bodyPr>
          <a:lstStyle/>
          <a:p>
            <a:endParaRPr lang="zh-TW" altLang="en-US"/>
          </a:p>
        </p:txBody>
      </p:sp>
      <p:sp>
        <p:nvSpPr>
          <p:cNvPr id="23" name="_s1031"/>
          <p:cNvSpPr>
            <a:spLocks noChangeArrowheads="1" noTextEdit="1"/>
          </p:cNvSpPr>
          <p:nvPr/>
        </p:nvSpPr>
        <p:spPr bwMode="auto">
          <a:xfrm rot="1908901" flipH="1" flipV="1">
            <a:off x="2448282" y="4597831"/>
            <a:ext cx="975175" cy="786176"/>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0">
            <a:schemeClr val="accent3"/>
          </a:lnRef>
          <a:fillRef idx="3">
            <a:schemeClr val="accent3"/>
          </a:fillRef>
          <a:effectRef idx="3">
            <a:schemeClr val="accent3"/>
          </a:effectRef>
          <a:fontRef idx="minor">
            <a:schemeClr val="lt1"/>
          </a:fontRef>
        </p:style>
        <p:txBody>
          <a:bodyPr rot="0" vert="horz" wrap="square" lIns="0" tIns="0" rIns="0" bIns="0" anchor="ctr" anchorCtr="0" upright="1">
            <a:noAutofit/>
          </a:bodyPr>
          <a:lstStyle/>
          <a:p>
            <a:endParaRPr lang="zh-TW" altLang="en-US"/>
          </a:p>
        </p:txBody>
      </p:sp>
      <p:sp>
        <p:nvSpPr>
          <p:cNvPr id="24" name="_s1031"/>
          <p:cNvSpPr>
            <a:spLocks noChangeArrowheads="1" noTextEdit="1"/>
          </p:cNvSpPr>
          <p:nvPr/>
        </p:nvSpPr>
        <p:spPr bwMode="auto">
          <a:xfrm rot="16948316">
            <a:off x="1064147" y="2764475"/>
            <a:ext cx="1145579" cy="725011"/>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0">
            <a:schemeClr val="accent3"/>
          </a:lnRef>
          <a:fillRef idx="3">
            <a:schemeClr val="accent3"/>
          </a:fillRef>
          <a:effectRef idx="3">
            <a:schemeClr val="accent3"/>
          </a:effectRef>
          <a:fontRef idx="minor">
            <a:schemeClr val="lt1"/>
          </a:fontRef>
        </p:style>
        <p:txBody>
          <a:bodyPr rot="0" vert="horz" wrap="square" lIns="0" tIns="0" rIns="0" bIns="0" anchor="ctr" anchorCtr="0" upright="1">
            <a:noAutofit/>
          </a:bodyPr>
          <a:lstStyle/>
          <a:p>
            <a:endParaRPr lang="zh-TW" altLang="en-US"/>
          </a:p>
        </p:txBody>
      </p:sp>
      <p:sp>
        <p:nvSpPr>
          <p:cNvPr id="12" name="文字方塊 11"/>
          <p:cNvSpPr txBox="1"/>
          <p:nvPr/>
        </p:nvSpPr>
        <p:spPr>
          <a:xfrm>
            <a:off x="6681709" y="4245956"/>
            <a:ext cx="1261884" cy="307777"/>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zh-TW" altLang="en-US" sz="1400" dirty="0">
                <a:latin typeface="微軟正黑體" panose="020B0604030504040204" pitchFamily="34" charset="-120"/>
                <a:ea typeface="微軟正黑體" panose="020B0604030504040204" pitchFamily="34" charset="-120"/>
              </a:rPr>
              <a:t>健康管理系統</a:t>
            </a:r>
          </a:p>
        </p:txBody>
      </p:sp>
      <p:sp>
        <p:nvSpPr>
          <p:cNvPr id="26" name="文字方塊 25"/>
          <p:cNvSpPr txBox="1"/>
          <p:nvPr/>
        </p:nvSpPr>
        <p:spPr>
          <a:xfrm>
            <a:off x="3691299" y="4515133"/>
            <a:ext cx="1261884" cy="307777"/>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zh-TW" altLang="en-US" sz="1400" dirty="0">
                <a:latin typeface="微軟正黑體" panose="020B0604030504040204" pitchFamily="34" charset="-120"/>
                <a:ea typeface="微軟正黑體" panose="020B0604030504040204" pitchFamily="34" charset="-120"/>
              </a:rPr>
              <a:t>汽車共享系統</a:t>
            </a:r>
          </a:p>
        </p:txBody>
      </p:sp>
      <p:sp>
        <p:nvSpPr>
          <p:cNvPr id="27" name="文字方塊 26"/>
          <p:cNvSpPr txBox="1"/>
          <p:nvPr/>
        </p:nvSpPr>
        <p:spPr>
          <a:xfrm>
            <a:off x="1974536" y="3719552"/>
            <a:ext cx="1261884" cy="307777"/>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zh-TW" altLang="en-US" sz="1400" dirty="0">
                <a:latin typeface="微軟正黑體" panose="020B0604030504040204" pitchFamily="34" charset="-120"/>
                <a:ea typeface="微軟正黑體" panose="020B0604030504040204" pitchFamily="34" charset="-120"/>
              </a:rPr>
              <a:t>影音通話系統</a:t>
            </a:r>
          </a:p>
        </p:txBody>
      </p:sp>
      <p:sp>
        <p:nvSpPr>
          <p:cNvPr id="28" name="文字方塊 27"/>
          <p:cNvSpPr txBox="1"/>
          <p:nvPr/>
        </p:nvSpPr>
        <p:spPr>
          <a:xfrm>
            <a:off x="872892" y="1195407"/>
            <a:ext cx="1441420" cy="307777"/>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zh-TW" altLang="en-US" sz="1400" dirty="0">
                <a:latin typeface="微軟正黑體" panose="020B0604030504040204" pitchFamily="34" charset="-120"/>
                <a:ea typeface="微軟正黑體" panose="020B0604030504040204" pitchFamily="34" charset="-120"/>
              </a:rPr>
              <a:t>停車位管理系統</a:t>
            </a:r>
          </a:p>
        </p:txBody>
      </p:sp>
      <p:sp>
        <p:nvSpPr>
          <p:cNvPr id="29" name="文字方塊 28"/>
          <p:cNvSpPr txBox="1"/>
          <p:nvPr/>
        </p:nvSpPr>
        <p:spPr>
          <a:xfrm>
            <a:off x="5488241" y="3221071"/>
            <a:ext cx="1261884" cy="307777"/>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zh-TW" altLang="en-US" sz="1400" dirty="0">
                <a:latin typeface="微軟正黑體" panose="020B0604030504040204" pitchFamily="34" charset="-120"/>
                <a:ea typeface="微軟正黑體" panose="020B0604030504040204" pitchFamily="34" charset="-120"/>
              </a:rPr>
              <a:t>行動支付系統</a:t>
            </a:r>
          </a:p>
        </p:txBody>
      </p:sp>
      <p:pic>
        <p:nvPicPr>
          <p:cNvPr id="30" name="Picture 2" descr="Kid, School Boy, Toddler, Kids, School, Education"/>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5814624" y="4862946"/>
            <a:ext cx="1745433" cy="1745433"/>
          </a:xfrm>
          <a:prstGeom prst="rect">
            <a:avLst/>
          </a:prstGeom>
          <a:noFill/>
          <a:extLst>
            <a:ext uri="{909E8E84-426E-40DD-AFC4-6F175D3DCCD1}">
              <a14:hiddenFill xmlns:a14="http://schemas.microsoft.com/office/drawing/2010/main">
                <a:solidFill>
                  <a:srgbClr val="FFFFFF"/>
                </a:solidFill>
              </a14:hiddenFill>
            </a:ext>
          </a:extLst>
        </p:spPr>
      </p:pic>
      <p:sp>
        <p:nvSpPr>
          <p:cNvPr id="31" name="投影片編號版面配置區 3"/>
          <p:cNvSpPr txBox="1">
            <a:spLocks/>
          </p:cNvSpPr>
          <p:nvPr/>
        </p:nvSpPr>
        <p:spPr>
          <a:xfrm>
            <a:off x="6952671" y="6448510"/>
            <a:ext cx="2133600"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rgbClr val="6699FF"/>
                </a:solidFill>
                <a:latin typeface="Adobe 繁黑體 Std B"/>
                <a:ea typeface="Adobe 繁黑體 Std B"/>
                <a:cs typeface="Adobe 繁黑體 Std B"/>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D2D507-09EA-4C6F-96ED-053C801F8797}" type="slidenum">
              <a:rPr lang="zh-TW" altLang="en-US" smtClean="0"/>
              <a:pPr/>
              <a:t>10</a:t>
            </a:fld>
            <a:endParaRPr lang="zh-TW" altLang="en-US" dirty="0"/>
          </a:p>
        </p:txBody>
      </p:sp>
      <p:sp>
        <p:nvSpPr>
          <p:cNvPr id="8" name="矩形 7">
            <a:extLst>
              <a:ext uri="{FF2B5EF4-FFF2-40B4-BE49-F238E27FC236}">
                <a16:creationId xmlns:a16="http://schemas.microsoft.com/office/drawing/2014/main" id="{78A45FB3-36A6-3ADB-177D-28182E903865}"/>
              </a:ext>
            </a:extLst>
          </p:cNvPr>
          <p:cNvSpPr/>
          <p:nvPr/>
        </p:nvSpPr>
        <p:spPr>
          <a:xfrm>
            <a:off x="3736069" y="6021288"/>
            <a:ext cx="475891" cy="743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373723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 name="表格 110"/>
          <p:cNvGraphicFramePr>
            <a:graphicFrameLocks noGrp="1"/>
          </p:cNvGraphicFramePr>
          <p:nvPr>
            <p:extLst>
              <p:ext uri="{D42A27DB-BD31-4B8C-83A1-F6EECF244321}">
                <p14:modId xmlns:p14="http://schemas.microsoft.com/office/powerpoint/2010/main" val="1000164704"/>
              </p:ext>
            </p:extLst>
          </p:nvPr>
        </p:nvGraphicFramePr>
        <p:xfrm>
          <a:off x="4596318" y="5813627"/>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醫療</a:t>
                      </a:r>
                    </a:p>
                  </a:txBody>
                  <a:tcPr>
                    <a:gradFill flip="none" rotWithShape="1">
                      <a:gsLst>
                        <a:gs pos="0">
                          <a:srgbClr val="6699FF">
                            <a:tint val="66000"/>
                            <a:satMod val="160000"/>
                          </a:srgbClr>
                        </a:gs>
                        <a:gs pos="50000">
                          <a:srgbClr val="6699FF">
                            <a:tint val="44500"/>
                            <a:satMod val="160000"/>
                          </a:srgbClr>
                        </a:gs>
                        <a:gs pos="100000">
                          <a:srgbClr val="6699FF">
                            <a:tint val="23500"/>
                            <a:satMod val="160000"/>
                          </a:srgbClr>
                        </a:gs>
                      </a:gsLst>
                      <a:lin ang="2700000" scaled="1"/>
                      <a:tileRect/>
                    </a:gra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病歷資料共享系統</a:t>
                      </a:r>
                    </a:p>
                  </a:txBody>
                  <a:tcPr/>
                </a:tc>
                <a:extLst>
                  <a:ext uri="{0D108BD9-81ED-4DB2-BD59-A6C34878D82A}">
                    <a16:rowId xmlns:a16="http://schemas.microsoft.com/office/drawing/2014/main" val="10001"/>
                  </a:ext>
                </a:extLst>
              </a:tr>
            </a:tbl>
          </a:graphicData>
        </a:graphic>
      </p:graphicFrame>
      <p:grpSp>
        <p:nvGrpSpPr>
          <p:cNvPr id="6" name="群組 5"/>
          <p:cNvGrpSpPr/>
          <p:nvPr/>
        </p:nvGrpSpPr>
        <p:grpSpPr>
          <a:xfrm>
            <a:off x="1537154" y="1911893"/>
            <a:ext cx="5822971" cy="3706705"/>
            <a:chOff x="1467036" y="1954543"/>
            <a:chExt cx="5822971" cy="3706705"/>
          </a:xfrm>
        </p:grpSpPr>
        <p:sp>
          <p:nvSpPr>
            <p:cNvPr id="8" name="Cloud"/>
            <p:cNvSpPr>
              <a:spLocks noChangeAspect="1" noEditPoints="1" noChangeArrowheads="1"/>
            </p:cNvSpPr>
            <p:nvPr/>
          </p:nvSpPr>
          <p:spPr bwMode="auto">
            <a:xfrm rot="675075">
              <a:off x="1467036" y="1954543"/>
              <a:ext cx="5822971" cy="370670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DEF0F2"/>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zh-TW" altLang="en-US" dirty="0"/>
            </a:p>
          </p:txBody>
        </p:sp>
        <p:sp>
          <p:nvSpPr>
            <p:cNvPr id="5" name="橢圓 4"/>
            <p:cNvSpPr/>
            <p:nvPr/>
          </p:nvSpPr>
          <p:spPr>
            <a:xfrm>
              <a:off x="2269590" y="3377186"/>
              <a:ext cx="931537" cy="8604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物聯網</a:t>
              </a:r>
            </a:p>
          </p:txBody>
        </p:sp>
        <p:sp>
          <p:nvSpPr>
            <p:cNvPr id="13" name="橢圓 12"/>
            <p:cNvSpPr/>
            <p:nvPr/>
          </p:nvSpPr>
          <p:spPr>
            <a:xfrm>
              <a:off x="3761627" y="3367558"/>
              <a:ext cx="931537" cy="86047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大數據</a:t>
              </a:r>
            </a:p>
          </p:txBody>
        </p:sp>
        <p:sp>
          <p:nvSpPr>
            <p:cNvPr id="14" name="橢圓 13"/>
            <p:cNvSpPr/>
            <p:nvPr/>
          </p:nvSpPr>
          <p:spPr>
            <a:xfrm>
              <a:off x="3766663" y="4593961"/>
              <a:ext cx="931537" cy="8604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雲端運算</a:t>
              </a:r>
            </a:p>
          </p:txBody>
        </p:sp>
        <p:sp>
          <p:nvSpPr>
            <p:cNvPr id="15" name="橢圓 14"/>
            <p:cNvSpPr/>
            <p:nvPr/>
          </p:nvSpPr>
          <p:spPr>
            <a:xfrm>
              <a:off x="5250522" y="3283386"/>
              <a:ext cx="931537" cy="8604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區塊鏈</a:t>
              </a:r>
            </a:p>
          </p:txBody>
        </p:sp>
        <p:sp>
          <p:nvSpPr>
            <p:cNvPr id="16" name="橢圓 15"/>
            <p:cNvSpPr/>
            <p:nvPr/>
          </p:nvSpPr>
          <p:spPr>
            <a:xfrm>
              <a:off x="3737306" y="2115908"/>
              <a:ext cx="931537" cy="8604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人工智慧</a:t>
              </a:r>
            </a:p>
          </p:txBody>
        </p:sp>
      </p:grpSp>
      <p:sp>
        <p:nvSpPr>
          <p:cNvPr id="2" name="標題 1"/>
          <p:cNvSpPr>
            <a:spLocks noGrp="1"/>
          </p:cNvSpPr>
          <p:nvPr>
            <p:ph type="title"/>
          </p:nvPr>
        </p:nvSpPr>
        <p:spPr/>
        <p:txBody>
          <a:bodyPr/>
          <a:lstStyle/>
          <a:p>
            <a:r>
              <a:rPr lang="zh-TW" altLang="en-US" dirty="0"/>
              <a:t>軟體專利特性特性</a:t>
            </a:r>
          </a:p>
        </p:txBody>
      </p:sp>
      <p:sp>
        <p:nvSpPr>
          <p:cNvPr id="3" name="投影片編號版面配置區 2"/>
          <p:cNvSpPr>
            <a:spLocks noGrp="1"/>
          </p:cNvSpPr>
          <p:nvPr>
            <p:ph type="sldNum" sz="quarter" idx="12"/>
          </p:nvPr>
        </p:nvSpPr>
        <p:spPr/>
        <p:txBody>
          <a:bodyPr/>
          <a:lstStyle/>
          <a:p>
            <a:fld id="{51D2D507-09EA-4C6F-96ED-053C801F8797}" type="slidenum">
              <a:rPr lang="zh-TW" altLang="en-US" smtClean="0"/>
              <a:t>11</a:t>
            </a:fld>
            <a:endParaRPr lang="zh-TW" altLang="en-US"/>
          </a:p>
        </p:txBody>
      </p:sp>
      <p:grpSp>
        <p:nvGrpSpPr>
          <p:cNvPr id="20" name="群組 19"/>
          <p:cNvGrpSpPr/>
          <p:nvPr/>
        </p:nvGrpSpPr>
        <p:grpSpPr>
          <a:xfrm>
            <a:off x="2956948" y="1744301"/>
            <a:ext cx="421374" cy="406462"/>
            <a:chOff x="2053624" y="1429592"/>
            <a:chExt cx="421374" cy="406462"/>
          </a:xfrm>
        </p:grpSpPr>
        <p:sp>
          <p:nvSpPr>
            <p:cNvPr id="17" name="橢圓 16"/>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橢圓 18"/>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1" name="群組 20"/>
          <p:cNvGrpSpPr/>
          <p:nvPr/>
        </p:nvGrpSpPr>
        <p:grpSpPr>
          <a:xfrm rot="5051055">
            <a:off x="5456195" y="1780990"/>
            <a:ext cx="421374" cy="406462"/>
            <a:chOff x="2053624" y="1429592"/>
            <a:chExt cx="421374" cy="406462"/>
          </a:xfrm>
        </p:grpSpPr>
        <p:sp>
          <p:nvSpPr>
            <p:cNvPr id="22" name="橢圓 21"/>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60" name="表格 59"/>
          <p:cNvGraphicFramePr>
            <a:graphicFrameLocks noGrp="1"/>
          </p:cNvGraphicFramePr>
          <p:nvPr>
            <p:extLst>
              <p:ext uri="{D42A27DB-BD31-4B8C-83A1-F6EECF244321}">
                <p14:modId xmlns:p14="http://schemas.microsoft.com/office/powerpoint/2010/main" val="2573877587"/>
              </p:ext>
            </p:extLst>
          </p:nvPr>
        </p:nvGraphicFramePr>
        <p:xfrm>
          <a:off x="6152336" y="5576235"/>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醫療</a:t>
                      </a:r>
                    </a:p>
                  </a:txBody>
                  <a:tcPr>
                    <a:gradFill flip="none" rotWithShape="1">
                      <a:gsLst>
                        <a:gs pos="0">
                          <a:srgbClr val="6699FF">
                            <a:tint val="66000"/>
                            <a:satMod val="160000"/>
                          </a:srgbClr>
                        </a:gs>
                        <a:gs pos="50000">
                          <a:srgbClr val="6699FF">
                            <a:tint val="44500"/>
                            <a:satMod val="160000"/>
                          </a:srgbClr>
                        </a:gs>
                        <a:gs pos="100000">
                          <a:srgbClr val="6699FF">
                            <a:tint val="23500"/>
                            <a:satMod val="160000"/>
                          </a:srgbClr>
                        </a:gs>
                      </a:gsLst>
                      <a:lin ang="2700000" scaled="1"/>
                      <a:tileRect/>
                    </a:gra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神經認知功能評估系統</a:t>
                      </a:r>
                    </a:p>
                  </a:txBody>
                  <a:tcPr/>
                </a:tc>
                <a:extLst>
                  <a:ext uri="{0D108BD9-81ED-4DB2-BD59-A6C34878D82A}">
                    <a16:rowId xmlns:a16="http://schemas.microsoft.com/office/drawing/2014/main" val="10001"/>
                  </a:ext>
                </a:extLst>
              </a:tr>
            </a:tbl>
          </a:graphicData>
        </a:graphic>
      </p:graphicFrame>
      <p:graphicFrame>
        <p:nvGraphicFramePr>
          <p:cNvPr id="61" name="表格 60"/>
          <p:cNvGraphicFramePr>
            <a:graphicFrameLocks noGrp="1"/>
          </p:cNvGraphicFramePr>
          <p:nvPr>
            <p:extLst>
              <p:ext uri="{D42A27DB-BD31-4B8C-83A1-F6EECF244321}">
                <p14:modId xmlns:p14="http://schemas.microsoft.com/office/powerpoint/2010/main" val="154665065"/>
              </p:ext>
            </p:extLst>
          </p:nvPr>
        </p:nvGraphicFramePr>
        <p:xfrm>
          <a:off x="6570627" y="1475423"/>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交通</a:t>
                      </a:r>
                    </a:p>
                  </a:txBody>
                  <a:tcPr>
                    <a:gradFill flip="none" rotWithShape="1">
                      <a:gsLst>
                        <a:gs pos="0">
                          <a:srgbClr val="6699FF">
                            <a:tint val="66000"/>
                            <a:satMod val="160000"/>
                          </a:srgbClr>
                        </a:gs>
                        <a:gs pos="50000">
                          <a:srgbClr val="6699FF">
                            <a:tint val="44500"/>
                            <a:satMod val="160000"/>
                          </a:srgbClr>
                        </a:gs>
                        <a:gs pos="100000">
                          <a:srgbClr val="6699FF">
                            <a:tint val="23500"/>
                            <a:satMod val="160000"/>
                          </a:srgbClr>
                        </a:gs>
                      </a:gsLst>
                      <a:lin ang="2700000" scaled="1"/>
                      <a:tileRect/>
                    </a:gra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車流估算系統</a:t>
                      </a:r>
                    </a:p>
                  </a:txBody>
                  <a:tcPr/>
                </a:tc>
                <a:extLst>
                  <a:ext uri="{0D108BD9-81ED-4DB2-BD59-A6C34878D82A}">
                    <a16:rowId xmlns:a16="http://schemas.microsoft.com/office/drawing/2014/main" val="10001"/>
                  </a:ext>
                </a:extLst>
              </a:tr>
            </a:tbl>
          </a:graphicData>
        </a:graphic>
      </p:graphicFrame>
      <p:grpSp>
        <p:nvGrpSpPr>
          <p:cNvPr id="62" name="群組 61"/>
          <p:cNvGrpSpPr/>
          <p:nvPr/>
        </p:nvGrpSpPr>
        <p:grpSpPr>
          <a:xfrm rot="5051055">
            <a:off x="6783183" y="2285990"/>
            <a:ext cx="383744" cy="386463"/>
            <a:chOff x="2053624" y="1429592"/>
            <a:chExt cx="421374" cy="406462"/>
          </a:xfrm>
        </p:grpSpPr>
        <p:sp>
          <p:nvSpPr>
            <p:cNvPr id="63" name="橢圓 62"/>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橢圓 63"/>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橢圓 64"/>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66" name="表格 65"/>
          <p:cNvGraphicFramePr>
            <a:graphicFrameLocks noGrp="1"/>
          </p:cNvGraphicFramePr>
          <p:nvPr>
            <p:extLst>
              <p:ext uri="{D42A27DB-BD31-4B8C-83A1-F6EECF244321}">
                <p14:modId xmlns:p14="http://schemas.microsoft.com/office/powerpoint/2010/main" val="3608627453"/>
              </p:ext>
            </p:extLst>
          </p:nvPr>
        </p:nvGraphicFramePr>
        <p:xfrm>
          <a:off x="7514741" y="4776545"/>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監控</a:t>
                      </a:r>
                    </a:p>
                  </a:txBody>
                  <a:tcPr>
                    <a:gradFill flip="none" rotWithShape="1">
                      <a:gsLst>
                        <a:gs pos="0">
                          <a:srgbClr val="6699FF">
                            <a:tint val="66000"/>
                            <a:satMod val="160000"/>
                          </a:srgbClr>
                        </a:gs>
                        <a:gs pos="50000">
                          <a:srgbClr val="6699FF">
                            <a:tint val="44500"/>
                            <a:satMod val="160000"/>
                          </a:srgbClr>
                        </a:gs>
                        <a:gs pos="100000">
                          <a:srgbClr val="6699FF">
                            <a:tint val="23500"/>
                            <a:satMod val="160000"/>
                          </a:srgbClr>
                        </a:gs>
                      </a:gsLst>
                      <a:lin ang="2700000" scaled="1"/>
                      <a:tileRect/>
                    </a:gra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無人機監視系統</a:t>
                      </a:r>
                    </a:p>
                  </a:txBody>
                  <a:tcPr/>
                </a:tc>
                <a:extLst>
                  <a:ext uri="{0D108BD9-81ED-4DB2-BD59-A6C34878D82A}">
                    <a16:rowId xmlns:a16="http://schemas.microsoft.com/office/drawing/2014/main" val="10001"/>
                  </a:ext>
                </a:extLst>
              </a:tr>
            </a:tbl>
          </a:graphicData>
        </a:graphic>
      </p:graphicFrame>
      <p:grpSp>
        <p:nvGrpSpPr>
          <p:cNvPr id="67" name="群組 66"/>
          <p:cNvGrpSpPr/>
          <p:nvPr/>
        </p:nvGrpSpPr>
        <p:grpSpPr>
          <a:xfrm rot="2209894">
            <a:off x="4219964" y="1658566"/>
            <a:ext cx="421374" cy="406462"/>
            <a:chOff x="2053624" y="1429592"/>
            <a:chExt cx="421374" cy="406462"/>
          </a:xfrm>
        </p:grpSpPr>
        <p:sp>
          <p:nvSpPr>
            <p:cNvPr id="68" name="橢圓 67"/>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橢圓 68"/>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橢圓 69"/>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71" name="表格 70"/>
          <p:cNvGraphicFramePr>
            <a:graphicFrameLocks noGrp="1"/>
          </p:cNvGraphicFramePr>
          <p:nvPr>
            <p:extLst>
              <p:ext uri="{D42A27DB-BD31-4B8C-83A1-F6EECF244321}">
                <p14:modId xmlns:p14="http://schemas.microsoft.com/office/powerpoint/2010/main" val="2711690895"/>
              </p:ext>
            </p:extLst>
          </p:nvPr>
        </p:nvGraphicFramePr>
        <p:xfrm>
          <a:off x="3817037" y="818862"/>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商業</a:t>
                      </a:r>
                    </a:p>
                  </a:txBody>
                  <a:tcPr>
                    <a:solidFill>
                      <a:schemeClr val="accent6">
                        <a:lumMod val="40000"/>
                        <a:lumOff val="60000"/>
                      </a:schemeClr>
                    </a:soli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無人商店管理系統</a:t>
                      </a:r>
                    </a:p>
                  </a:txBody>
                  <a:tcPr/>
                </a:tc>
                <a:extLst>
                  <a:ext uri="{0D108BD9-81ED-4DB2-BD59-A6C34878D82A}">
                    <a16:rowId xmlns:a16="http://schemas.microsoft.com/office/drawing/2014/main" val="10001"/>
                  </a:ext>
                </a:extLst>
              </a:tr>
            </a:tbl>
          </a:graphicData>
        </a:graphic>
      </p:graphicFrame>
      <p:graphicFrame>
        <p:nvGraphicFramePr>
          <p:cNvPr id="72" name="表格 71"/>
          <p:cNvGraphicFramePr>
            <a:graphicFrameLocks noGrp="1"/>
          </p:cNvGraphicFramePr>
          <p:nvPr>
            <p:extLst>
              <p:ext uri="{D42A27DB-BD31-4B8C-83A1-F6EECF244321}">
                <p14:modId xmlns:p14="http://schemas.microsoft.com/office/powerpoint/2010/main" val="3672577535"/>
              </p:ext>
            </p:extLst>
          </p:nvPr>
        </p:nvGraphicFramePr>
        <p:xfrm>
          <a:off x="7685436" y="2635497"/>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農業</a:t>
                      </a:r>
                    </a:p>
                  </a:txBody>
                  <a:tcPr>
                    <a:gradFill flip="none" rotWithShape="1">
                      <a:gsLst>
                        <a:gs pos="0">
                          <a:srgbClr val="6699FF">
                            <a:tint val="66000"/>
                            <a:satMod val="160000"/>
                          </a:srgbClr>
                        </a:gs>
                        <a:gs pos="50000">
                          <a:srgbClr val="6699FF">
                            <a:tint val="44500"/>
                            <a:satMod val="160000"/>
                          </a:srgbClr>
                        </a:gs>
                        <a:gs pos="100000">
                          <a:srgbClr val="6699FF">
                            <a:tint val="23500"/>
                            <a:satMod val="160000"/>
                          </a:srgbClr>
                        </a:gs>
                      </a:gsLst>
                      <a:lin ang="2700000" scaled="1"/>
                      <a:tileRect/>
                    </a:gra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咖啡栽培環境檢測系統</a:t>
                      </a:r>
                    </a:p>
                  </a:txBody>
                  <a:tcPr/>
                </a:tc>
                <a:extLst>
                  <a:ext uri="{0D108BD9-81ED-4DB2-BD59-A6C34878D82A}">
                    <a16:rowId xmlns:a16="http://schemas.microsoft.com/office/drawing/2014/main" val="10001"/>
                  </a:ext>
                </a:extLst>
              </a:tr>
            </a:tbl>
          </a:graphicData>
        </a:graphic>
      </p:graphicFrame>
      <p:grpSp>
        <p:nvGrpSpPr>
          <p:cNvPr id="73" name="群組 72"/>
          <p:cNvGrpSpPr/>
          <p:nvPr/>
        </p:nvGrpSpPr>
        <p:grpSpPr>
          <a:xfrm rot="7323729">
            <a:off x="7193498" y="2878104"/>
            <a:ext cx="383744" cy="386463"/>
            <a:chOff x="2053624" y="1429592"/>
            <a:chExt cx="421374" cy="406462"/>
          </a:xfrm>
        </p:grpSpPr>
        <p:sp>
          <p:nvSpPr>
            <p:cNvPr id="74" name="橢圓 73"/>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橢圓 74"/>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橢圓 75"/>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77" name="表格 76"/>
          <p:cNvGraphicFramePr>
            <a:graphicFrameLocks noGrp="1"/>
          </p:cNvGraphicFramePr>
          <p:nvPr>
            <p:extLst>
              <p:ext uri="{D42A27DB-BD31-4B8C-83A1-F6EECF244321}">
                <p14:modId xmlns:p14="http://schemas.microsoft.com/office/powerpoint/2010/main" val="3495030523"/>
              </p:ext>
            </p:extLst>
          </p:nvPr>
        </p:nvGraphicFramePr>
        <p:xfrm>
          <a:off x="7767517" y="3728782"/>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照護</a:t>
                      </a:r>
                    </a:p>
                  </a:txBody>
                  <a:tcPr>
                    <a:gradFill flip="none" rotWithShape="1">
                      <a:gsLst>
                        <a:gs pos="0">
                          <a:srgbClr val="6699FF">
                            <a:tint val="66000"/>
                            <a:satMod val="160000"/>
                          </a:srgbClr>
                        </a:gs>
                        <a:gs pos="50000">
                          <a:srgbClr val="6699FF">
                            <a:tint val="44500"/>
                            <a:satMod val="160000"/>
                          </a:srgbClr>
                        </a:gs>
                        <a:gs pos="100000">
                          <a:srgbClr val="6699FF">
                            <a:tint val="23500"/>
                            <a:satMod val="160000"/>
                          </a:srgbClr>
                        </a:gs>
                      </a:gsLst>
                      <a:lin ang="2700000" scaled="1"/>
                      <a:tileRect/>
                    </a:gra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照護通報平台</a:t>
                      </a:r>
                    </a:p>
                  </a:txBody>
                  <a:tcPr/>
                </a:tc>
                <a:extLst>
                  <a:ext uri="{0D108BD9-81ED-4DB2-BD59-A6C34878D82A}">
                    <a16:rowId xmlns:a16="http://schemas.microsoft.com/office/drawing/2014/main" val="10001"/>
                  </a:ext>
                </a:extLst>
              </a:tr>
            </a:tbl>
          </a:graphicData>
        </a:graphic>
      </p:graphicFrame>
      <p:grpSp>
        <p:nvGrpSpPr>
          <p:cNvPr id="78" name="群組 77"/>
          <p:cNvGrpSpPr/>
          <p:nvPr/>
        </p:nvGrpSpPr>
        <p:grpSpPr>
          <a:xfrm rot="9685827">
            <a:off x="7304800" y="3864064"/>
            <a:ext cx="383744" cy="386463"/>
            <a:chOff x="2053624" y="1429592"/>
            <a:chExt cx="421374" cy="406462"/>
          </a:xfrm>
        </p:grpSpPr>
        <p:sp>
          <p:nvSpPr>
            <p:cNvPr id="79" name="橢圓 78"/>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橢圓 79"/>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82" name="表格 81"/>
          <p:cNvGraphicFramePr>
            <a:graphicFrameLocks noGrp="1"/>
          </p:cNvGraphicFramePr>
          <p:nvPr>
            <p:extLst>
              <p:ext uri="{D42A27DB-BD31-4B8C-83A1-F6EECF244321}">
                <p14:modId xmlns:p14="http://schemas.microsoft.com/office/powerpoint/2010/main" val="3238153225"/>
              </p:ext>
            </p:extLst>
          </p:nvPr>
        </p:nvGraphicFramePr>
        <p:xfrm>
          <a:off x="115691" y="3237546"/>
          <a:ext cx="1190920" cy="103632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保險</a:t>
                      </a:r>
                    </a:p>
                  </a:txBody>
                  <a:tcPr>
                    <a:solidFill>
                      <a:schemeClr val="accent6">
                        <a:lumMod val="40000"/>
                        <a:lumOff val="60000"/>
                      </a:schemeClr>
                    </a:soli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海外旅遊不變險理賠系統</a:t>
                      </a:r>
                    </a:p>
                  </a:txBody>
                  <a:tcPr/>
                </a:tc>
                <a:extLst>
                  <a:ext uri="{0D108BD9-81ED-4DB2-BD59-A6C34878D82A}">
                    <a16:rowId xmlns:a16="http://schemas.microsoft.com/office/drawing/2014/main" val="10001"/>
                  </a:ext>
                </a:extLst>
              </a:tr>
            </a:tbl>
          </a:graphicData>
        </a:graphic>
      </p:graphicFrame>
      <p:grpSp>
        <p:nvGrpSpPr>
          <p:cNvPr id="83" name="群組 82"/>
          <p:cNvGrpSpPr/>
          <p:nvPr/>
        </p:nvGrpSpPr>
        <p:grpSpPr>
          <a:xfrm>
            <a:off x="1827378" y="1919509"/>
            <a:ext cx="421374" cy="406462"/>
            <a:chOff x="2053624" y="1429592"/>
            <a:chExt cx="421374" cy="406462"/>
          </a:xfrm>
        </p:grpSpPr>
        <p:sp>
          <p:nvSpPr>
            <p:cNvPr id="84" name="橢圓 83"/>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橢圓 85"/>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87" name="表格 86"/>
          <p:cNvGraphicFramePr>
            <a:graphicFrameLocks noGrp="1"/>
          </p:cNvGraphicFramePr>
          <p:nvPr>
            <p:extLst>
              <p:ext uri="{D42A27DB-BD31-4B8C-83A1-F6EECF244321}">
                <p14:modId xmlns:p14="http://schemas.microsoft.com/office/powerpoint/2010/main" val="3789109639"/>
              </p:ext>
            </p:extLst>
          </p:nvPr>
        </p:nvGraphicFramePr>
        <p:xfrm>
          <a:off x="2383439" y="951475"/>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商業</a:t>
                      </a:r>
                    </a:p>
                  </a:txBody>
                  <a:tcPr>
                    <a:solidFill>
                      <a:schemeClr val="accent6">
                        <a:lumMod val="40000"/>
                        <a:lumOff val="60000"/>
                      </a:schemeClr>
                    </a:soli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紅利點數管理系統</a:t>
                      </a:r>
                    </a:p>
                  </a:txBody>
                  <a:tcPr/>
                </a:tc>
                <a:extLst>
                  <a:ext uri="{0D108BD9-81ED-4DB2-BD59-A6C34878D82A}">
                    <a16:rowId xmlns:a16="http://schemas.microsoft.com/office/drawing/2014/main" val="10001"/>
                  </a:ext>
                </a:extLst>
              </a:tr>
            </a:tbl>
          </a:graphicData>
        </a:graphic>
      </p:graphicFrame>
      <p:grpSp>
        <p:nvGrpSpPr>
          <p:cNvPr id="88" name="群組 87"/>
          <p:cNvGrpSpPr/>
          <p:nvPr/>
        </p:nvGrpSpPr>
        <p:grpSpPr>
          <a:xfrm rot="20429068">
            <a:off x="1367978" y="2581805"/>
            <a:ext cx="421374" cy="406462"/>
            <a:chOff x="2053624" y="1429592"/>
            <a:chExt cx="421374" cy="406462"/>
          </a:xfrm>
        </p:grpSpPr>
        <p:sp>
          <p:nvSpPr>
            <p:cNvPr id="89" name="橢圓 88"/>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橢圓 89"/>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橢圓 90"/>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92" name="表格 91"/>
          <p:cNvGraphicFramePr>
            <a:graphicFrameLocks noGrp="1"/>
          </p:cNvGraphicFramePr>
          <p:nvPr>
            <p:extLst>
              <p:ext uri="{D42A27DB-BD31-4B8C-83A1-F6EECF244321}">
                <p14:modId xmlns:p14="http://schemas.microsoft.com/office/powerpoint/2010/main" val="2388125169"/>
              </p:ext>
            </p:extLst>
          </p:nvPr>
        </p:nvGraphicFramePr>
        <p:xfrm>
          <a:off x="320720" y="4452122"/>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保險</a:t>
                      </a:r>
                    </a:p>
                  </a:txBody>
                  <a:tcPr>
                    <a:solidFill>
                      <a:schemeClr val="accent6">
                        <a:lumMod val="40000"/>
                        <a:lumOff val="60000"/>
                      </a:schemeClr>
                    </a:soli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保險核保系統</a:t>
                      </a:r>
                    </a:p>
                  </a:txBody>
                  <a:tcPr/>
                </a:tc>
                <a:extLst>
                  <a:ext uri="{0D108BD9-81ED-4DB2-BD59-A6C34878D82A}">
                    <a16:rowId xmlns:a16="http://schemas.microsoft.com/office/drawing/2014/main" val="10001"/>
                  </a:ext>
                </a:extLst>
              </a:tr>
            </a:tbl>
          </a:graphicData>
        </a:graphic>
      </p:graphicFrame>
      <p:grpSp>
        <p:nvGrpSpPr>
          <p:cNvPr id="93" name="群組 92"/>
          <p:cNvGrpSpPr/>
          <p:nvPr/>
        </p:nvGrpSpPr>
        <p:grpSpPr>
          <a:xfrm rot="10800000">
            <a:off x="7071678" y="4781973"/>
            <a:ext cx="383744" cy="386463"/>
            <a:chOff x="2053624" y="1429592"/>
            <a:chExt cx="421374" cy="406462"/>
          </a:xfrm>
        </p:grpSpPr>
        <p:sp>
          <p:nvSpPr>
            <p:cNvPr id="94" name="橢圓 93"/>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橢圓 94"/>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橢圓 95"/>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97" name="表格 96"/>
          <p:cNvGraphicFramePr>
            <a:graphicFrameLocks noGrp="1"/>
          </p:cNvGraphicFramePr>
          <p:nvPr>
            <p:extLst>
              <p:ext uri="{D42A27DB-BD31-4B8C-83A1-F6EECF244321}">
                <p14:modId xmlns:p14="http://schemas.microsoft.com/office/powerpoint/2010/main" val="2368477286"/>
              </p:ext>
            </p:extLst>
          </p:nvPr>
        </p:nvGraphicFramePr>
        <p:xfrm>
          <a:off x="5212649" y="951475"/>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餐飲</a:t>
                      </a:r>
                    </a:p>
                  </a:txBody>
                  <a:tcPr>
                    <a:solidFill>
                      <a:schemeClr val="accent6">
                        <a:lumMod val="40000"/>
                        <a:lumOff val="60000"/>
                      </a:schemeClr>
                    </a:soli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遠端訂餐系統</a:t>
                      </a:r>
                    </a:p>
                  </a:txBody>
                  <a:tcPr/>
                </a:tc>
                <a:extLst>
                  <a:ext uri="{0D108BD9-81ED-4DB2-BD59-A6C34878D82A}">
                    <a16:rowId xmlns:a16="http://schemas.microsoft.com/office/drawing/2014/main" val="10001"/>
                  </a:ext>
                </a:extLst>
              </a:tr>
            </a:tbl>
          </a:graphicData>
        </a:graphic>
      </p:graphicFrame>
      <p:grpSp>
        <p:nvGrpSpPr>
          <p:cNvPr id="98" name="群組 97"/>
          <p:cNvGrpSpPr/>
          <p:nvPr/>
        </p:nvGrpSpPr>
        <p:grpSpPr>
          <a:xfrm rot="17944104">
            <a:off x="1308499" y="3524405"/>
            <a:ext cx="421374" cy="406462"/>
            <a:chOff x="2053624" y="1429592"/>
            <a:chExt cx="421374" cy="406462"/>
          </a:xfrm>
        </p:grpSpPr>
        <p:sp>
          <p:nvSpPr>
            <p:cNvPr id="99" name="橢圓 98"/>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橢圓 99"/>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橢圓 100"/>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102" name="表格 101"/>
          <p:cNvGraphicFramePr>
            <a:graphicFrameLocks noGrp="1"/>
          </p:cNvGraphicFramePr>
          <p:nvPr>
            <p:extLst>
              <p:ext uri="{D42A27DB-BD31-4B8C-83A1-F6EECF244321}">
                <p14:modId xmlns:p14="http://schemas.microsoft.com/office/powerpoint/2010/main" val="2326739900"/>
              </p:ext>
            </p:extLst>
          </p:nvPr>
        </p:nvGraphicFramePr>
        <p:xfrm>
          <a:off x="969653" y="1096443"/>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商業</a:t>
                      </a:r>
                    </a:p>
                  </a:txBody>
                  <a:tcPr>
                    <a:solidFill>
                      <a:schemeClr val="accent6">
                        <a:lumMod val="40000"/>
                        <a:lumOff val="60000"/>
                      </a:schemeClr>
                    </a:soli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直播即時銷售系統</a:t>
                      </a:r>
                    </a:p>
                  </a:txBody>
                  <a:tcPr/>
                </a:tc>
                <a:extLst>
                  <a:ext uri="{0D108BD9-81ED-4DB2-BD59-A6C34878D82A}">
                    <a16:rowId xmlns:a16="http://schemas.microsoft.com/office/drawing/2014/main" val="10001"/>
                  </a:ext>
                </a:extLst>
              </a:tr>
            </a:tbl>
          </a:graphicData>
        </a:graphic>
      </p:graphicFrame>
      <p:grpSp>
        <p:nvGrpSpPr>
          <p:cNvPr id="103" name="群組 102"/>
          <p:cNvGrpSpPr/>
          <p:nvPr/>
        </p:nvGrpSpPr>
        <p:grpSpPr>
          <a:xfrm rot="12695318">
            <a:off x="6443243" y="5090975"/>
            <a:ext cx="383745" cy="401932"/>
            <a:chOff x="2053624" y="1429592"/>
            <a:chExt cx="421374" cy="406462"/>
          </a:xfrm>
        </p:grpSpPr>
        <p:sp>
          <p:nvSpPr>
            <p:cNvPr id="104" name="橢圓 103"/>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 name="橢圓 104"/>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橢圓 105"/>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7" name="群組 106"/>
          <p:cNvGrpSpPr/>
          <p:nvPr/>
        </p:nvGrpSpPr>
        <p:grpSpPr>
          <a:xfrm rot="13053211">
            <a:off x="4981580" y="5392383"/>
            <a:ext cx="383744" cy="386463"/>
            <a:chOff x="2053624" y="1429592"/>
            <a:chExt cx="421374" cy="406462"/>
          </a:xfrm>
        </p:grpSpPr>
        <p:sp>
          <p:nvSpPr>
            <p:cNvPr id="108" name="橢圓 107"/>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橢圓 108"/>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橢圓 109"/>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112" name="表格 111"/>
          <p:cNvGraphicFramePr>
            <a:graphicFrameLocks noGrp="1"/>
          </p:cNvGraphicFramePr>
          <p:nvPr>
            <p:extLst>
              <p:ext uri="{D42A27DB-BD31-4B8C-83A1-F6EECF244321}">
                <p14:modId xmlns:p14="http://schemas.microsoft.com/office/powerpoint/2010/main" val="1513258235"/>
              </p:ext>
            </p:extLst>
          </p:nvPr>
        </p:nvGraphicFramePr>
        <p:xfrm>
          <a:off x="1337114" y="5488640"/>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銀行</a:t>
                      </a:r>
                    </a:p>
                  </a:txBody>
                  <a:tcPr>
                    <a:solidFill>
                      <a:schemeClr val="accent6">
                        <a:lumMod val="40000"/>
                        <a:lumOff val="60000"/>
                      </a:schemeClr>
                    </a:soli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理財專員推薦系統</a:t>
                      </a:r>
                    </a:p>
                  </a:txBody>
                  <a:tcPr/>
                </a:tc>
                <a:extLst>
                  <a:ext uri="{0D108BD9-81ED-4DB2-BD59-A6C34878D82A}">
                    <a16:rowId xmlns:a16="http://schemas.microsoft.com/office/drawing/2014/main" val="10001"/>
                  </a:ext>
                </a:extLst>
              </a:tr>
            </a:tbl>
          </a:graphicData>
        </a:graphic>
      </p:graphicFrame>
      <p:grpSp>
        <p:nvGrpSpPr>
          <p:cNvPr id="113" name="群組 112"/>
          <p:cNvGrpSpPr/>
          <p:nvPr/>
        </p:nvGrpSpPr>
        <p:grpSpPr>
          <a:xfrm rot="17944104">
            <a:off x="1543739" y="4530569"/>
            <a:ext cx="421374" cy="406462"/>
            <a:chOff x="2053624" y="1429592"/>
            <a:chExt cx="421374" cy="406462"/>
          </a:xfrm>
        </p:grpSpPr>
        <p:sp>
          <p:nvSpPr>
            <p:cNvPr id="114" name="橢圓 113"/>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 name="橢圓 114"/>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橢圓 115"/>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117" name="表格 116"/>
          <p:cNvGraphicFramePr>
            <a:graphicFrameLocks noGrp="1"/>
          </p:cNvGraphicFramePr>
          <p:nvPr>
            <p:extLst>
              <p:ext uri="{D42A27DB-BD31-4B8C-83A1-F6EECF244321}">
                <p14:modId xmlns:p14="http://schemas.microsoft.com/office/powerpoint/2010/main" val="516843643"/>
              </p:ext>
            </p:extLst>
          </p:nvPr>
        </p:nvGraphicFramePr>
        <p:xfrm>
          <a:off x="147928" y="2169421"/>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商業</a:t>
                      </a:r>
                    </a:p>
                  </a:txBody>
                  <a:tcPr>
                    <a:solidFill>
                      <a:schemeClr val="accent6">
                        <a:lumMod val="40000"/>
                        <a:lumOff val="60000"/>
                      </a:schemeClr>
                    </a:soli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網路消費行銷系統</a:t>
                      </a:r>
                    </a:p>
                  </a:txBody>
                  <a:tcPr/>
                </a:tc>
                <a:extLst>
                  <a:ext uri="{0D108BD9-81ED-4DB2-BD59-A6C34878D82A}">
                    <a16:rowId xmlns:a16="http://schemas.microsoft.com/office/drawing/2014/main" val="10001"/>
                  </a:ext>
                </a:extLst>
              </a:tr>
            </a:tbl>
          </a:graphicData>
        </a:graphic>
      </p:graphicFrame>
      <p:grpSp>
        <p:nvGrpSpPr>
          <p:cNvPr id="118" name="群組 117"/>
          <p:cNvGrpSpPr/>
          <p:nvPr/>
        </p:nvGrpSpPr>
        <p:grpSpPr>
          <a:xfrm rot="15917756">
            <a:off x="1969992" y="4968838"/>
            <a:ext cx="421374" cy="406462"/>
            <a:chOff x="2053624" y="1429592"/>
            <a:chExt cx="421374" cy="406462"/>
          </a:xfrm>
        </p:grpSpPr>
        <p:sp>
          <p:nvSpPr>
            <p:cNvPr id="119" name="橢圓 118"/>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 name="橢圓 119"/>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 name="橢圓 120"/>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aphicFrame>
        <p:nvGraphicFramePr>
          <p:cNvPr id="122" name="表格 121"/>
          <p:cNvGraphicFramePr>
            <a:graphicFrameLocks noGrp="1"/>
          </p:cNvGraphicFramePr>
          <p:nvPr>
            <p:extLst>
              <p:ext uri="{D42A27DB-BD31-4B8C-83A1-F6EECF244321}">
                <p14:modId xmlns:p14="http://schemas.microsoft.com/office/powerpoint/2010/main" val="3215522551"/>
              </p:ext>
            </p:extLst>
          </p:nvPr>
        </p:nvGraphicFramePr>
        <p:xfrm>
          <a:off x="2841324" y="5782214"/>
          <a:ext cx="1190920" cy="822960"/>
        </p:xfrm>
        <a:graphic>
          <a:graphicData uri="http://schemas.openxmlformats.org/drawingml/2006/table">
            <a:tbl>
              <a:tblPr firstRow="1" bandRow="1">
                <a:tableStyleId>{5940675A-B579-460E-94D1-54222C63F5DA}</a:tableStyleId>
              </a:tblPr>
              <a:tblGrid>
                <a:gridCol w="1190920">
                  <a:extLst>
                    <a:ext uri="{9D8B030D-6E8A-4147-A177-3AD203B41FA5}">
                      <a16:colId xmlns:a16="http://schemas.microsoft.com/office/drawing/2014/main" val="20000"/>
                    </a:ext>
                  </a:extLst>
                </a:gridCol>
              </a:tblGrid>
              <a:tr h="209147">
                <a:tc>
                  <a:txBody>
                    <a:bodyPr/>
                    <a:lstStyle/>
                    <a:p>
                      <a:pPr algn="ctr"/>
                      <a:r>
                        <a:rPr lang="zh-TW" altLang="en-US" sz="1400" b="1" dirty="0">
                          <a:latin typeface="微軟正黑體" panose="020B0604030504040204" pitchFamily="34" charset="-120"/>
                          <a:ea typeface="微軟正黑體" panose="020B0604030504040204" pitchFamily="34" charset="-120"/>
                        </a:rPr>
                        <a:t>銀行</a:t>
                      </a:r>
                    </a:p>
                  </a:txBody>
                  <a:tcPr>
                    <a:solidFill>
                      <a:schemeClr val="accent6">
                        <a:lumMod val="40000"/>
                        <a:lumOff val="60000"/>
                      </a:schemeClr>
                    </a:solidFill>
                  </a:tcPr>
                </a:tc>
                <a:extLst>
                  <a:ext uri="{0D108BD9-81ED-4DB2-BD59-A6C34878D82A}">
                    <a16:rowId xmlns:a16="http://schemas.microsoft.com/office/drawing/2014/main" val="10000"/>
                  </a:ext>
                </a:extLst>
              </a:tr>
              <a:tr h="434960">
                <a:tc>
                  <a:txBody>
                    <a:bodyPr/>
                    <a:lstStyle/>
                    <a:p>
                      <a:r>
                        <a:rPr lang="zh-TW" altLang="en-US" sz="1400" dirty="0">
                          <a:latin typeface="微軟正黑體" panose="020B0604030504040204" pitchFamily="34" charset="-120"/>
                          <a:ea typeface="微軟正黑體" panose="020B0604030504040204" pitchFamily="34" charset="-120"/>
                        </a:rPr>
                        <a:t>信用資訊評價系統</a:t>
                      </a:r>
                    </a:p>
                  </a:txBody>
                  <a:tcPr/>
                </a:tc>
                <a:extLst>
                  <a:ext uri="{0D108BD9-81ED-4DB2-BD59-A6C34878D82A}">
                    <a16:rowId xmlns:a16="http://schemas.microsoft.com/office/drawing/2014/main" val="10001"/>
                  </a:ext>
                </a:extLst>
              </a:tr>
            </a:tbl>
          </a:graphicData>
        </a:graphic>
      </p:graphicFrame>
      <p:grpSp>
        <p:nvGrpSpPr>
          <p:cNvPr id="123" name="群組 122"/>
          <p:cNvGrpSpPr/>
          <p:nvPr/>
        </p:nvGrpSpPr>
        <p:grpSpPr>
          <a:xfrm rot="14843956">
            <a:off x="3165591" y="5337785"/>
            <a:ext cx="421374" cy="406462"/>
            <a:chOff x="2053624" y="1429592"/>
            <a:chExt cx="421374" cy="406462"/>
          </a:xfrm>
        </p:grpSpPr>
        <p:sp>
          <p:nvSpPr>
            <p:cNvPr id="124" name="橢圓 123"/>
            <p:cNvSpPr/>
            <p:nvPr/>
          </p:nvSpPr>
          <p:spPr>
            <a:xfrm>
              <a:off x="2053624" y="142959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 name="橢圓 124"/>
            <p:cNvSpPr/>
            <p:nvPr/>
          </p:nvSpPr>
          <p:spPr>
            <a:xfrm>
              <a:off x="2275287" y="1637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 name="橢圓 125"/>
            <p:cNvSpPr/>
            <p:nvPr/>
          </p:nvSpPr>
          <p:spPr>
            <a:xfrm>
              <a:off x="2438998" y="180005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4" name="上-下雙向箭號 53"/>
          <p:cNvSpPr/>
          <p:nvPr/>
        </p:nvSpPr>
        <p:spPr>
          <a:xfrm>
            <a:off x="4131936" y="2937285"/>
            <a:ext cx="302892" cy="386081"/>
          </a:xfrm>
          <a:prstGeom prst="up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33" name="上-下雙向箭號 132"/>
          <p:cNvSpPr/>
          <p:nvPr/>
        </p:nvSpPr>
        <p:spPr>
          <a:xfrm>
            <a:off x="4161886" y="4163063"/>
            <a:ext cx="302892" cy="386081"/>
          </a:xfrm>
          <a:prstGeom prst="up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35" name="上-下雙向箭號 134"/>
          <p:cNvSpPr/>
          <p:nvPr/>
        </p:nvSpPr>
        <p:spPr>
          <a:xfrm rot="19109054">
            <a:off x="3332278" y="4111718"/>
            <a:ext cx="406744" cy="713241"/>
          </a:xfrm>
          <a:prstGeom prst="up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37" name="上-下雙向箭號 136"/>
          <p:cNvSpPr/>
          <p:nvPr/>
        </p:nvSpPr>
        <p:spPr>
          <a:xfrm rot="2586902">
            <a:off x="5006097" y="4025704"/>
            <a:ext cx="406744" cy="713241"/>
          </a:xfrm>
          <a:prstGeom prst="up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38" name="上-下雙向箭號 137"/>
          <p:cNvSpPr/>
          <p:nvPr/>
        </p:nvSpPr>
        <p:spPr>
          <a:xfrm rot="16200000">
            <a:off x="3448354" y="3538704"/>
            <a:ext cx="302892" cy="386081"/>
          </a:xfrm>
          <a:prstGeom prst="up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39" name="上-下雙向箭號 138"/>
          <p:cNvSpPr/>
          <p:nvPr/>
        </p:nvSpPr>
        <p:spPr>
          <a:xfrm rot="16200000">
            <a:off x="4946763" y="3562106"/>
            <a:ext cx="302892" cy="386081"/>
          </a:xfrm>
          <a:prstGeom prst="up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40" name="上-下雙向箭號 139"/>
          <p:cNvSpPr/>
          <p:nvPr/>
        </p:nvSpPr>
        <p:spPr>
          <a:xfrm rot="7554543">
            <a:off x="4890634" y="2666710"/>
            <a:ext cx="406744" cy="713241"/>
          </a:xfrm>
          <a:prstGeom prst="up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43" name="上-下雙向箭號 142"/>
          <p:cNvSpPr/>
          <p:nvPr/>
        </p:nvSpPr>
        <p:spPr>
          <a:xfrm rot="2586902">
            <a:off x="3269861" y="2673914"/>
            <a:ext cx="406744" cy="713241"/>
          </a:xfrm>
          <a:prstGeom prst="up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1587710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軟體專利特性</a:t>
            </a:r>
          </a:p>
        </p:txBody>
      </p:sp>
      <p:sp>
        <p:nvSpPr>
          <p:cNvPr id="3" name="投影片編號版面配置區 2"/>
          <p:cNvSpPr>
            <a:spLocks noGrp="1"/>
          </p:cNvSpPr>
          <p:nvPr>
            <p:ph type="sldNum" sz="quarter" idx="12"/>
          </p:nvPr>
        </p:nvSpPr>
        <p:spPr/>
        <p:txBody>
          <a:bodyPr/>
          <a:lstStyle/>
          <a:p>
            <a:fld id="{51D2D507-09EA-4C6F-96ED-053C801F8797}" type="slidenum">
              <a:rPr lang="zh-TW" altLang="en-US" smtClean="0"/>
              <a:t>12</a:t>
            </a:fld>
            <a:endParaRPr lang="zh-TW" altLang="en-US"/>
          </a:p>
        </p:txBody>
      </p:sp>
      <p:sp>
        <p:nvSpPr>
          <p:cNvPr id="4" name="圓角矩形 3"/>
          <p:cNvSpPr/>
          <p:nvPr/>
        </p:nvSpPr>
        <p:spPr>
          <a:xfrm>
            <a:off x="1043608" y="4941168"/>
            <a:ext cx="7272808" cy="172819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即時及歷史健康相關資訊</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生物訊號、運動紀錄、病歷資料、天氣資訊</a:t>
            </a:r>
            <a:r>
              <a:rPr lang="en-US" altLang="zh-TW" dirty="0">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共享汽車資訊</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位置、使用者、時間</a:t>
            </a:r>
            <a:r>
              <a:rPr lang="en-US" altLang="zh-TW" dirty="0">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臉部影像資料、可信度歷史資料</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停車位即時資訊、停車偵測資訊</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消費資訊、交易連線資訊</a:t>
            </a:r>
          </a:p>
        </p:txBody>
      </p:sp>
      <p:sp>
        <p:nvSpPr>
          <p:cNvPr id="6" name="圓角矩形 5"/>
          <p:cNvSpPr/>
          <p:nvPr/>
        </p:nvSpPr>
        <p:spPr>
          <a:xfrm>
            <a:off x="1015328" y="2298255"/>
            <a:ext cx="3564396" cy="2448272"/>
          </a:xfrm>
          <a:prstGeom prst="roundRect">
            <a:avLst/>
          </a:prstGeom>
        </p:spPr>
        <p:style>
          <a:lnRef idx="1">
            <a:schemeClr val="accent6"/>
          </a:lnRef>
          <a:fillRef idx="2">
            <a:schemeClr val="accent6"/>
          </a:fillRef>
          <a:effectRef idx="1">
            <a:schemeClr val="accent6"/>
          </a:effectRef>
          <a:fontRef idx="minor">
            <a:schemeClr val="dk1"/>
          </a:fontRef>
        </p:style>
        <p:txBody>
          <a:bodyPr rtlCol="0" anchor="t"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資料存取規則</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人為規則</a:t>
            </a:r>
            <a:r>
              <a:rPr lang="en-US" altLang="zh-TW" dirty="0">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通用技術</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資料庫存取</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8" name="圓角矩形 7"/>
          <p:cNvSpPr/>
          <p:nvPr/>
        </p:nvSpPr>
        <p:spPr>
          <a:xfrm>
            <a:off x="4731818" y="2298255"/>
            <a:ext cx="3564396" cy="2448272"/>
          </a:xfrm>
          <a:prstGeom prst="roundRect">
            <a:avLst/>
          </a:prstGeom>
        </p:spPr>
        <p:style>
          <a:lnRef idx="1">
            <a:schemeClr val="accent4"/>
          </a:lnRef>
          <a:fillRef idx="2">
            <a:schemeClr val="accent4"/>
          </a:fillRef>
          <a:effectRef idx="1">
            <a:schemeClr val="accent4"/>
          </a:effectRef>
          <a:fontRef idx="minor">
            <a:schemeClr val="dk1"/>
          </a:fontRef>
        </p:style>
        <p:txBody>
          <a:bodyPr rtlCol="0" anchor="t" anchorCtr="0"/>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資料</a:t>
            </a:r>
            <a:r>
              <a:rPr lang="zh-TW" altLang="en-US" b="1" dirty="0">
                <a:solidFill>
                  <a:srgbClr val="FF0000"/>
                </a:solidFill>
                <a:latin typeface="微軟正黑體" panose="020B0604030504040204" pitchFamily="34" charset="-120"/>
                <a:ea typeface="微軟正黑體" panose="020B0604030504040204" pitchFamily="34" charset="-120"/>
              </a:rPr>
              <a:t>擷取</a:t>
            </a:r>
            <a:r>
              <a:rPr lang="zh-TW" altLang="en-US" dirty="0">
                <a:solidFill>
                  <a:schemeClr val="tx1"/>
                </a:solidFill>
                <a:latin typeface="微軟正黑體" panose="020B0604030504040204" pitchFamily="34" charset="-120"/>
                <a:ea typeface="微軟正黑體" panose="020B0604030504040204" pitchFamily="34" charset="-120"/>
              </a:rPr>
              <a:t>技術</a:t>
            </a:r>
            <a:endParaRPr lang="en-US" altLang="zh-TW" dirty="0">
              <a:solidFill>
                <a:schemeClr val="tx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資料</a:t>
            </a:r>
            <a:r>
              <a:rPr lang="zh-TW" altLang="en-US" b="1" dirty="0">
                <a:solidFill>
                  <a:srgbClr val="FF0000"/>
                </a:solidFill>
                <a:latin typeface="微軟正黑體" panose="020B0604030504040204" pitchFamily="34" charset="-120"/>
                <a:ea typeface="微軟正黑體" panose="020B0604030504040204" pitchFamily="34" charset="-120"/>
              </a:rPr>
              <a:t>分析</a:t>
            </a:r>
            <a:r>
              <a:rPr lang="zh-TW" altLang="en-US" dirty="0">
                <a:latin typeface="微軟正黑體" panose="020B0604030504040204" pitchFamily="34" charset="-120"/>
                <a:ea typeface="微軟正黑體" panose="020B0604030504040204" pitchFamily="34" charset="-120"/>
              </a:rPr>
              <a:t>技術</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資料</a:t>
            </a:r>
            <a:r>
              <a:rPr lang="zh-TW" altLang="en-US" b="1" dirty="0">
                <a:solidFill>
                  <a:srgbClr val="FF0000"/>
                </a:solidFill>
                <a:latin typeface="微軟正黑體" panose="020B0604030504040204" pitchFamily="34" charset="-120"/>
                <a:ea typeface="微軟正黑體" panose="020B0604030504040204" pitchFamily="34" charset="-120"/>
              </a:rPr>
              <a:t>調校</a:t>
            </a:r>
            <a:r>
              <a:rPr lang="zh-TW" altLang="en-US" dirty="0">
                <a:latin typeface="微軟正黑體" panose="020B0604030504040204" pitchFamily="34" charset="-120"/>
                <a:ea typeface="微軟正黑體" panose="020B0604030504040204" pitchFamily="34" charset="-120"/>
              </a:rPr>
              <a:t>技術</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資訊</a:t>
            </a:r>
            <a:r>
              <a:rPr lang="zh-TW" altLang="en-US" b="1" dirty="0">
                <a:solidFill>
                  <a:srgbClr val="FF0000"/>
                </a:solidFill>
                <a:latin typeface="微軟正黑體" panose="020B0604030504040204" pitchFamily="34" charset="-120"/>
                <a:ea typeface="微軟正黑體" panose="020B0604030504040204" pitchFamily="34" charset="-120"/>
              </a:rPr>
              <a:t>安全</a:t>
            </a:r>
            <a:r>
              <a:rPr lang="zh-TW" altLang="en-US" dirty="0">
                <a:latin typeface="微軟正黑體" panose="020B0604030504040204" pitchFamily="34" charset="-120"/>
                <a:ea typeface="微軟正黑體" panose="020B0604030504040204" pitchFamily="34" charset="-120"/>
              </a:rPr>
              <a:t>技術</a:t>
            </a:r>
            <a:endParaRPr lang="en-US" altLang="zh-TW"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7" name="矩形 6"/>
          <p:cNvSpPr/>
          <p:nvPr/>
        </p:nvSpPr>
        <p:spPr>
          <a:xfrm>
            <a:off x="1259632" y="1124744"/>
            <a:ext cx="3168352"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6" name="群組 35"/>
          <p:cNvGrpSpPr/>
          <p:nvPr/>
        </p:nvGrpSpPr>
        <p:grpSpPr>
          <a:xfrm>
            <a:off x="1023406" y="944516"/>
            <a:ext cx="7272808" cy="1302960"/>
            <a:chOff x="1023406" y="980728"/>
            <a:chExt cx="7272808" cy="1302960"/>
          </a:xfrm>
        </p:grpSpPr>
        <p:sp>
          <p:nvSpPr>
            <p:cNvPr id="5" name="圓角矩形 4"/>
            <p:cNvSpPr/>
            <p:nvPr/>
          </p:nvSpPr>
          <p:spPr>
            <a:xfrm>
              <a:off x="1023406" y="980728"/>
              <a:ext cx="7272808" cy="122413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marL="285750" indent="-285750">
                <a:buFont typeface="Wingdings" panose="05000000000000000000" pitchFamily="2" charset="2"/>
                <a:buChar char="l"/>
              </a:pPr>
              <a:endParaRPr lang="en-US" altLang="zh-TW" sz="1600" dirty="0">
                <a:latin typeface="微軟正黑體" panose="020B0604030504040204" pitchFamily="34" charset="-120"/>
                <a:ea typeface="微軟正黑體" panose="020B0604030504040204" pitchFamily="34" charset="-120"/>
              </a:endParaRPr>
            </a:p>
          </p:txBody>
        </p:sp>
        <p:sp>
          <p:nvSpPr>
            <p:cNvPr id="9" name="矩形 8"/>
            <p:cNvSpPr/>
            <p:nvPr/>
          </p:nvSpPr>
          <p:spPr>
            <a:xfrm>
              <a:off x="1174789" y="1188122"/>
              <a:ext cx="3600400" cy="10955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TW" altLang="en-US" dirty="0">
                  <a:solidFill>
                    <a:schemeClr val="tx1"/>
                  </a:solidFill>
                  <a:latin typeface="微軟正黑體" panose="020B0604030504040204" pitchFamily="34" charset="-120"/>
                  <a:ea typeface="微軟正黑體" panose="020B0604030504040204" pitchFamily="34" charset="-120"/>
                </a:rPr>
                <a:t>檢康管理</a:t>
              </a:r>
              <a:r>
                <a:rPr lang="en-US" altLang="zh-TW" dirty="0">
                  <a:solidFill>
                    <a:schemeClr val="tx1"/>
                  </a:solidFill>
                  <a:latin typeface="微軟正黑體" panose="020B0604030504040204" pitchFamily="34" charset="-120"/>
                  <a:ea typeface="微軟正黑體" panose="020B0604030504040204" pitchFamily="34" charset="-120"/>
                </a:rPr>
                <a:t>(</a:t>
              </a:r>
              <a:r>
                <a:rPr lang="zh-TW" altLang="en-US" dirty="0">
                  <a:solidFill>
                    <a:schemeClr val="tx1"/>
                  </a:solidFill>
                  <a:latin typeface="微軟正黑體" panose="020B0604030504040204" pitchFamily="34" charset="-120"/>
                  <a:ea typeface="微軟正黑體" panose="020B0604030504040204" pitchFamily="34" charset="-120"/>
                </a:rPr>
                <a:t>按時服藥、運動建議</a:t>
              </a:r>
              <a:r>
                <a:rPr lang="en-US" altLang="zh-TW" dirty="0">
                  <a:solidFill>
                    <a:schemeClr val="tx1"/>
                  </a:solidFill>
                  <a:latin typeface="微軟正黑體" panose="020B0604030504040204" pitchFamily="34" charset="-120"/>
                  <a:ea typeface="微軟正黑體" panose="020B0604030504040204" pitchFamily="34" charset="-120"/>
                </a:rPr>
                <a:t>…)</a:t>
              </a:r>
            </a:p>
            <a:p>
              <a:pPr marL="285750" indent="-285750">
                <a:buFont typeface="Wingdings" panose="05000000000000000000" pitchFamily="2" charset="2"/>
                <a:buChar char="l"/>
              </a:pPr>
              <a:r>
                <a:rPr lang="zh-TW" altLang="en-US" dirty="0">
                  <a:solidFill>
                    <a:schemeClr val="tx1"/>
                  </a:solidFill>
                  <a:latin typeface="微軟正黑體" panose="020B0604030504040204" pitchFamily="34" charset="-120"/>
                  <a:ea typeface="微軟正黑體" panose="020B0604030504040204" pitchFamily="34" charset="-120"/>
                </a:rPr>
                <a:t>解決交通問題</a:t>
              </a:r>
              <a:r>
                <a:rPr lang="en-US" altLang="zh-TW" dirty="0">
                  <a:solidFill>
                    <a:schemeClr val="tx1"/>
                  </a:solidFill>
                  <a:latin typeface="微軟正黑體" panose="020B0604030504040204" pitchFamily="34" charset="-120"/>
                  <a:ea typeface="微軟正黑體" panose="020B0604030504040204" pitchFamily="34" charset="-120"/>
                </a:rPr>
                <a:t>(</a:t>
              </a:r>
              <a:r>
                <a:rPr lang="zh-TW" altLang="en-US" dirty="0">
                  <a:solidFill>
                    <a:schemeClr val="tx1"/>
                  </a:solidFill>
                  <a:latin typeface="微軟正黑體" panose="020B0604030504040204" pitchFamily="34" charset="-120"/>
                  <a:ea typeface="微軟正黑體" panose="020B0604030504040204" pitchFamily="34" charset="-120"/>
                </a:rPr>
                <a:t>尋找可用車輛</a:t>
              </a:r>
              <a:r>
                <a:rPr lang="en-US" altLang="zh-TW" dirty="0">
                  <a:solidFill>
                    <a:schemeClr val="tx1"/>
                  </a:solidFill>
                  <a:latin typeface="微軟正黑體" panose="020B0604030504040204" pitchFamily="34" charset="-120"/>
                  <a:ea typeface="微軟正黑體" panose="020B0604030504040204" pitchFamily="34" charset="-120"/>
                </a:rPr>
                <a:t>)</a:t>
              </a:r>
            </a:p>
            <a:p>
              <a:pPr marL="285750" indent="-285750">
                <a:buFont typeface="Wingdings" panose="05000000000000000000" pitchFamily="2" charset="2"/>
                <a:buChar char="l"/>
              </a:pPr>
              <a:r>
                <a:rPr lang="zh-TW" altLang="en-US" dirty="0">
                  <a:solidFill>
                    <a:schemeClr val="tx1"/>
                  </a:solidFill>
                  <a:latin typeface="微軟正黑體" panose="020B0604030504040204" pitchFamily="34" charset="-120"/>
                  <a:ea typeface="微軟正黑體" panose="020B0604030504040204" pitchFamily="34" charset="-120"/>
                </a:rPr>
                <a:t>辨識通話內容可信度</a:t>
              </a:r>
              <a:endParaRPr lang="en-US" altLang="zh-TW" dirty="0">
                <a:solidFill>
                  <a:schemeClr val="tx1"/>
                </a:solidFill>
                <a:latin typeface="微軟正黑體" panose="020B0604030504040204" pitchFamily="34" charset="-120"/>
                <a:ea typeface="微軟正黑體" panose="020B0604030504040204" pitchFamily="34" charset="-120"/>
              </a:endParaRPr>
            </a:p>
            <a:p>
              <a:endParaRPr lang="zh-TW" altLang="en-US" dirty="0">
                <a:solidFill>
                  <a:schemeClr val="tx1"/>
                </a:solidFill>
              </a:endParaRPr>
            </a:p>
          </p:txBody>
        </p:sp>
        <p:sp>
          <p:nvSpPr>
            <p:cNvPr id="10" name="矩形 9"/>
            <p:cNvSpPr/>
            <p:nvPr/>
          </p:nvSpPr>
          <p:spPr>
            <a:xfrm>
              <a:off x="4775188" y="1287614"/>
              <a:ext cx="3325203" cy="8640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TW" altLang="en-US" dirty="0">
                  <a:solidFill>
                    <a:schemeClr val="tx1"/>
                  </a:solidFill>
                  <a:latin typeface="微軟正黑體" panose="020B0604030504040204" pitchFamily="34" charset="-120"/>
                  <a:ea typeface="微軟正黑體" panose="020B0604030504040204" pitchFamily="34" charset="-120"/>
                </a:rPr>
                <a:t>解決停車問題</a:t>
              </a:r>
              <a:endParaRPr lang="en-US" altLang="zh-TW"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dirty="0">
                  <a:solidFill>
                    <a:schemeClr val="tx1"/>
                  </a:solidFill>
                  <a:latin typeface="微軟正黑體" panose="020B0604030504040204" pitchFamily="34" charset="-120"/>
                  <a:ea typeface="微軟正黑體" panose="020B0604030504040204" pitchFamily="34" charset="-120"/>
                </a:rPr>
                <a:t>立即支付結帳</a:t>
              </a:r>
              <a:endParaRPr lang="en-US" altLang="zh-TW"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dirty="0">
                  <a:solidFill>
                    <a:schemeClr val="tx1"/>
                  </a:solidFill>
                  <a:latin typeface="微軟正黑體" panose="020B0604030504040204" pitchFamily="34" charset="-120"/>
                  <a:ea typeface="微軟正黑體" panose="020B0604030504040204" pitchFamily="34" charset="-120"/>
                </a:rPr>
                <a:t>個人消費帳本</a:t>
              </a:r>
              <a:endParaRPr lang="en-US" altLang="zh-TW"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endParaRPr lang="en-US" altLang="zh-TW" dirty="0">
                <a:solidFill>
                  <a:schemeClr val="tx1"/>
                </a:solidFill>
                <a:latin typeface="微軟正黑體" panose="020B0604030504040204" pitchFamily="34" charset="-120"/>
                <a:ea typeface="微軟正黑體" panose="020B0604030504040204" pitchFamily="34" charset="-120"/>
              </a:endParaRPr>
            </a:p>
            <a:p>
              <a:endParaRPr lang="zh-TW" altLang="en-US" dirty="0">
                <a:solidFill>
                  <a:schemeClr val="tx1"/>
                </a:solidFill>
              </a:endParaRPr>
            </a:p>
          </p:txBody>
        </p:sp>
      </p:grpSp>
      <p:grpSp>
        <p:nvGrpSpPr>
          <p:cNvPr id="35" name="群組 34"/>
          <p:cNvGrpSpPr/>
          <p:nvPr/>
        </p:nvGrpSpPr>
        <p:grpSpPr>
          <a:xfrm>
            <a:off x="649142" y="3693386"/>
            <a:ext cx="8016600" cy="1143671"/>
            <a:chOff x="649142" y="3639068"/>
            <a:chExt cx="8016600" cy="1143671"/>
          </a:xfrm>
        </p:grpSpPr>
        <p:grpSp>
          <p:nvGrpSpPr>
            <p:cNvPr id="14" name="群組 13"/>
            <p:cNvGrpSpPr/>
            <p:nvPr/>
          </p:nvGrpSpPr>
          <p:grpSpPr>
            <a:xfrm>
              <a:off x="649142" y="3639068"/>
              <a:ext cx="8016600" cy="1022175"/>
              <a:chOff x="549559" y="3639068"/>
              <a:chExt cx="8016600" cy="1022175"/>
            </a:xfrm>
          </p:grpSpPr>
          <p:sp>
            <p:nvSpPr>
              <p:cNvPr id="17" name="橢圓 16"/>
              <p:cNvSpPr/>
              <p:nvPr/>
            </p:nvSpPr>
            <p:spPr>
              <a:xfrm>
                <a:off x="549559" y="3777129"/>
                <a:ext cx="931537" cy="86047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人工智慧</a:t>
                </a:r>
              </a:p>
            </p:txBody>
          </p:sp>
          <p:sp>
            <p:nvSpPr>
              <p:cNvPr id="18" name="橢圓 17"/>
              <p:cNvSpPr/>
              <p:nvPr/>
            </p:nvSpPr>
            <p:spPr>
              <a:xfrm>
                <a:off x="2320825" y="3777129"/>
                <a:ext cx="931537" cy="86047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物聯網</a:t>
                </a:r>
              </a:p>
            </p:txBody>
          </p:sp>
          <p:sp>
            <p:nvSpPr>
              <p:cNvPr id="19" name="橢圓 18"/>
              <p:cNvSpPr/>
              <p:nvPr/>
            </p:nvSpPr>
            <p:spPr>
              <a:xfrm>
                <a:off x="4113955" y="3777129"/>
                <a:ext cx="931537" cy="86047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大數據</a:t>
                </a:r>
              </a:p>
            </p:txBody>
          </p:sp>
          <p:sp>
            <p:nvSpPr>
              <p:cNvPr id="20" name="橢圓 19"/>
              <p:cNvSpPr/>
              <p:nvPr/>
            </p:nvSpPr>
            <p:spPr>
              <a:xfrm>
                <a:off x="5863357" y="3777129"/>
                <a:ext cx="931537" cy="86047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雲端</a:t>
                </a:r>
              </a:p>
            </p:txBody>
          </p:sp>
          <p:sp>
            <p:nvSpPr>
              <p:cNvPr id="21" name="橢圓 20"/>
              <p:cNvSpPr/>
              <p:nvPr/>
            </p:nvSpPr>
            <p:spPr>
              <a:xfrm>
                <a:off x="7634622" y="3777129"/>
                <a:ext cx="931537" cy="860478"/>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區塊鏈</a:t>
                </a:r>
              </a:p>
            </p:txBody>
          </p:sp>
          <p:grpSp>
            <p:nvGrpSpPr>
              <p:cNvPr id="11" name="群組 10"/>
              <p:cNvGrpSpPr/>
              <p:nvPr/>
            </p:nvGrpSpPr>
            <p:grpSpPr>
              <a:xfrm>
                <a:off x="1312251" y="3649406"/>
                <a:ext cx="1174118" cy="932285"/>
                <a:chOff x="1312251" y="3649406"/>
                <a:chExt cx="1174118" cy="932285"/>
              </a:xfrm>
            </p:grpSpPr>
            <p:sp>
              <p:nvSpPr>
                <p:cNvPr id="16" name="_s1031"/>
                <p:cNvSpPr>
                  <a:spLocks noChangeArrowheads="1" noTextEdit="1"/>
                </p:cNvSpPr>
                <p:nvPr/>
              </p:nvSpPr>
              <p:spPr bwMode="auto">
                <a:xfrm rot="502433">
                  <a:off x="1340790" y="3856680"/>
                  <a:ext cx="1145579" cy="725011"/>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rot="0" vert="horz" wrap="square" lIns="0" tIns="0" rIns="0" bIns="0" anchor="ctr" anchorCtr="0" upright="1">
                  <a:noAutofit/>
                </a:bodyPr>
                <a:lstStyle/>
                <a:p>
                  <a:endParaRPr lang="zh-TW" altLang="en-US"/>
                </a:p>
              </p:txBody>
            </p:sp>
            <p:sp>
              <p:nvSpPr>
                <p:cNvPr id="22" name="_s1031"/>
                <p:cNvSpPr>
                  <a:spLocks noChangeArrowheads="1" noTextEdit="1"/>
                </p:cNvSpPr>
                <p:nvPr/>
              </p:nvSpPr>
              <p:spPr bwMode="auto">
                <a:xfrm rot="11378433">
                  <a:off x="1312251" y="3649406"/>
                  <a:ext cx="1145579" cy="725011"/>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rot="0" vert="horz" wrap="square" lIns="0" tIns="0" rIns="0" bIns="0" anchor="ctr" anchorCtr="0" upright="1">
                  <a:noAutofit/>
                </a:bodyPr>
                <a:lstStyle/>
                <a:p>
                  <a:endParaRPr lang="zh-TW" altLang="en-US"/>
                </a:p>
              </p:txBody>
            </p:sp>
          </p:grpSp>
          <p:grpSp>
            <p:nvGrpSpPr>
              <p:cNvPr id="23" name="群組 22"/>
              <p:cNvGrpSpPr/>
              <p:nvPr/>
            </p:nvGrpSpPr>
            <p:grpSpPr>
              <a:xfrm>
                <a:off x="3131840" y="3728958"/>
                <a:ext cx="1174118" cy="932285"/>
                <a:chOff x="1312251" y="3649406"/>
                <a:chExt cx="1174118" cy="932285"/>
              </a:xfrm>
            </p:grpSpPr>
            <p:sp>
              <p:nvSpPr>
                <p:cNvPr id="24" name="_s1031"/>
                <p:cNvSpPr>
                  <a:spLocks noChangeArrowheads="1" noTextEdit="1"/>
                </p:cNvSpPr>
                <p:nvPr/>
              </p:nvSpPr>
              <p:spPr bwMode="auto">
                <a:xfrm rot="502433">
                  <a:off x="1340790" y="3856680"/>
                  <a:ext cx="1145579" cy="725011"/>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rot="0" vert="horz" wrap="square" lIns="0" tIns="0" rIns="0" bIns="0" anchor="ctr" anchorCtr="0" upright="1">
                  <a:noAutofit/>
                </a:bodyPr>
                <a:lstStyle/>
                <a:p>
                  <a:endParaRPr lang="zh-TW" altLang="en-US"/>
                </a:p>
              </p:txBody>
            </p:sp>
            <p:sp>
              <p:nvSpPr>
                <p:cNvPr id="25" name="_s1031"/>
                <p:cNvSpPr>
                  <a:spLocks noChangeArrowheads="1" noTextEdit="1"/>
                </p:cNvSpPr>
                <p:nvPr/>
              </p:nvSpPr>
              <p:spPr bwMode="auto">
                <a:xfrm rot="11378433">
                  <a:off x="1312251" y="3649406"/>
                  <a:ext cx="1145579" cy="725011"/>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rot="0" vert="horz" wrap="square" lIns="0" tIns="0" rIns="0" bIns="0" anchor="ctr" anchorCtr="0" upright="1">
                  <a:noAutofit/>
                </a:bodyPr>
                <a:lstStyle/>
                <a:p>
                  <a:endParaRPr lang="zh-TW" altLang="en-US"/>
                </a:p>
              </p:txBody>
            </p:sp>
          </p:grpSp>
          <p:grpSp>
            <p:nvGrpSpPr>
              <p:cNvPr id="26" name="群組 25"/>
              <p:cNvGrpSpPr/>
              <p:nvPr/>
            </p:nvGrpSpPr>
            <p:grpSpPr>
              <a:xfrm>
                <a:off x="4860032" y="3718764"/>
                <a:ext cx="1174118" cy="932285"/>
                <a:chOff x="1312251" y="3649406"/>
                <a:chExt cx="1174118" cy="932285"/>
              </a:xfrm>
            </p:grpSpPr>
            <p:sp>
              <p:nvSpPr>
                <p:cNvPr id="27" name="_s1031"/>
                <p:cNvSpPr>
                  <a:spLocks noChangeArrowheads="1" noTextEdit="1"/>
                </p:cNvSpPr>
                <p:nvPr/>
              </p:nvSpPr>
              <p:spPr bwMode="auto">
                <a:xfrm rot="502433">
                  <a:off x="1340790" y="3856680"/>
                  <a:ext cx="1145579" cy="725011"/>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rot="0" vert="horz" wrap="square" lIns="0" tIns="0" rIns="0" bIns="0" anchor="ctr" anchorCtr="0" upright="1">
                  <a:noAutofit/>
                </a:bodyPr>
                <a:lstStyle/>
                <a:p>
                  <a:endParaRPr lang="zh-TW" altLang="en-US"/>
                </a:p>
              </p:txBody>
            </p:sp>
            <p:sp>
              <p:nvSpPr>
                <p:cNvPr id="28" name="_s1031"/>
                <p:cNvSpPr>
                  <a:spLocks noChangeArrowheads="1" noTextEdit="1"/>
                </p:cNvSpPr>
                <p:nvPr/>
              </p:nvSpPr>
              <p:spPr bwMode="auto">
                <a:xfrm rot="11378433">
                  <a:off x="1312251" y="3649406"/>
                  <a:ext cx="1145579" cy="725011"/>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rot="0" vert="horz" wrap="square" lIns="0" tIns="0" rIns="0" bIns="0" anchor="ctr" anchorCtr="0" upright="1">
                  <a:noAutofit/>
                </a:bodyPr>
                <a:lstStyle/>
                <a:p>
                  <a:endParaRPr lang="zh-TW" altLang="en-US"/>
                </a:p>
              </p:txBody>
            </p:sp>
          </p:grpSp>
          <p:grpSp>
            <p:nvGrpSpPr>
              <p:cNvPr id="29" name="群組 28"/>
              <p:cNvGrpSpPr/>
              <p:nvPr/>
            </p:nvGrpSpPr>
            <p:grpSpPr>
              <a:xfrm>
                <a:off x="6660232" y="3718613"/>
                <a:ext cx="1174118" cy="932285"/>
                <a:chOff x="1312251" y="3649406"/>
                <a:chExt cx="1174118" cy="932285"/>
              </a:xfrm>
            </p:grpSpPr>
            <p:sp>
              <p:nvSpPr>
                <p:cNvPr id="30" name="_s1031"/>
                <p:cNvSpPr>
                  <a:spLocks noChangeArrowheads="1" noTextEdit="1"/>
                </p:cNvSpPr>
                <p:nvPr/>
              </p:nvSpPr>
              <p:spPr bwMode="auto">
                <a:xfrm rot="502433">
                  <a:off x="1340790" y="3856680"/>
                  <a:ext cx="1145579" cy="725011"/>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rot="0" vert="horz" wrap="square" lIns="0" tIns="0" rIns="0" bIns="0" anchor="ctr" anchorCtr="0" upright="1">
                  <a:noAutofit/>
                </a:bodyPr>
                <a:lstStyle/>
                <a:p>
                  <a:endParaRPr lang="zh-TW" altLang="en-US"/>
                </a:p>
              </p:txBody>
            </p:sp>
            <p:sp>
              <p:nvSpPr>
                <p:cNvPr id="31" name="_s1031"/>
                <p:cNvSpPr>
                  <a:spLocks noChangeArrowheads="1" noTextEdit="1"/>
                </p:cNvSpPr>
                <p:nvPr/>
              </p:nvSpPr>
              <p:spPr bwMode="auto">
                <a:xfrm rot="11378433">
                  <a:off x="1312251" y="3649406"/>
                  <a:ext cx="1145579" cy="725011"/>
                </a:xfrm>
                <a:custGeom>
                  <a:avLst/>
                  <a:gdLst>
                    <a:gd name="G0" fmla="+- -5242880 0 0"/>
                    <a:gd name="G1" fmla="+- -9100590 0 0"/>
                    <a:gd name="G2" fmla="+- -5242880 0 -9100590"/>
                    <a:gd name="G3" fmla="+- 10800 0 0"/>
                    <a:gd name="G4" fmla="+- 0 0 -5242880"/>
                    <a:gd name="T0" fmla="*/ 360 256 1"/>
                    <a:gd name="T1" fmla="*/ 0 256 1"/>
                    <a:gd name="G5" fmla="+- G2 T0 T1"/>
                    <a:gd name="G6" fmla="?: G2 G2 G5"/>
                    <a:gd name="G7" fmla="+- 0 0 G6"/>
                    <a:gd name="G8" fmla="+- 7200 0 0"/>
                    <a:gd name="G9" fmla="+- 0 0 -9100590"/>
                    <a:gd name="G10" fmla="+- 7200 0 2700"/>
                    <a:gd name="G11" fmla="cos G10 -5242880"/>
                    <a:gd name="G12" fmla="sin G10 -5242880"/>
                    <a:gd name="G13" fmla="cos 13500 -5242880"/>
                    <a:gd name="G14" fmla="sin 13500 -5242880"/>
                    <a:gd name="G15" fmla="+- G11 10800 0"/>
                    <a:gd name="G16" fmla="+- G12 10800 0"/>
                    <a:gd name="G17" fmla="+- G13 10800 0"/>
                    <a:gd name="G18" fmla="+- G14 10800 0"/>
                    <a:gd name="G19" fmla="*/ 7200 1 2"/>
                    <a:gd name="G20" fmla="+- G19 5400 0"/>
                    <a:gd name="G21" fmla="cos G20 -5242880"/>
                    <a:gd name="G22" fmla="sin G20 -5242880"/>
                    <a:gd name="G23" fmla="+- G21 10800 0"/>
                    <a:gd name="G24" fmla="+- G12 G23 G22"/>
                    <a:gd name="G25" fmla="+- G22 G23 G11"/>
                    <a:gd name="G26" fmla="cos 10800 -5242880"/>
                    <a:gd name="G27" fmla="sin 10800 -5242880"/>
                    <a:gd name="G28" fmla="cos 7200 -5242880"/>
                    <a:gd name="G29" fmla="sin 7200 -5242880"/>
                    <a:gd name="G30" fmla="+- G26 10800 0"/>
                    <a:gd name="G31" fmla="+- G27 10800 0"/>
                    <a:gd name="G32" fmla="+- G28 10800 0"/>
                    <a:gd name="G33" fmla="+- G29 10800 0"/>
                    <a:gd name="G34" fmla="+- G19 5400 0"/>
                    <a:gd name="G35" fmla="cos G34 -9100590"/>
                    <a:gd name="G36" fmla="sin G34 -9100590"/>
                    <a:gd name="G37" fmla="+/ -9100590 -524288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7206 w 21600"/>
                    <a:gd name="T5" fmla="*/ 615 h 21600"/>
                    <a:gd name="T6" fmla="*/ 4021 w 21600"/>
                    <a:gd name="T7" fmla="*/ 4879 h 21600"/>
                    <a:gd name="T8" fmla="*/ 8404 w 21600"/>
                    <a:gd name="T9" fmla="*/ 4010 h 21600"/>
                    <a:gd name="T10" fmla="*/ 13144 w 21600"/>
                    <a:gd name="T11" fmla="*/ -2495 h 21600"/>
                    <a:gd name="T12" fmla="*/ 16794 w 21600"/>
                    <a:gd name="T13" fmla="*/ 2717 h 21600"/>
                    <a:gd name="T14" fmla="*/ 11581 w 21600"/>
                    <a:gd name="T15" fmla="*/ 6368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2050" y="3709"/>
                      </a:moveTo>
                      <a:cubicBezTo>
                        <a:pt x="11637" y="3636"/>
                        <a:pt x="11219" y="3600"/>
                        <a:pt x="10800" y="3600"/>
                      </a:cubicBezTo>
                      <a:cubicBezTo>
                        <a:pt x="8721" y="3599"/>
                        <a:pt x="6744" y="4498"/>
                        <a:pt x="5377" y="6063"/>
                      </a:cubicBezTo>
                      <a:lnTo>
                        <a:pt x="2665" y="3695"/>
                      </a:lnTo>
                      <a:cubicBezTo>
                        <a:pt x="4716" y="1347"/>
                        <a:pt x="7682" y="-1"/>
                        <a:pt x="10800" y="0"/>
                      </a:cubicBezTo>
                      <a:cubicBezTo>
                        <a:pt x="11428" y="0"/>
                        <a:pt x="12056" y="54"/>
                        <a:pt x="12675" y="164"/>
                      </a:cubicBezTo>
                      <a:lnTo>
                        <a:pt x="13144" y="-2495"/>
                      </a:lnTo>
                      <a:lnTo>
                        <a:pt x="16794" y="2717"/>
                      </a:lnTo>
                      <a:lnTo>
                        <a:pt x="11581" y="6368"/>
                      </a:lnTo>
                      <a:lnTo>
                        <a:pt x="12050" y="3709"/>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rot="0" vert="horz" wrap="square" lIns="0" tIns="0" rIns="0" bIns="0" anchor="ctr" anchorCtr="0" upright="1">
                  <a:noAutofit/>
                </a:bodyPr>
                <a:lstStyle/>
                <a:p>
                  <a:endParaRPr lang="zh-TW" altLang="en-US"/>
                </a:p>
              </p:txBody>
            </p:sp>
          </p:grpSp>
          <p:sp>
            <p:nvSpPr>
              <p:cNvPr id="12" name="弧形箭號 (下彎) 11"/>
              <p:cNvSpPr/>
              <p:nvPr/>
            </p:nvSpPr>
            <p:spPr>
              <a:xfrm>
                <a:off x="899592" y="3639068"/>
                <a:ext cx="7200799" cy="13806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
          <p:nvSpPr>
            <p:cNvPr id="32" name="弧形箭號 (下彎) 31"/>
            <p:cNvSpPr/>
            <p:nvPr/>
          </p:nvSpPr>
          <p:spPr>
            <a:xfrm flipH="1" flipV="1">
              <a:off x="899591" y="4637607"/>
              <a:ext cx="7300381" cy="145132"/>
            </a:xfrm>
            <a:prstGeom prst="curvedDownArrow">
              <a:avLst/>
            </a:prstGeom>
            <a:ln>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
        <p:nvSpPr>
          <p:cNvPr id="13" name="向右箭號 12"/>
          <p:cNvSpPr/>
          <p:nvPr/>
        </p:nvSpPr>
        <p:spPr>
          <a:xfrm rot="16200000">
            <a:off x="4484421" y="4363212"/>
            <a:ext cx="405317" cy="859231"/>
          </a:xfrm>
          <a:prstGeom prst="striped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33" name="向右箭號 32"/>
          <p:cNvSpPr/>
          <p:nvPr/>
        </p:nvSpPr>
        <p:spPr>
          <a:xfrm rot="16200000">
            <a:off x="2201879" y="4363211"/>
            <a:ext cx="405317" cy="859231"/>
          </a:xfrm>
          <a:prstGeom prst="striped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34" name="向右箭號 33"/>
          <p:cNvSpPr/>
          <p:nvPr/>
        </p:nvSpPr>
        <p:spPr>
          <a:xfrm rot="16200000">
            <a:off x="6766963" y="4363212"/>
            <a:ext cx="405317" cy="859231"/>
          </a:xfrm>
          <a:prstGeom prst="striped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2597853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軟體專利特性</a:t>
            </a:r>
            <a:r>
              <a:rPr lang="en-US" altLang="zh-TW" dirty="0"/>
              <a:t>-</a:t>
            </a:r>
            <a:r>
              <a:rPr lang="zh-TW" altLang="en-US" dirty="0"/>
              <a:t>專利審查角度</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13</a:t>
            </a:fld>
            <a:endParaRPr lang="zh-TW" altLang="en-US"/>
          </a:p>
        </p:txBody>
      </p:sp>
      <p:sp>
        <p:nvSpPr>
          <p:cNvPr id="6" name="投影片編號版面配置區 3"/>
          <p:cNvSpPr txBox="1">
            <a:spLocks/>
          </p:cNvSpPr>
          <p:nvPr/>
        </p:nvSpPr>
        <p:spPr>
          <a:xfrm>
            <a:off x="6553200" y="6446880"/>
            <a:ext cx="2133600"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rgbClr val="6699FF"/>
                </a:solidFill>
                <a:latin typeface="Adobe 繁黑體 Std B"/>
                <a:ea typeface="Adobe 繁黑體 Std B"/>
                <a:cs typeface="Adobe 繁黑體 Std B"/>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D2D507-09EA-4C6F-96ED-053C801F8797}" type="slidenum">
              <a:rPr lang="zh-TW" altLang="en-US" smtClean="0"/>
              <a:pPr/>
              <a:t>13</a:t>
            </a:fld>
            <a:endParaRPr lang="zh-TW" altLang="en-US" dirty="0"/>
          </a:p>
        </p:txBody>
      </p:sp>
      <p:grpSp>
        <p:nvGrpSpPr>
          <p:cNvPr id="7" name="群組 6"/>
          <p:cNvGrpSpPr/>
          <p:nvPr/>
        </p:nvGrpSpPr>
        <p:grpSpPr>
          <a:xfrm>
            <a:off x="691952" y="764704"/>
            <a:ext cx="8352928" cy="5904656"/>
            <a:chOff x="323528" y="836712"/>
            <a:chExt cx="8568952" cy="5832648"/>
          </a:xfrm>
        </p:grpSpPr>
        <p:pic>
          <p:nvPicPr>
            <p:cNvPr id="5" name="圖片 4"/>
            <p:cNvPicPr/>
            <p:nvPr/>
          </p:nvPicPr>
          <p:blipFill>
            <a:blip r:embed="rId2">
              <a:extLst>
                <a:ext uri="{28A0092B-C50C-407E-A947-70E740481C1C}">
                  <a14:useLocalDpi xmlns:a14="http://schemas.microsoft.com/office/drawing/2010/main"/>
                </a:ext>
              </a:extLst>
            </a:blip>
            <a:stretch>
              <a:fillRect/>
            </a:stretch>
          </p:blipFill>
          <p:spPr>
            <a:xfrm>
              <a:off x="323528" y="836712"/>
              <a:ext cx="8568952" cy="5832648"/>
            </a:xfrm>
            <a:prstGeom prst="rect">
              <a:avLst/>
            </a:prstGeom>
          </p:spPr>
        </p:pic>
        <p:sp>
          <p:nvSpPr>
            <p:cNvPr id="3" name="文字方塊 2"/>
            <p:cNvSpPr txBox="1"/>
            <p:nvPr/>
          </p:nvSpPr>
          <p:spPr>
            <a:xfrm>
              <a:off x="467544" y="956635"/>
              <a:ext cx="8136904" cy="400110"/>
            </a:xfrm>
            <a:prstGeom prst="rect">
              <a:avLst/>
            </a:prstGeom>
            <a:gradFill>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a:solidFill>
                <a:schemeClr val="accent1">
                  <a:shade val="95000"/>
                  <a:satMod val="105000"/>
                </a:schemeClr>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TW" altLang="en-US" sz="2000" dirty="0">
                  <a:latin typeface="微軟正黑體" panose="020B0604030504040204" pitchFamily="34" charset="-120"/>
                  <a:ea typeface="微軟正黑體" panose="020B0604030504040204" pitchFamily="34" charset="-120"/>
                </a:rPr>
                <a:t>軟體專利三階層架構</a:t>
              </a:r>
            </a:p>
          </p:txBody>
        </p:sp>
      </p:grpSp>
      <p:sp>
        <p:nvSpPr>
          <p:cNvPr id="8" name="文字方塊 7">
            <a:extLst>
              <a:ext uri="{FF2B5EF4-FFF2-40B4-BE49-F238E27FC236}">
                <a16:creationId xmlns:a16="http://schemas.microsoft.com/office/drawing/2014/main" id="{FD51D564-B4E1-54E1-675F-25AF4C0820E6}"/>
              </a:ext>
            </a:extLst>
          </p:cNvPr>
          <p:cNvSpPr txBox="1"/>
          <p:nvPr/>
        </p:nvSpPr>
        <p:spPr>
          <a:xfrm>
            <a:off x="134708" y="834632"/>
            <a:ext cx="461665" cy="646331"/>
          </a:xfrm>
          <a:prstGeom prst="rect">
            <a:avLst/>
          </a:prstGeom>
        </p:spPr>
        <p:style>
          <a:lnRef idx="1">
            <a:schemeClr val="accent5"/>
          </a:lnRef>
          <a:fillRef idx="2">
            <a:schemeClr val="accent5"/>
          </a:fillRef>
          <a:effectRef idx="1">
            <a:schemeClr val="accent5"/>
          </a:effectRef>
          <a:fontRef idx="minor">
            <a:schemeClr val="dk1"/>
          </a:fontRef>
        </p:style>
        <p:txBody>
          <a:bodyPr vert="eaVert" wrap="square" rtlCol="0" anchor="ctr" anchorCtr="0">
            <a:spAutoFit/>
          </a:bodyPr>
          <a:lstStyle/>
          <a:p>
            <a:r>
              <a:rPr lang="zh-TW" altLang="en-US" dirty="0">
                <a:latin typeface="微軟正黑體" panose="020B0604030504040204" pitchFamily="34" charset="-120"/>
                <a:ea typeface="微軟正黑體" panose="020B0604030504040204" pitchFamily="34" charset="-120"/>
              </a:rPr>
              <a:t>巨觀</a:t>
            </a:r>
          </a:p>
        </p:txBody>
      </p:sp>
      <p:sp>
        <p:nvSpPr>
          <p:cNvPr id="9" name="文字方塊 8">
            <a:extLst>
              <a:ext uri="{FF2B5EF4-FFF2-40B4-BE49-F238E27FC236}">
                <a16:creationId xmlns:a16="http://schemas.microsoft.com/office/drawing/2014/main" id="{4CD4B9DE-EBC9-49CF-EAD0-BF4C12A9A5EE}"/>
              </a:ext>
            </a:extLst>
          </p:cNvPr>
          <p:cNvSpPr txBox="1"/>
          <p:nvPr/>
        </p:nvSpPr>
        <p:spPr>
          <a:xfrm>
            <a:off x="134708" y="5980714"/>
            <a:ext cx="461665" cy="646331"/>
          </a:xfrm>
          <a:prstGeom prst="rect">
            <a:avLst/>
          </a:prstGeom>
        </p:spPr>
        <p:style>
          <a:lnRef idx="1">
            <a:schemeClr val="accent5"/>
          </a:lnRef>
          <a:fillRef idx="2">
            <a:schemeClr val="accent5"/>
          </a:fillRef>
          <a:effectRef idx="1">
            <a:schemeClr val="accent5"/>
          </a:effectRef>
          <a:fontRef idx="minor">
            <a:schemeClr val="dk1"/>
          </a:fontRef>
        </p:style>
        <p:txBody>
          <a:bodyPr vert="eaVert" wrap="square" rtlCol="0" anchor="ctr" anchorCtr="0">
            <a:spAutoFit/>
          </a:bodyPr>
          <a:lstStyle/>
          <a:p>
            <a:r>
              <a:rPr lang="zh-TW" altLang="en-US" dirty="0">
                <a:latin typeface="微軟正黑體" panose="020B0604030504040204" pitchFamily="34" charset="-120"/>
                <a:ea typeface="微軟正黑體" panose="020B0604030504040204" pitchFamily="34" charset="-120"/>
              </a:rPr>
              <a:t>微觀</a:t>
            </a:r>
          </a:p>
        </p:txBody>
      </p:sp>
      <p:sp>
        <p:nvSpPr>
          <p:cNvPr id="10" name="箭號: 上-下雙向 9">
            <a:extLst>
              <a:ext uri="{FF2B5EF4-FFF2-40B4-BE49-F238E27FC236}">
                <a16:creationId xmlns:a16="http://schemas.microsoft.com/office/drawing/2014/main" id="{205C587E-F618-2A43-EDAD-579EFBDBBF12}"/>
              </a:ext>
            </a:extLst>
          </p:cNvPr>
          <p:cNvSpPr/>
          <p:nvPr/>
        </p:nvSpPr>
        <p:spPr>
          <a:xfrm>
            <a:off x="167498" y="2002646"/>
            <a:ext cx="372054" cy="3456384"/>
          </a:xfrm>
          <a:prstGeom prst="up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2969369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軟體專利特性</a:t>
            </a:r>
            <a:r>
              <a:rPr lang="en-US" altLang="zh-TW" dirty="0"/>
              <a:t>-</a:t>
            </a:r>
            <a:r>
              <a:rPr lang="zh-TW" altLang="en-US" dirty="0"/>
              <a:t>類型</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14</a:t>
            </a:fld>
            <a:endParaRPr lang="zh-TW" altLang="en-US"/>
          </a:p>
        </p:txBody>
      </p:sp>
      <p:sp>
        <p:nvSpPr>
          <p:cNvPr id="6" name="矩形 5"/>
          <p:cNvSpPr/>
          <p:nvPr/>
        </p:nvSpPr>
        <p:spPr>
          <a:xfrm>
            <a:off x="755576" y="832296"/>
            <a:ext cx="8280920" cy="46166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TW" altLang="en-US" sz="2400" b="0" dirty="0">
                <a:solidFill>
                  <a:schemeClr val="tx1"/>
                </a:solidFill>
                <a:latin typeface="微軟正黑體" panose="020B0604030504040204" pitchFamily="34" charset="-120"/>
                <a:ea typeface="微軟正黑體" panose="020B0604030504040204" pitchFamily="34" charset="-120"/>
              </a:rPr>
              <a:t>電腦軟體專利申請類型</a:t>
            </a:r>
          </a:p>
        </p:txBody>
      </p:sp>
      <p:graphicFrame>
        <p:nvGraphicFramePr>
          <p:cNvPr id="7" name="資料庫圖表 6"/>
          <p:cNvGraphicFramePr/>
          <p:nvPr>
            <p:extLst>
              <p:ext uri="{D42A27DB-BD31-4B8C-83A1-F6EECF244321}">
                <p14:modId xmlns:p14="http://schemas.microsoft.com/office/powerpoint/2010/main" val="1216764999"/>
              </p:ext>
            </p:extLst>
          </p:nvPr>
        </p:nvGraphicFramePr>
        <p:xfrm>
          <a:off x="791580" y="1412776"/>
          <a:ext cx="8244916" cy="4368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8" name="向上箭號 67"/>
          <p:cNvSpPr/>
          <p:nvPr/>
        </p:nvSpPr>
        <p:spPr>
          <a:xfrm>
            <a:off x="467544" y="1484784"/>
            <a:ext cx="144016" cy="4248472"/>
          </a:xfrm>
          <a:prstGeom prst="upArrow">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a:p>
        </p:txBody>
      </p:sp>
      <p:sp>
        <p:nvSpPr>
          <p:cNvPr id="69" name="向右箭號 68"/>
          <p:cNvSpPr/>
          <p:nvPr/>
        </p:nvSpPr>
        <p:spPr>
          <a:xfrm>
            <a:off x="827584" y="6021288"/>
            <a:ext cx="8208912" cy="144016"/>
          </a:xfrm>
          <a:prstGeom prst="rightArrow">
            <a:avLst/>
          </a:prstGeom>
          <a:ln w="3175"/>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a:p>
        </p:txBody>
      </p:sp>
      <p:sp>
        <p:nvSpPr>
          <p:cNvPr id="70" name="文字方塊 69"/>
          <p:cNvSpPr txBox="1"/>
          <p:nvPr/>
        </p:nvSpPr>
        <p:spPr>
          <a:xfrm>
            <a:off x="61653" y="2870356"/>
            <a:ext cx="360040" cy="1477328"/>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硬體控制力</a:t>
            </a:r>
          </a:p>
        </p:txBody>
      </p:sp>
      <p:sp>
        <p:nvSpPr>
          <p:cNvPr id="71" name="文字方塊 70"/>
          <p:cNvSpPr txBox="1"/>
          <p:nvPr/>
        </p:nvSpPr>
        <p:spPr>
          <a:xfrm>
            <a:off x="4211960" y="6178160"/>
            <a:ext cx="1368152" cy="369332"/>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軟體控制力</a:t>
            </a:r>
          </a:p>
        </p:txBody>
      </p:sp>
      <p:sp>
        <p:nvSpPr>
          <p:cNvPr id="73" name="文字方塊 72"/>
          <p:cNvSpPr txBox="1"/>
          <p:nvPr/>
        </p:nvSpPr>
        <p:spPr>
          <a:xfrm>
            <a:off x="530737" y="5363924"/>
            <a:ext cx="415498" cy="369332"/>
          </a:xfrm>
          <a:prstGeom prst="rect">
            <a:avLst/>
          </a:prstGeom>
          <a:noFill/>
        </p:spPr>
        <p:txBody>
          <a:bodyPr wrap="non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弱</a:t>
            </a:r>
          </a:p>
        </p:txBody>
      </p:sp>
      <p:sp>
        <p:nvSpPr>
          <p:cNvPr id="74" name="文字方塊 73"/>
          <p:cNvSpPr txBox="1"/>
          <p:nvPr/>
        </p:nvSpPr>
        <p:spPr>
          <a:xfrm>
            <a:off x="530737" y="1412776"/>
            <a:ext cx="415498" cy="369332"/>
          </a:xfrm>
          <a:prstGeom prst="rect">
            <a:avLst/>
          </a:prstGeom>
          <a:noFill/>
        </p:spPr>
        <p:txBody>
          <a:bodyPr wrap="non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強</a:t>
            </a:r>
          </a:p>
        </p:txBody>
      </p:sp>
      <p:sp>
        <p:nvSpPr>
          <p:cNvPr id="76" name="文字方塊 75"/>
          <p:cNvSpPr txBox="1"/>
          <p:nvPr/>
        </p:nvSpPr>
        <p:spPr>
          <a:xfrm>
            <a:off x="755576" y="5660526"/>
            <a:ext cx="415498" cy="369332"/>
          </a:xfrm>
          <a:prstGeom prst="rect">
            <a:avLst/>
          </a:prstGeom>
          <a:noFill/>
        </p:spPr>
        <p:txBody>
          <a:bodyPr wrap="non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弱</a:t>
            </a:r>
          </a:p>
        </p:txBody>
      </p:sp>
      <p:sp>
        <p:nvSpPr>
          <p:cNvPr id="77" name="文字方塊 76"/>
          <p:cNvSpPr txBox="1"/>
          <p:nvPr/>
        </p:nvSpPr>
        <p:spPr>
          <a:xfrm>
            <a:off x="8696922" y="5660526"/>
            <a:ext cx="415498" cy="369332"/>
          </a:xfrm>
          <a:prstGeom prst="rect">
            <a:avLst/>
          </a:prstGeom>
          <a:noFill/>
        </p:spPr>
        <p:txBody>
          <a:bodyPr wrap="non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強</a:t>
            </a:r>
          </a:p>
        </p:txBody>
      </p:sp>
      <p:sp>
        <p:nvSpPr>
          <p:cNvPr id="78" name="矩形 77"/>
          <p:cNvSpPr/>
          <p:nvPr/>
        </p:nvSpPr>
        <p:spPr>
          <a:xfrm>
            <a:off x="1403648" y="1484784"/>
            <a:ext cx="2808312"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zh-TW" altLang="en-US" b="0" dirty="0">
                <a:solidFill>
                  <a:schemeClr val="tx1"/>
                </a:solidFill>
                <a:latin typeface="微軟正黑體" panose="020B0604030504040204" pitchFamily="34" charset="-120"/>
                <a:ea typeface="微軟正黑體" panose="020B0604030504040204" pitchFamily="34" charset="-120"/>
              </a:rPr>
              <a:t>特定裝置或裝置伴隨控制</a:t>
            </a:r>
          </a:p>
        </p:txBody>
      </p:sp>
      <p:sp>
        <p:nvSpPr>
          <p:cNvPr id="79" name="矩形 78"/>
          <p:cNvSpPr/>
          <p:nvPr/>
        </p:nvSpPr>
        <p:spPr>
          <a:xfrm>
            <a:off x="5508104" y="1484784"/>
            <a:ext cx="3024336"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zh-TW" altLang="en-US" b="0" dirty="0">
                <a:solidFill>
                  <a:schemeClr val="tx1"/>
                </a:solidFill>
                <a:latin typeface="微軟正黑體" panose="020B0604030504040204" pitchFamily="34" charset="-120"/>
                <a:ea typeface="微軟正黑體" panose="020B0604030504040204" pitchFamily="34" charset="-120"/>
              </a:rPr>
              <a:t>軟體控制裝置運作</a:t>
            </a:r>
          </a:p>
        </p:txBody>
      </p:sp>
      <p:sp>
        <p:nvSpPr>
          <p:cNvPr id="80" name="矩形 79"/>
          <p:cNvSpPr/>
          <p:nvPr/>
        </p:nvSpPr>
        <p:spPr>
          <a:xfrm>
            <a:off x="1403648" y="3695177"/>
            <a:ext cx="280831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zh-TW" altLang="en-US" dirty="0">
                <a:solidFill>
                  <a:schemeClr val="tx1"/>
                </a:solidFill>
                <a:latin typeface="微軟正黑體" panose="020B0604030504040204" pitchFamily="34" charset="-120"/>
                <a:ea typeface="微軟正黑體" panose="020B0604030504040204" pitchFamily="34" charset="-120"/>
              </a:rPr>
              <a:t>人為安排</a:t>
            </a:r>
            <a:endParaRPr lang="zh-TW" altLang="en-US" b="0" dirty="0">
              <a:solidFill>
                <a:schemeClr val="tx1"/>
              </a:solidFill>
              <a:latin typeface="微軟正黑體" panose="020B0604030504040204" pitchFamily="34" charset="-120"/>
              <a:ea typeface="微軟正黑體" panose="020B0604030504040204" pitchFamily="34" charset="-120"/>
            </a:endParaRPr>
          </a:p>
        </p:txBody>
      </p:sp>
      <p:sp>
        <p:nvSpPr>
          <p:cNvPr id="81" name="矩形 80"/>
          <p:cNvSpPr/>
          <p:nvPr/>
        </p:nvSpPr>
        <p:spPr>
          <a:xfrm>
            <a:off x="5508104" y="3695177"/>
            <a:ext cx="3024336"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zh-TW" altLang="en-US" b="0" dirty="0">
                <a:solidFill>
                  <a:schemeClr val="tx1"/>
                </a:solidFill>
                <a:latin typeface="微軟正黑體" panose="020B0604030504040204" pitchFamily="34" charset="-120"/>
                <a:ea typeface="微軟正黑體" panose="020B0604030504040204" pitchFamily="34" charset="-120"/>
              </a:rPr>
              <a:t>資訊科技</a:t>
            </a:r>
          </a:p>
        </p:txBody>
      </p:sp>
      <p:sp>
        <p:nvSpPr>
          <p:cNvPr id="82" name="矩形 81"/>
          <p:cNvSpPr/>
          <p:nvPr/>
        </p:nvSpPr>
        <p:spPr>
          <a:xfrm>
            <a:off x="1043608" y="1988840"/>
            <a:ext cx="3600400" cy="15121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陶瓷</a:t>
            </a:r>
            <a:r>
              <a:rPr lang="en-US" altLang="zh-TW" sz="1600" dirty="0">
                <a:solidFill>
                  <a:schemeClr val="tx1"/>
                </a:solidFill>
                <a:latin typeface="微軟正黑體" panose="020B0604030504040204" pitchFamily="34" charset="-120"/>
                <a:ea typeface="微軟正黑體" panose="020B0604030504040204" pitchFamily="34" charset="-120"/>
              </a:rPr>
              <a:t>3D</a:t>
            </a:r>
            <a:r>
              <a:rPr lang="zh-TW" altLang="en-US" sz="1600" dirty="0">
                <a:solidFill>
                  <a:schemeClr val="tx1"/>
                </a:solidFill>
                <a:latin typeface="微軟正黑體" panose="020B0604030504040204" pitchFamily="34" charset="-120"/>
                <a:ea typeface="微軟正黑體" panose="020B0604030504040204" pitchFamily="34" charset="-120"/>
              </a:rPr>
              <a:t>列印裝置</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觸控顯示裝置</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可攜式身份識別裝置</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用於半導體元件的散熱器</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觸控筆 </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電子輔助揀貨系統</a:t>
            </a:r>
          </a:p>
        </p:txBody>
      </p:sp>
      <p:sp>
        <p:nvSpPr>
          <p:cNvPr id="83" name="矩形 82"/>
          <p:cNvSpPr/>
          <p:nvPr/>
        </p:nvSpPr>
        <p:spPr>
          <a:xfrm>
            <a:off x="1043608" y="4187811"/>
            <a:ext cx="3600400" cy="15121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家教管理系統</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推薦購物系統</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寵物險快速理賠服務系統</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雲端社群預約點餐裝置</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金融操作評分系統 </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人格特質分析系統</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endParaRPr lang="zh-TW" altLang="en-US" sz="1600" dirty="0">
              <a:solidFill>
                <a:schemeClr val="tx1"/>
              </a:solidFill>
              <a:latin typeface="微軟正黑體" panose="020B0604030504040204" pitchFamily="34" charset="-120"/>
              <a:ea typeface="微軟正黑體" panose="020B0604030504040204" pitchFamily="34" charset="-120"/>
            </a:endParaRPr>
          </a:p>
        </p:txBody>
      </p:sp>
      <p:sp>
        <p:nvSpPr>
          <p:cNvPr id="84" name="矩形 83"/>
          <p:cNvSpPr/>
          <p:nvPr/>
        </p:nvSpPr>
        <p:spPr>
          <a:xfrm>
            <a:off x="5220072" y="1988840"/>
            <a:ext cx="3600400" cy="15121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自動調整輸出影像解析度系統</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屏下式指紋感測裝置</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半導體元件的檢測裝置</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能夠避免無效的記憶體儲存區塊交換之方法</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多個虛擬主機之整合系統 </a:t>
            </a:r>
          </a:p>
        </p:txBody>
      </p:sp>
      <p:sp>
        <p:nvSpPr>
          <p:cNvPr id="85" name="矩形 84"/>
          <p:cNvSpPr/>
          <p:nvPr/>
        </p:nvSpPr>
        <p:spPr>
          <a:xfrm>
            <a:off x="5215880" y="4175792"/>
            <a:ext cx="3600400" cy="15121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基於資訊安全的三方驗證</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數位身分證之全自動資料讀取裝置 </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智能化核對身分系統</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結合擴增實境應用的區塊鏈介面</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利用影像辨識輔助岩心影像產生</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無人機飛航管理系統</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endParaRPr lang="zh-TW" altLang="en-US" sz="1600" dirty="0">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268216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軟體專利特性</a:t>
            </a:r>
            <a:r>
              <a:rPr lang="en-US" altLang="zh-TW" dirty="0"/>
              <a:t>-</a:t>
            </a:r>
            <a:r>
              <a:rPr lang="zh-TW" altLang="en-US" dirty="0"/>
              <a:t>類型</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15</a:t>
            </a:fld>
            <a:endParaRPr lang="zh-TW" altLang="en-US"/>
          </a:p>
        </p:txBody>
      </p:sp>
      <p:sp>
        <p:nvSpPr>
          <p:cNvPr id="6" name="矩形 5"/>
          <p:cNvSpPr/>
          <p:nvPr/>
        </p:nvSpPr>
        <p:spPr>
          <a:xfrm>
            <a:off x="755576" y="832296"/>
            <a:ext cx="8280920" cy="46166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TW" altLang="en-US" sz="2400" dirty="0">
                <a:solidFill>
                  <a:schemeClr val="tx1"/>
                </a:solidFill>
                <a:latin typeface="微軟正黑體" panose="020B0604030504040204" pitchFamily="34" charset="-120"/>
                <a:ea typeface="微軟正黑體" panose="020B0604030504040204" pitchFamily="34" charset="-120"/>
              </a:rPr>
              <a:t>人為安排</a:t>
            </a:r>
            <a:endParaRPr lang="zh-TW" altLang="en-US" sz="2400" b="0" dirty="0">
              <a:solidFill>
                <a:schemeClr val="tx1"/>
              </a:solidFill>
              <a:latin typeface="微軟正黑體" panose="020B0604030504040204" pitchFamily="34" charset="-120"/>
              <a:ea typeface="微軟正黑體" panose="020B0604030504040204" pitchFamily="34" charset="-120"/>
            </a:endParaRPr>
          </a:p>
        </p:txBody>
      </p:sp>
      <p:graphicFrame>
        <p:nvGraphicFramePr>
          <p:cNvPr id="7" name="資料庫圖表 6"/>
          <p:cNvGraphicFramePr/>
          <p:nvPr>
            <p:extLst>
              <p:ext uri="{D42A27DB-BD31-4B8C-83A1-F6EECF244321}">
                <p14:modId xmlns:p14="http://schemas.microsoft.com/office/powerpoint/2010/main" val="1931737728"/>
              </p:ext>
            </p:extLst>
          </p:nvPr>
        </p:nvGraphicFramePr>
        <p:xfrm>
          <a:off x="791580" y="1412776"/>
          <a:ext cx="8244916" cy="4368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向上箭號 7"/>
          <p:cNvSpPr/>
          <p:nvPr/>
        </p:nvSpPr>
        <p:spPr>
          <a:xfrm>
            <a:off x="467544" y="1484784"/>
            <a:ext cx="144016" cy="4248472"/>
          </a:xfrm>
          <a:prstGeom prst="upArrow">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a:p>
        </p:txBody>
      </p:sp>
      <p:sp>
        <p:nvSpPr>
          <p:cNvPr id="9" name="向右箭號 8"/>
          <p:cNvSpPr/>
          <p:nvPr/>
        </p:nvSpPr>
        <p:spPr>
          <a:xfrm>
            <a:off x="827584" y="6021288"/>
            <a:ext cx="8208912" cy="144016"/>
          </a:xfrm>
          <a:prstGeom prst="rightArrow">
            <a:avLst/>
          </a:prstGeom>
          <a:ln w="3175"/>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a:p>
        </p:txBody>
      </p:sp>
      <p:sp>
        <p:nvSpPr>
          <p:cNvPr id="10" name="文字方塊 9"/>
          <p:cNvSpPr txBox="1"/>
          <p:nvPr/>
        </p:nvSpPr>
        <p:spPr>
          <a:xfrm>
            <a:off x="61653" y="2870356"/>
            <a:ext cx="360040" cy="1477328"/>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硬體控制力</a:t>
            </a:r>
          </a:p>
        </p:txBody>
      </p:sp>
      <p:sp>
        <p:nvSpPr>
          <p:cNvPr id="11" name="文字方塊 10"/>
          <p:cNvSpPr txBox="1"/>
          <p:nvPr/>
        </p:nvSpPr>
        <p:spPr>
          <a:xfrm>
            <a:off x="4211960" y="6178160"/>
            <a:ext cx="1368152" cy="369332"/>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軟體控制力</a:t>
            </a:r>
          </a:p>
        </p:txBody>
      </p:sp>
      <p:sp>
        <p:nvSpPr>
          <p:cNvPr id="12" name="文字方塊 11"/>
          <p:cNvSpPr txBox="1"/>
          <p:nvPr/>
        </p:nvSpPr>
        <p:spPr>
          <a:xfrm>
            <a:off x="530737" y="5363924"/>
            <a:ext cx="415498" cy="369332"/>
          </a:xfrm>
          <a:prstGeom prst="rect">
            <a:avLst/>
          </a:prstGeom>
          <a:noFill/>
        </p:spPr>
        <p:txBody>
          <a:bodyPr wrap="non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無</a:t>
            </a:r>
          </a:p>
        </p:txBody>
      </p:sp>
      <p:sp>
        <p:nvSpPr>
          <p:cNvPr id="13" name="文字方塊 12"/>
          <p:cNvSpPr txBox="1"/>
          <p:nvPr/>
        </p:nvSpPr>
        <p:spPr>
          <a:xfrm>
            <a:off x="755576" y="5660526"/>
            <a:ext cx="415498" cy="369332"/>
          </a:xfrm>
          <a:prstGeom prst="rect">
            <a:avLst/>
          </a:prstGeom>
          <a:noFill/>
        </p:spPr>
        <p:txBody>
          <a:bodyPr wrap="non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無</a:t>
            </a:r>
          </a:p>
        </p:txBody>
      </p:sp>
      <p:sp>
        <p:nvSpPr>
          <p:cNvPr id="14" name="文字方塊 13"/>
          <p:cNvSpPr txBox="1"/>
          <p:nvPr/>
        </p:nvSpPr>
        <p:spPr>
          <a:xfrm>
            <a:off x="530737" y="1484784"/>
            <a:ext cx="415498" cy="369332"/>
          </a:xfrm>
          <a:prstGeom prst="rect">
            <a:avLst/>
          </a:prstGeom>
          <a:noFill/>
        </p:spPr>
        <p:txBody>
          <a:bodyPr wrap="non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弱</a:t>
            </a:r>
          </a:p>
        </p:txBody>
      </p:sp>
      <p:sp>
        <p:nvSpPr>
          <p:cNvPr id="15" name="文字方塊 14"/>
          <p:cNvSpPr txBox="1"/>
          <p:nvPr/>
        </p:nvSpPr>
        <p:spPr>
          <a:xfrm>
            <a:off x="8628062" y="5660526"/>
            <a:ext cx="415498" cy="369332"/>
          </a:xfrm>
          <a:prstGeom prst="rect">
            <a:avLst/>
          </a:prstGeom>
          <a:noFill/>
        </p:spPr>
        <p:txBody>
          <a:bodyPr wrap="non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弱</a:t>
            </a:r>
          </a:p>
        </p:txBody>
      </p:sp>
      <p:sp>
        <p:nvSpPr>
          <p:cNvPr id="16" name="矩形 15"/>
          <p:cNvSpPr/>
          <p:nvPr/>
        </p:nvSpPr>
        <p:spPr>
          <a:xfrm>
            <a:off x="1403648" y="1484784"/>
            <a:ext cx="2808312"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zh-TW" altLang="en-US" b="0" dirty="0">
                <a:solidFill>
                  <a:schemeClr val="tx1"/>
                </a:solidFill>
                <a:latin typeface="微軟正黑體" panose="020B0604030504040204" pitchFamily="34" charset="-120"/>
                <a:ea typeface="微軟正黑體" panose="020B0604030504040204" pitchFamily="34" charset="-120"/>
              </a:rPr>
              <a:t>硬體是人為安排之工具</a:t>
            </a:r>
          </a:p>
        </p:txBody>
      </p:sp>
      <p:sp>
        <p:nvSpPr>
          <p:cNvPr id="17" name="矩形 16"/>
          <p:cNvSpPr/>
          <p:nvPr/>
        </p:nvSpPr>
        <p:spPr>
          <a:xfrm>
            <a:off x="5508104" y="1484784"/>
            <a:ext cx="3024336"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zh-TW" altLang="en-US" b="0" dirty="0">
                <a:solidFill>
                  <a:schemeClr val="tx1"/>
                </a:solidFill>
                <a:latin typeface="微軟正黑體" panose="020B0604030504040204" pitchFamily="34" charset="-120"/>
                <a:ea typeface="微軟正黑體" panose="020B0604030504040204" pitchFamily="34" charset="-120"/>
              </a:rPr>
              <a:t>軟硬體交互作用</a:t>
            </a:r>
          </a:p>
        </p:txBody>
      </p:sp>
      <p:sp>
        <p:nvSpPr>
          <p:cNvPr id="18" name="矩形 17"/>
          <p:cNvSpPr/>
          <p:nvPr/>
        </p:nvSpPr>
        <p:spPr>
          <a:xfrm>
            <a:off x="1403648" y="3695177"/>
            <a:ext cx="2808312"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zh-TW" altLang="en-US" dirty="0">
                <a:solidFill>
                  <a:schemeClr val="tx1"/>
                </a:solidFill>
                <a:latin typeface="微軟正黑體" panose="020B0604030504040204" pitchFamily="34" charset="-120"/>
                <a:ea typeface="微軟正黑體" panose="020B0604030504040204" pitchFamily="34" charset="-120"/>
              </a:rPr>
              <a:t>人為規則、人為安排</a:t>
            </a:r>
            <a:endParaRPr lang="zh-TW" altLang="en-US" b="0" dirty="0">
              <a:solidFill>
                <a:schemeClr val="tx1"/>
              </a:solidFill>
              <a:latin typeface="微軟正黑體" panose="020B0604030504040204" pitchFamily="34" charset="-120"/>
              <a:ea typeface="微軟正黑體" panose="020B0604030504040204" pitchFamily="34" charset="-120"/>
            </a:endParaRPr>
          </a:p>
        </p:txBody>
      </p:sp>
      <p:sp>
        <p:nvSpPr>
          <p:cNvPr id="19" name="矩形 18"/>
          <p:cNvSpPr/>
          <p:nvPr/>
        </p:nvSpPr>
        <p:spPr>
          <a:xfrm>
            <a:off x="5508104" y="3695177"/>
            <a:ext cx="3024336"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zh-TW" altLang="en-US" dirty="0">
                <a:solidFill>
                  <a:schemeClr val="tx1"/>
                </a:solidFill>
                <a:latin typeface="微軟正黑體" panose="020B0604030504040204" pitchFamily="34" charset="-120"/>
                <a:ea typeface="微軟正黑體" panose="020B0604030504040204" pitchFamily="34" charset="-120"/>
              </a:rPr>
              <a:t>具體實現資訊處理</a:t>
            </a:r>
            <a:endParaRPr lang="zh-TW" altLang="en-US" b="0" dirty="0">
              <a:solidFill>
                <a:schemeClr val="tx1"/>
              </a:solidFill>
              <a:latin typeface="微軟正黑體" panose="020B0604030504040204" pitchFamily="34" charset="-120"/>
              <a:ea typeface="微軟正黑體" panose="020B0604030504040204" pitchFamily="34" charset="-120"/>
            </a:endParaRPr>
          </a:p>
        </p:txBody>
      </p:sp>
      <p:sp>
        <p:nvSpPr>
          <p:cNvPr id="20" name="矩形 19"/>
          <p:cNvSpPr/>
          <p:nvPr/>
        </p:nvSpPr>
        <p:spPr>
          <a:xfrm>
            <a:off x="1043608" y="1988840"/>
            <a:ext cx="3600400" cy="15121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單純利用電腦實現人為規則，實質仍為人為規則本身的發明</a:t>
            </a:r>
          </a:p>
        </p:txBody>
      </p:sp>
      <p:sp>
        <p:nvSpPr>
          <p:cNvPr id="21" name="矩形 20"/>
          <p:cNvSpPr/>
          <p:nvPr/>
        </p:nvSpPr>
        <p:spPr>
          <a:xfrm>
            <a:off x="1043608" y="4187811"/>
            <a:ext cx="3600400" cy="15121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人為安排</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自然法則以外之規律或人為規則</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數學公式或數學方法</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人類的精神或心智活動</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商業模式</a:t>
            </a:r>
          </a:p>
        </p:txBody>
      </p:sp>
      <p:sp>
        <p:nvSpPr>
          <p:cNvPr id="22" name="矩形 21"/>
          <p:cNvSpPr/>
          <p:nvPr/>
        </p:nvSpPr>
        <p:spPr>
          <a:xfrm>
            <a:off x="5220072" y="1988840"/>
            <a:ext cx="3600400" cy="15121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金融科技</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車流估算系統</a:t>
            </a: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咖啡栽培環境檢測系統</a:t>
            </a: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神經認知功能評估系統</a:t>
            </a: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病歷資料共享系統</a:t>
            </a:r>
          </a:p>
          <a:p>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endParaRPr lang="zh-TW" altLang="en-US" sz="1600" dirty="0">
              <a:solidFill>
                <a:schemeClr val="tx1"/>
              </a:solidFill>
              <a:latin typeface="微軟正黑體" panose="020B0604030504040204" pitchFamily="34" charset="-120"/>
              <a:ea typeface="微軟正黑體" panose="020B0604030504040204" pitchFamily="34" charset="-120"/>
            </a:endParaRPr>
          </a:p>
        </p:txBody>
      </p:sp>
      <p:sp>
        <p:nvSpPr>
          <p:cNvPr id="23" name="矩形 22"/>
          <p:cNvSpPr/>
          <p:nvPr/>
        </p:nvSpPr>
        <p:spPr>
          <a:xfrm>
            <a:off x="5215880" y="4175792"/>
            <a:ext cx="3600400" cy="15121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遠端訂餐系統</a:t>
            </a: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無人商店管理系統</a:t>
            </a: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文檔摘要產生系統</a:t>
            </a:r>
            <a:endParaRPr lang="en-US" altLang="zh-TW" sz="1600" dirty="0">
              <a:solidFill>
                <a:schemeClr val="tx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l"/>
            </a:pPr>
            <a:r>
              <a:rPr lang="zh-TW" altLang="en-US" sz="1600" dirty="0">
                <a:solidFill>
                  <a:schemeClr val="tx1"/>
                </a:solidFill>
                <a:latin typeface="微軟正黑體" panose="020B0604030504040204" pitchFamily="34" charset="-120"/>
                <a:ea typeface="微軟正黑體" panose="020B0604030504040204" pitchFamily="34" charset="-120"/>
              </a:rPr>
              <a:t>直播即時銷售系統</a:t>
            </a:r>
          </a:p>
          <a:p>
            <a:endParaRPr lang="zh-TW" altLang="en-US" sz="1600" dirty="0">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623236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電腦軟體與專利</a:t>
            </a:r>
          </a:p>
        </p:txBody>
      </p:sp>
      <p:sp>
        <p:nvSpPr>
          <p:cNvPr id="3" name="內容版面配置區 2"/>
          <p:cNvSpPr>
            <a:spLocks noGrp="1"/>
          </p:cNvSpPr>
          <p:nvPr>
            <p:ph idx="1"/>
          </p:nvPr>
        </p:nvSpPr>
        <p:spPr>
          <a:xfrm>
            <a:off x="251520" y="887760"/>
            <a:ext cx="4124659" cy="504056"/>
          </a:xfrm>
        </p:spPr>
        <p:style>
          <a:lnRef idx="1">
            <a:schemeClr val="accent3"/>
          </a:lnRef>
          <a:fillRef idx="2">
            <a:schemeClr val="accent3"/>
          </a:fillRef>
          <a:effectRef idx="1">
            <a:schemeClr val="accent3"/>
          </a:effectRef>
          <a:fontRef idx="minor">
            <a:schemeClr val="dk1"/>
          </a:fontRef>
        </p:style>
        <p:txBody>
          <a:bodyPr/>
          <a:lstStyle/>
          <a:p>
            <a:pPr marL="0" indent="0" algn="ctr">
              <a:buNone/>
            </a:pPr>
            <a:r>
              <a:rPr lang="zh-TW" altLang="en-US" sz="2500" dirty="0"/>
              <a:t>特定裝置</a:t>
            </a:r>
          </a:p>
        </p:txBody>
      </p:sp>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pPr>
                <a:defRPr/>
              </a:pPr>
              <a:t>16</a:t>
            </a:fld>
            <a:endParaRPr lang="zh-TW" altLang="en-US"/>
          </a:p>
        </p:txBody>
      </p:sp>
      <p:sp>
        <p:nvSpPr>
          <p:cNvPr id="5" name="矩形 4"/>
          <p:cNvSpPr/>
          <p:nvPr/>
        </p:nvSpPr>
        <p:spPr>
          <a:xfrm>
            <a:off x="4499992" y="1494566"/>
            <a:ext cx="4499992" cy="4695902"/>
          </a:xfrm>
          <a:prstGeom prst="rect">
            <a:avLst/>
          </a:prstGeom>
        </p:spPr>
        <p:style>
          <a:lnRef idx="2">
            <a:schemeClr val="accent6"/>
          </a:lnRef>
          <a:fillRef idx="1">
            <a:schemeClr val="lt1"/>
          </a:fillRef>
          <a:effectRef idx="0">
            <a:schemeClr val="accent6"/>
          </a:effectRef>
          <a:fontRef idx="minor">
            <a:schemeClr val="dk1"/>
          </a:fontRef>
        </p:style>
        <p:txBody>
          <a:bodyPr wrap="square">
            <a:noAutofit/>
          </a:bodyPr>
          <a:lstStyle/>
          <a:p>
            <a:r>
              <a:rPr lang="zh-TW" altLang="en-US" sz="1500" b="0" dirty="0">
                <a:solidFill>
                  <a:schemeClr val="tx1"/>
                </a:solidFill>
                <a:latin typeface="微軟正黑體" panose="020B0604030504040204" pitchFamily="34" charset="-120"/>
                <a:ea typeface="微軟正黑體" panose="020B0604030504040204" pitchFamily="34" charset="-120"/>
              </a:rPr>
              <a:t>一種</a:t>
            </a:r>
            <a:r>
              <a:rPr lang="en-US" altLang="zh-TW" sz="1500" b="0" dirty="0">
                <a:solidFill>
                  <a:schemeClr val="tx1"/>
                </a:solidFill>
                <a:latin typeface="微軟正黑體" panose="020B0604030504040204" pitchFamily="34" charset="-120"/>
                <a:ea typeface="微軟正黑體" panose="020B0604030504040204" pitchFamily="34" charset="-120"/>
              </a:rPr>
              <a:t>3D</a:t>
            </a:r>
            <a:r>
              <a:rPr lang="zh-TW" altLang="en-US" sz="1500" b="0" dirty="0">
                <a:solidFill>
                  <a:schemeClr val="tx1"/>
                </a:solidFill>
                <a:latin typeface="微軟正黑體" panose="020B0604030504040204" pitchFamily="34" charset="-120"/>
                <a:ea typeface="微軟正黑體" panose="020B0604030504040204" pitchFamily="34" charset="-120"/>
              </a:rPr>
              <a:t>列印裝置之自檢</a:t>
            </a:r>
            <a:r>
              <a:rPr lang="zh-TW" altLang="en-US" sz="1500" b="0" dirty="0">
                <a:solidFill>
                  <a:srgbClr val="FF0000"/>
                </a:solidFill>
                <a:latin typeface="微軟正黑體" panose="020B0604030504040204" pitchFamily="34" charset="-120"/>
                <a:ea typeface="微軟正黑體" panose="020B0604030504040204" pitchFamily="34" charset="-120"/>
              </a:rPr>
              <a:t>系統</a:t>
            </a:r>
            <a:r>
              <a:rPr lang="zh-TW" altLang="en-US" sz="1500" b="0" dirty="0">
                <a:solidFill>
                  <a:schemeClr val="tx1"/>
                </a:solidFill>
                <a:latin typeface="微軟正黑體" panose="020B0604030504040204" pitchFamily="34" charset="-120"/>
                <a:ea typeface="微軟正黑體" panose="020B0604030504040204" pitchFamily="34" charset="-120"/>
              </a:rPr>
              <a:t>，包括：</a:t>
            </a:r>
            <a:endParaRPr lang="en-US" altLang="zh-TW" sz="1500" b="0" dirty="0">
              <a:solidFill>
                <a:schemeClr val="tx1"/>
              </a:solidFill>
              <a:latin typeface="微軟正黑體" panose="020B0604030504040204" pitchFamily="34" charset="-120"/>
              <a:ea typeface="微軟正黑體" panose="020B0604030504040204" pitchFamily="34" charset="-120"/>
            </a:endParaRPr>
          </a:p>
          <a:p>
            <a:pPr indent="269875"/>
            <a:r>
              <a:rPr lang="zh-TW" altLang="en-US" sz="1500" b="0" dirty="0">
                <a:solidFill>
                  <a:srgbClr val="FF0000"/>
                </a:solidFill>
                <a:latin typeface="微軟正黑體" panose="020B0604030504040204" pitchFamily="34" charset="-120"/>
                <a:ea typeface="微軟正黑體" panose="020B0604030504040204" pitchFamily="34" charset="-120"/>
              </a:rPr>
              <a:t>一測試模組</a:t>
            </a:r>
            <a:r>
              <a:rPr lang="zh-TW" altLang="en-US" sz="1500" b="0" dirty="0">
                <a:solidFill>
                  <a:schemeClr val="tx1"/>
                </a:solidFill>
                <a:latin typeface="微軟正黑體" panose="020B0604030504040204" pitchFamily="34" charset="-120"/>
                <a:ea typeface="微軟正黑體" panose="020B0604030504040204" pitchFamily="34" charset="-120"/>
              </a:rPr>
              <a:t>，對該</a:t>
            </a:r>
            <a:r>
              <a:rPr lang="en-US" altLang="zh-TW" sz="1500" b="0" dirty="0">
                <a:solidFill>
                  <a:schemeClr val="tx1"/>
                </a:solidFill>
                <a:latin typeface="微軟正黑體" panose="020B0604030504040204" pitchFamily="34" charset="-120"/>
                <a:ea typeface="微軟正黑體" panose="020B0604030504040204" pitchFamily="34" charset="-120"/>
              </a:rPr>
              <a:t>3D</a:t>
            </a:r>
            <a:r>
              <a:rPr lang="zh-TW" altLang="en-US" sz="1500" b="0" dirty="0">
                <a:solidFill>
                  <a:schemeClr val="tx1"/>
                </a:solidFill>
                <a:latin typeface="微軟正黑體" panose="020B0604030504040204" pitchFamily="34" charset="-120"/>
                <a:ea typeface="微軟正黑體" panose="020B0604030504040204" pitchFamily="34" charset="-120"/>
              </a:rPr>
              <a:t>列印裝置之一部件進行自檢測試並獲取一測試結果；以及</a:t>
            </a:r>
            <a:endParaRPr lang="en-US" altLang="zh-TW" sz="1500" b="0" dirty="0">
              <a:solidFill>
                <a:schemeClr val="tx1"/>
              </a:solidFill>
              <a:latin typeface="微軟正黑體" panose="020B0604030504040204" pitchFamily="34" charset="-120"/>
              <a:ea typeface="微軟正黑體" panose="020B0604030504040204" pitchFamily="34" charset="-120"/>
            </a:endParaRPr>
          </a:p>
          <a:p>
            <a:pPr indent="269875"/>
            <a:r>
              <a:rPr lang="zh-TW" altLang="en-US" sz="1500" b="0" dirty="0">
                <a:solidFill>
                  <a:srgbClr val="FF0000"/>
                </a:solidFill>
                <a:latin typeface="微軟正黑體" panose="020B0604030504040204" pitchFamily="34" charset="-120"/>
                <a:ea typeface="微軟正黑體" panose="020B0604030504040204" pitchFamily="34" charset="-120"/>
              </a:rPr>
              <a:t>一判斷模組</a:t>
            </a:r>
            <a:r>
              <a:rPr lang="zh-TW" altLang="en-US" sz="1500" b="0" dirty="0">
                <a:solidFill>
                  <a:schemeClr val="tx1"/>
                </a:solidFill>
                <a:latin typeface="微軟正黑體" panose="020B0604030504040204" pitchFamily="34" charset="-120"/>
                <a:ea typeface="微軟正黑體" panose="020B0604030504040204" pitchFamily="34" charset="-120"/>
              </a:rPr>
              <a:t>，電性連接該測試模組，用於判斷該測試結果是否正常；其中，若判斷結果為是，則顯示該部件測試之一正常訊息，若判斷結果為否，則根據該測試結果對該部件自動進行調整或顯示該部件待維修之一提示訊息；其中，該測試模組更包括：</a:t>
            </a:r>
            <a:endParaRPr lang="en-US" altLang="zh-TW" sz="1500" b="0" dirty="0">
              <a:solidFill>
                <a:schemeClr val="tx1"/>
              </a:solidFill>
              <a:latin typeface="微軟正黑體" panose="020B0604030504040204" pitchFamily="34" charset="-120"/>
              <a:ea typeface="微軟正黑體" panose="020B0604030504040204" pitchFamily="34" charset="-120"/>
            </a:endParaRPr>
          </a:p>
          <a:p>
            <a:pPr indent="269875"/>
            <a:r>
              <a:rPr lang="zh-TW" altLang="en-US" sz="1500" b="0" dirty="0">
                <a:solidFill>
                  <a:srgbClr val="FF0000"/>
                </a:solidFill>
                <a:latin typeface="微軟正黑體" panose="020B0604030504040204" pitchFamily="34" charset="-120"/>
                <a:ea typeface="微軟正黑體" panose="020B0604030504040204" pitchFamily="34" charset="-120"/>
              </a:rPr>
              <a:t>一移動設定單元</a:t>
            </a:r>
            <a:r>
              <a:rPr lang="zh-TW" altLang="en-US" sz="1500" b="0" dirty="0">
                <a:solidFill>
                  <a:schemeClr val="tx1"/>
                </a:solidFill>
                <a:latin typeface="微軟正黑體" panose="020B0604030504040204" pitchFamily="34" charset="-120"/>
                <a:ea typeface="微軟正黑體" panose="020B0604030504040204" pitchFamily="34" charset="-120"/>
              </a:rPr>
              <a:t>，</a:t>
            </a:r>
            <a:endParaRPr lang="en-US" altLang="zh-TW" sz="1500" b="0" dirty="0">
              <a:solidFill>
                <a:schemeClr val="tx1"/>
              </a:solidFill>
              <a:latin typeface="微軟正黑體" panose="020B0604030504040204" pitchFamily="34" charset="-120"/>
              <a:ea typeface="微軟正黑體" panose="020B0604030504040204" pitchFamily="34" charset="-120"/>
            </a:endParaRPr>
          </a:p>
          <a:p>
            <a:r>
              <a:rPr lang="zh-TW" altLang="en-US" sz="1500" b="0" u="sng" dirty="0">
                <a:solidFill>
                  <a:schemeClr val="tx1"/>
                </a:solidFill>
                <a:latin typeface="微軟正黑體" panose="020B0604030504040204" pitchFamily="34" charset="-120"/>
                <a:ea typeface="微軟正黑體" panose="020B0604030504040204" pitchFamily="34" charset="-120"/>
              </a:rPr>
              <a:t>控制</a:t>
            </a:r>
            <a:r>
              <a:rPr lang="en-US" altLang="zh-TW" sz="1500" b="0" dirty="0">
                <a:solidFill>
                  <a:schemeClr val="tx1"/>
                </a:solidFill>
                <a:latin typeface="微軟正黑體" panose="020B0604030504040204" pitchFamily="34" charset="-120"/>
                <a:ea typeface="微軟正黑體" panose="020B0604030504040204" pitchFamily="34" charset="-120"/>
              </a:rPr>
              <a:t>X</a:t>
            </a:r>
            <a:r>
              <a:rPr lang="zh-TW" altLang="en-US" sz="1500" b="0" dirty="0">
                <a:solidFill>
                  <a:schemeClr val="tx1"/>
                </a:solidFill>
                <a:latin typeface="微軟正黑體" panose="020B0604030504040204" pitchFamily="34" charset="-120"/>
                <a:ea typeface="微軟正黑體" panose="020B0604030504040204" pitchFamily="34" charset="-120"/>
              </a:rPr>
              <a:t>、</a:t>
            </a:r>
            <a:r>
              <a:rPr lang="en-US" altLang="zh-TW" sz="1500" b="0" dirty="0">
                <a:solidFill>
                  <a:schemeClr val="tx1"/>
                </a:solidFill>
                <a:latin typeface="微軟正黑體" panose="020B0604030504040204" pitchFamily="34" charset="-120"/>
                <a:ea typeface="微軟正黑體" panose="020B0604030504040204" pitchFamily="34" charset="-120"/>
              </a:rPr>
              <a:t>Y</a:t>
            </a:r>
            <a:r>
              <a:rPr lang="zh-TW" altLang="en-US" sz="1500" b="0" dirty="0">
                <a:solidFill>
                  <a:schemeClr val="tx1"/>
                </a:solidFill>
                <a:latin typeface="微軟正黑體" panose="020B0604030504040204" pitchFamily="34" charset="-120"/>
                <a:ea typeface="微軟正黑體" panose="020B0604030504040204" pitchFamily="34" charset="-120"/>
              </a:rPr>
              <a:t>或</a:t>
            </a:r>
            <a:r>
              <a:rPr lang="en-US" altLang="zh-TW" sz="1500" b="0" dirty="0">
                <a:solidFill>
                  <a:schemeClr val="tx1"/>
                </a:solidFill>
                <a:latin typeface="微軟正黑體" panose="020B0604030504040204" pitchFamily="34" charset="-120"/>
                <a:ea typeface="微軟正黑體" panose="020B0604030504040204" pitchFamily="34" charset="-120"/>
              </a:rPr>
              <a:t>Z</a:t>
            </a:r>
            <a:r>
              <a:rPr lang="zh-TW" altLang="en-US" sz="1500" b="0" dirty="0">
                <a:solidFill>
                  <a:schemeClr val="tx1"/>
                </a:solidFill>
                <a:latin typeface="微軟正黑體" panose="020B0604030504040204" pitchFamily="34" charset="-120"/>
                <a:ea typeface="微軟正黑體" panose="020B0604030504040204" pitchFamily="34" charset="-120"/>
              </a:rPr>
              <a:t>軸之該</a:t>
            </a:r>
            <a:endParaRPr lang="en-US" altLang="zh-TW" sz="1500" b="0" dirty="0">
              <a:solidFill>
                <a:schemeClr val="tx1"/>
              </a:solidFill>
              <a:latin typeface="微軟正黑體" panose="020B0604030504040204" pitchFamily="34" charset="-120"/>
              <a:ea typeface="微軟正黑體" panose="020B0604030504040204" pitchFamily="34" charset="-120"/>
            </a:endParaRPr>
          </a:p>
          <a:p>
            <a:r>
              <a:rPr lang="zh-TW" altLang="en-US" sz="1500" b="0" dirty="0">
                <a:solidFill>
                  <a:schemeClr val="tx1"/>
                </a:solidFill>
                <a:latin typeface="微軟正黑體" panose="020B0604030504040204" pitchFamily="34" charset="-120"/>
                <a:ea typeface="微軟正黑體" panose="020B0604030504040204" pitchFamily="34" charset="-120"/>
              </a:rPr>
              <a:t>部件驅動一噴頭回歸</a:t>
            </a:r>
            <a:endParaRPr lang="en-US" altLang="zh-TW" sz="1500" b="0" dirty="0">
              <a:solidFill>
                <a:schemeClr val="tx1"/>
              </a:solidFill>
              <a:latin typeface="微軟正黑體" panose="020B0604030504040204" pitchFamily="34" charset="-120"/>
              <a:ea typeface="微軟正黑體" panose="020B0604030504040204" pitchFamily="34" charset="-120"/>
            </a:endParaRPr>
          </a:p>
          <a:p>
            <a:r>
              <a:rPr lang="zh-TW" altLang="en-US" sz="1500" b="0" dirty="0">
                <a:solidFill>
                  <a:schemeClr val="tx1"/>
                </a:solidFill>
                <a:latin typeface="微軟正黑體" panose="020B0604030504040204" pitchFamily="34" charset="-120"/>
                <a:ea typeface="微軟正黑體" panose="020B0604030504040204" pitchFamily="34" charset="-120"/>
              </a:rPr>
              <a:t>至一初始位置，並設</a:t>
            </a:r>
            <a:endParaRPr lang="en-US" altLang="zh-TW" sz="1500" b="0" dirty="0">
              <a:solidFill>
                <a:schemeClr val="tx1"/>
              </a:solidFill>
              <a:latin typeface="微軟正黑體" panose="020B0604030504040204" pitchFamily="34" charset="-120"/>
              <a:ea typeface="微軟正黑體" panose="020B0604030504040204" pitchFamily="34" charset="-120"/>
            </a:endParaRPr>
          </a:p>
          <a:p>
            <a:r>
              <a:rPr lang="zh-TW" altLang="en-US" sz="1500" b="0" dirty="0">
                <a:solidFill>
                  <a:schemeClr val="tx1"/>
                </a:solidFill>
                <a:latin typeface="微軟正黑體" panose="020B0604030504040204" pitchFamily="34" charset="-120"/>
                <a:ea typeface="微軟正黑體" panose="020B0604030504040204" pitchFamily="34" charset="-120"/>
              </a:rPr>
              <a:t>定該噴頭於</a:t>
            </a:r>
            <a:r>
              <a:rPr lang="en-US" altLang="zh-TW" sz="1500" b="0" dirty="0">
                <a:solidFill>
                  <a:schemeClr val="tx1"/>
                </a:solidFill>
                <a:latin typeface="微軟正黑體" panose="020B0604030504040204" pitchFamily="34" charset="-120"/>
                <a:ea typeface="微軟正黑體" panose="020B0604030504040204" pitchFamily="34" charset="-120"/>
              </a:rPr>
              <a:t>X</a:t>
            </a:r>
            <a:r>
              <a:rPr lang="zh-TW" altLang="en-US" sz="1500" b="0" dirty="0">
                <a:solidFill>
                  <a:schemeClr val="tx1"/>
                </a:solidFill>
                <a:latin typeface="微軟正黑體" panose="020B0604030504040204" pitchFamily="34" charset="-120"/>
                <a:ea typeface="微軟正黑體" panose="020B0604030504040204" pitchFamily="34" charset="-120"/>
              </a:rPr>
              <a:t>、</a:t>
            </a:r>
            <a:r>
              <a:rPr lang="en-US" altLang="zh-TW" sz="1500" b="0" dirty="0">
                <a:solidFill>
                  <a:schemeClr val="tx1"/>
                </a:solidFill>
                <a:latin typeface="微軟正黑體" panose="020B0604030504040204" pitchFamily="34" charset="-120"/>
                <a:ea typeface="微軟正黑體" panose="020B0604030504040204" pitchFamily="34" charset="-120"/>
              </a:rPr>
              <a:t>Y</a:t>
            </a:r>
            <a:r>
              <a:rPr lang="zh-TW" altLang="en-US" sz="1500" b="0" dirty="0">
                <a:solidFill>
                  <a:schemeClr val="tx1"/>
                </a:solidFill>
                <a:latin typeface="微軟正黑體" panose="020B0604030504040204" pitchFamily="34" charset="-120"/>
                <a:ea typeface="微軟正黑體" panose="020B0604030504040204" pitchFamily="34" charset="-120"/>
              </a:rPr>
              <a:t>或</a:t>
            </a:r>
            <a:r>
              <a:rPr lang="en-US" altLang="zh-TW" sz="1500" b="0" dirty="0">
                <a:solidFill>
                  <a:schemeClr val="tx1"/>
                </a:solidFill>
                <a:latin typeface="微軟正黑體" panose="020B0604030504040204" pitchFamily="34" charset="-120"/>
                <a:ea typeface="微軟正黑體" panose="020B0604030504040204" pitchFamily="34" charset="-120"/>
              </a:rPr>
              <a:t>Z</a:t>
            </a:r>
          </a:p>
          <a:p>
            <a:r>
              <a:rPr lang="zh-TW" altLang="en-US" sz="1500" b="0" dirty="0">
                <a:solidFill>
                  <a:schemeClr val="tx1"/>
                </a:solidFill>
                <a:latin typeface="微軟正黑體" panose="020B0604030504040204" pitchFamily="34" charset="-120"/>
                <a:ea typeface="微軟正黑體" panose="020B0604030504040204" pitchFamily="34" charset="-120"/>
              </a:rPr>
              <a:t>軸上移動之一目標位</a:t>
            </a:r>
            <a:endParaRPr lang="en-US" altLang="zh-TW" sz="1500" b="0" dirty="0">
              <a:solidFill>
                <a:schemeClr val="tx1"/>
              </a:solidFill>
              <a:latin typeface="微軟正黑體" panose="020B0604030504040204" pitchFamily="34" charset="-120"/>
              <a:ea typeface="微軟正黑體" panose="020B0604030504040204" pitchFamily="34" charset="-120"/>
            </a:endParaRPr>
          </a:p>
          <a:p>
            <a:r>
              <a:rPr lang="zh-TW" altLang="en-US" sz="1500" b="0" dirty="0">
                <a:solidFill>
                  <a:schemeClr val="tx1"/>
                </a:solidFill>
                <a:latin typeface="微軟正黑體" panose="020B0604030504040204" pitchFamily="34" charset="-120"/>
                <a:ea typeface="微軟正黑體" panose="020B0604030504040204" pitchFamily="34" charset="-120"/>
              </a:rPr>
              <a:t>置，其中該部件係一</a:t>
            </a:r>
            <a:endParaRPr lang="en-US" altLang="zh-TW" sz="1500" b="0" dirty="0">
              <a:solidFill>
                <a:schemeClr val="tx1"/>
              </a:solidFill>
              <a:latin typeface="微軟正黑體" panose="020B0604030504040204" pitchFamily="34" charset="-120"/>
              <a:ea typeface="微軟正黑體" panose="020B0604030504040204" pitchFamily="34" charset="-120"/>
            </a:endParaRPr>
          </a:p>
          <a:p>
            <a:r>
              <a:rPr lang="zh-TW" altLang="en-US" sz="1500" b="0" dirty="0">
                <a:solidFill>
                  <a:schemeClr val="tx1"/>
                </a:solidFill>
                <a:latin typeface="微軟正黑體" panose="020B0604030504040204" pitchFamily="34" charset="-120"/>
                <a:ea typeface="微軟正黑體" panose="020B0604030504040204" pitchFamily="34" charset="-120"/>
              </a:rPr>
              <a:t>步進馬達；</a:t>
            </a:r>
            <a:endParaRPr lang="en-US" altLang="zh-TW" sz="1500" b="0" dirty="0">
              <a:solidFill>
                <a:schemeClr val="tx1"/>
              </a:solidFill>
              <a:latin typeface="微軟正黑體" panose="020B0604030504040204" pitchFamily="34" charset="-120"/>
              <a:ea typeface="微軟正黑體" panose="020B0604030504040204" pitchFamily="34" charset="-120"/>
            </a:endParaRPr>
          </a:p>
          <a:p>
            <a:pPr indent="269875"/>
            <a:r>
              <a:rPr lang="zh-TW" altLang="en-US" sz="1500" b="0" dirty="0">
                <a:solidFill>
                  <a:schemeClr val="tx1"/>
                </a:solidFill>
                <a:latin typeface="微軟正黑體" panose="020B0604030504040204" pitchFamily="34" charset="-120"/>
                <a:ea typeface="微軟正黑體" panose="020B0604030504040204" pitchFamily="34" charset="-120"/>
              </a:rPr>
              <a:t>以及</a:t>
            </a:r>
            <a:r>
              <a:rPr lang="zh-TW" altLang="en-US" sz="1500" b="0" dirty="0">
                <a:solidFill>
                  <a:srgbClr val="FF0000"/>
                </a:solidFill>
                <a:latin typeface="微軟正黑體" panose="020B0604030504040204" pitchFamily="34" charset="-120"/>
                <a:ea typeface="微軟正黑體" panose="020B0604030504040204" pitchFamily="34" charset="-120"/>
              </a:rPr>
              <a:t>一計時單元</a:t>
            </a:r>
            <a:r>
              <a:rPr lang="zh-TW" altLang="en-US" sz="1500" b="0" dirty="0">
                <a:solidFill>
                  <a:schemeClr val="tx1"/>
                </a:solidFill>
                <a:latin typeface="微軟正黑體" panose="020B0604030504040204" pitchFamily="34" charset="-120"/>
                <a:ea typeface="微軟正黑體" panose="020B0604030504040204" pitchFamily="34" charset="-120"/>
              </a:rPr>
              <a:t>，</a:t>
            </a:r>
            <a:endParaRPr lang="en-US" altLang="zh-TW" sz="1500" b="0" dirty="0">
              <a:solidFill>
                <a:schemeClr val="tx1"/>
              </a:solidFill>
              <a:latin typeface="微軟正黑體" panose="020B0604030504040204" pitchFamily="34" charset="-120"/>
              <a:ea typeface="微軟正黑體" panose="020B0604030504040204" pitchFamily="34" charset="-120"/>
            </a:endParaRPr>
          </a:p>
          <a:p>
            <a:r>
              <a:rPr lang="zh-TW" altLang="en-US" sz="1500" b="0" u="sng" dirty="0">
                <a:solidFill>
                  <a:schemeClr val="tx1"/>
                </a:solidFill>
                <a:latin typeface="微軟正黑體" panose="020B0604030504040204" pitchFamily="34" charset="-120"/>
                <a:ea typeface="微軟正黑體" panose="020B0604030504040204" pitchFamily="34" charset="-120"/>
              </a:rPr>
              <a:t>計算</a:t>
            </a:r>
            <a:r>
              <a:rPr lang="zh-TW" altLang="en-US" sz="1500" b="0" dirty="0">
                <a:solidFill>
                  <a:schemeClr val="tx1"/>
                </a:solidFill>
                <a:latin typeface="微軟正黑體" panose="020B0604030504040204" pitchFamily="34" charset="-120"/>
                <a:ea typeface="微軟正黑體" panose="020B0604030504040204" pitchFamily="34" charset="-120"/>
              </a:rPr>
              <a:t>該噴頭從該初始</a:t>
            </a:r>
            <a:endParaRPr lang="en-US" altLang="zh-TW" sz="1500" b="0" dirty="0">
              <a:solidFill>
                <a:schemeClr val="tx1"/>
              </a:solidFill>
              <a:latin typeface="微軟正黑體" panose="020B0604030504040204" pitchFamily="34" charset="-120"/>
              <a:ea typeface="微軟正黑體" panose="020B0604030504040204" pitchFamily="34" charset="-120"/>
            </a:endParaRPr>
          </a:p>
          <a:p>
            <a:r>
              <a:rPr lang="zh-TW" altLang="en-US" sz="1500" b="0" dirty="0">
                <a:solidFill>
                  <a:schemeClr val="tx1"/>
                </a:solidFill>
                <a:latin typeface="微軟正黑體" panose="020B0604030504040204" pitchFamily="34" charset="-120"/>
                <a:ea typeface="微軟正黑體" panose="020B0604030504040204" pitchFamily="34" charset="-120"/>
              </a:rPr>
              <a:t>位置移動至該目標位</a:t>
            </a:r>
            <a:endParaRPr lang="en-US" altLang="zh-TW" sz="1500" b="0" dirty="0">
              <a:solidFill>
                <a:schemeClr val="tx1"/>
              </a:solidFill>
              <a:latin typeface="微軟正黑體" panose="020B0604030504040204" pitchFamily="34" charset="-120"/>
              <a:ea typeface="微軟正黑體" panose="020B0604030504040204" pitchFamily="34" charset="-120"/>
            </a:endParaRPr>
          </a:p>
          <a:p>
            <a:r>
              <a:rPr lang="zh-TW" altLang="en-US" sz="1500" b="0" dirty="0">
                <a:solidFill>
                  <a:schemeClr val="tx1"/>
                </a:solidFill>
                <a:latin typeface="微軟正黑體" panose="020B0604030504040204" pitchFamily="34" charset="-120"/>
                <a:ea typeface="微軟正黑體" panose="020B0604030504040204" pitchFamily="34" charset="-120"/>
              </a:rPr>
              <a:t>置之一實際時間。</a:t>
            </a:r>
            <a:endParaRPr lang="zh-TW" altLang="en-US" sz="1500" dirty="0">
              <a:solidFill>
                <a:schemeClr val="tx1"/>
              </a:solidFill>
              <a:latin typeface="微軟正黑體" panose="020B0604030504040204" pitchFamily="34" charset="-120"/>
              <a:ea typeface="微軟正黑體" panose="020B0604030504040204" pitchFamily="34" charset="-120"/>
            </a:endParaRPr>
          </a:p>
        </p:txBody>
      </p:sp>
      <p:sp>
        <p:nvSpPr>
          <p:cNvPr id="6" name="矩形 5"/>
          <p:cNvSpPr/>
          <p:nvPr/>
        </p:nvSpPr>
        <p:spPr>
          <a:xfrm>
            <a:off x="144016" y="1494568"/>
            <a:ext cx="4283968" cy="4695900"/>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p>
            <a:r>
              <a:rPr lang="zh-TW" altLang="en-US" sz="1600" b="0" dirty="0">
                <a:solidFill>
                  <a:schemeClr val="tx1"/>
                </a:solidFill>
                <a:latin typeface="微軟正黑體" panose="020B0604030504040204" pitchFamily="34" charset="-120"/>
                <a:ea typeface="微軟正黑體" panose="020B0604030504040204" pitchFamily="34" charset="-120"/>
              </a:rPr>
              <a:t>一種陶瓷</a:t>
            </a:r>
            <a:r>
              <a:rPr lang="en-US" altLang="zh-TW" sz="1600" b="0" dirty="0">
                <a:solidFill>
                  <a:schemeClr val="tx1"/>
                </a:solidFill>
                <a:latin typeface="微軟正黑體" panose="020B0604030504040204" pitchFamily="34" charset="-120"/>
                <a:ea typeface="微軟正黑體" panose="020B0604030504040204" pitchFamily="34" charset="-120"/>
              </a:rPr>
              <a:t>3D</a:t>
            </a:r>
            <a:r>
              <a:rPr lang="zh-TW" altLang="en-US" sz="1600" b="0" dirty="0">
                <a:solidFill>
                  <a:schemeClr val="tx1"/>
                </a:solidFill>
                <a:latin typeface="微軟正黑體" panose="020B0604030504040204" pitchFamily="34" charset="-120"/>
                <a:ea typeface="微軟正黑體" panose="020B0604030504040204" pitchFamily="34" charset="-120"/>
              </a:rPr>
              <a:t>列印</a:t>
            </a:r>
            <a:r>
              <a:rPr lang="zh-TW" altLang="en-US" sz="1600" b="0" u="sng" dirty="0">
                <a:solidFill>
                  <a:srgbClr val="FF0000"/>
                </a:solidFill>
                <a:latin typeface="微軟正黑體" panose="020B0604030504040204" pitchFamily="34" charset="-120"/>
                <a:ea typeface="微軟正黑體" panose="020B0604030504040204" pitchFamily="34" charset="-120"/>
              </a:rPr>
              <a:t>裝置</a:t>
            </a:r>
            <a:r>
              <a:rPr lang="zh-TW" altLang="en-US" sz="1600" b="0" dirty="0">
                <a:solidFill>
                  <a:schemeClr val="tx1"/>
                </a:solidFill>
                <a:latin typeface="微軟正黑體" panose="020B0604030504040204" pitchFamily="34" charset="-120"/>
                <a:ea typeface="微軟正黑體" panose="020B0604030504040204" pitchFamily="34" charset="-120"/>
              </a:rPr>
              <a:t>，其包含：</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indent="269875"/>
            <a:r>
              <a:rPr lang="zh-TW" altLang="en-US" sz="1600" b="0" dirty="0">
                <a:solidFill>
                  <a:srgbClr val="FF0000"/>
                </a:solidFill>
                <a:latin typeface="微軟正黑體" panose="020B0604030504040204" pitchFamily="34" charset="-120"/>
                <a:ea typeface="微軟正黑體" panose="020B0604030504040204" pitchFamily="34" charset="-120"/>
              </a:rPr>
              <a:t>一列印室</a:t>
            </a:r>
            <a:r>
              <a:rPr lang="zh-TW" altLang="en-US" sz="1600" b="0" dirty="0">
                <a:solidFill>
                  <a:schemeClr val="tx1"/>
                </a:solidFill>
                <a:latin typeface="微軟正黑體" panose="020B0604030504040204" pitchFamily="34" charset="-120"/>
                <a:ea typeface="微軟正黑體" panose="020B0604030504040204" pitchFamily="34" charset="-120"/>
              </a:rPr>
              <a:t>，係具有一列印空間並形成一開口，且該列印室包含一活動軸，其係可活動地橫亙設於該開口上；</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indent="269875"/>
            <a:r>
              <a:rPr lang="zh-TW" altLang="en-US" sz="1600" b="0" dirty="0">
                <a:solidFill>
                  <a:srgbClr val="FF0000"/>
                </a:solidFill>
                <a:latin typeface="微軟正黑體" panose="020B0604030504040204" pitchFamily="34" charset="-120"/>
                <a:ea typeface="微軟正黑體" panose="020B0604030504040204" pitchFamily="34" charset="-120"/>
              </a:rPr>
              <a:t>一列印噴頭</a:t>
            </a:r>
            <a:r>
              <a:rPr lang="zh-TW" altLang="en-US" sz="1600" b="0" dirty="0">
                <a:solidFill>
                  <a:schemeClr val="tx1"/>
                </a:solidFill>
                <a:latin typeface="微軟正黑體" panose="020B0604030504040204" pitchFamily="34" charset="-120"/>
                <a:ea typeface="微軟正黑體" panose="020B0604030504040204" pitchFamily="34" charset="-120"/>
              </a:rPr>
              <a:t>，係可活動地設於該活動軸上；</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indent="269875"/>
            <a:r>
              <a:rPr lang="zh-TW" altLang="en-US" sz="1600" b="0" dirty="0">
                <a:solidFill>
                  <a:srgbClr val="FF0000"/>
                </a:solidFill>
                <a:latin typeface="微軟正黑體" panose="020B0604030504040204" pitchFamily="34" charset="-120"/>
                <a:ea typeface="微軟正黑體" panose="020B0604030504040204" pitchFamily="34" charset="-120"/>
              </a:rPr>
              <a:t>一儲存槽</a:t>
            </a:r>
            <a:r>
              <a:rPr lang="zh-TW" altLang="en-US" sz="1600" b="0" dirty="0">
                <a:solidFill>
                  <a:schemeClr val="tx1"/>
                </a:solidFill>
                <a:latin typeface="微軟正黑體" panose="020B0604030504040204" pitchFamily="34" charset="-120"/>
                <a:ea typeface="微軟正黑體" panose="020B0604030504040204" pitchFamily="34" charset="-120"/>
              </a:rPr>
              <a:t>，係設於該開口之一側，且儲存一陶瓷漿，並供應該陶瓷漿予該列印噴頭；</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indent="269875"/>
            <a:r>
              <a:rPr lang="zh-TW" altLang="en-US" sz="1600" b="0" dirty="0">
                <a:solidFill>
                  <a:srgbClr val="FF0000"/>
                </a:solidFill>
                <a:latin typeface="微軟正黑體" panose="020B0604030504040204" pitchFamily="34" charset="-120"/>
                <a:ea typeface="微軟正黑體" panose="020B0604030504040204" pitchFamily="34" charset="-120"/>
              </a:rPr>
              <a:t>一發光單元</a:t>
            </a:r>
            <a:r>
              <a:rPr lang="zh-TW" altLang="en-US" sz="1600" b="0" dirty="0">
                <a:solidFill>
                  <a:schemeClr val="tx1"/>
                </a:solidFill>
                <a:latin typeface="微軟正黑體" panose="020B0604030504040204" pitchFamily="34" charset="-120"/>
                <a:ea typeface="微軟正黑體" panose="020B0604030504040204" pitchFamily="34" charset="-120"/>
              </a:rPr>
              <a:t>，係設於該開口之一側；</a:t>
            </a:r>
            <a:br>
              <a:rPr lang="zh-TW" altLang="en-US" sz="1600" dirty="0">
                <a:solidFill>
                  <a:schemeClr val="tx1"/>
                </a:solidFill>
                <a:latin typeface="微軟正黑體" panose="020B0604030504040204" pitchFamily="34" charset="-120"/>
                <a:ea typeface="微軟正黑體" panose="020B0604030504040204" pitchFamily="34" charset="-120"/>
              </a:rPr>
            </a:br>
            <a:r>
              <a:rPr lang="zh-TW" altLang="en-US" sz="1600" b="0" dirty="0">
                <a:solidFill>
                  <a:schemeClr val="tx1"/>
                </a:solidFill>
                <a:latin typeface="微軟正黑體" panose="020B0604030504040204" pitchFamily="34" charset="-120"/>
                <a:ea typeface="微軟正黑體" panose="020B0604030504040204" pitchFamily="34" charset="-120"/>
              </a:rPr>
              <a:t>二光纖，各該光纖之一端係連接該發光單元，而另一端則分別</a:t>
            </a:r>
            <a:endParaRPr lang="en-US" altLang="zh-TW" sz="1600" b="0" dirty="0">
              <a:solidFill>
                <a:schemeClr val="tx1"/>
              </a:solidFill>
              <a:latin typeface="微軟正黑體" panose="020B0604030504040204" pitchFamily="34" charset="-120"/>
              <a:ea typeface="微軟正黑體" panose="020B0604030504040204" pitchFamily="34" charset="-120"/>
            </a:endParaRPr>
          </a:p>
          <a:p>
            <a:r>
              <a:rPr lang="zh-TW" altLang="en-US" sz="1600" b="0" dirty="0">
                <a:solidFill>
                  <a:schemeClr val="tx1"/>
                </a:solidFill>
                <a:latin typeface="微軟正黑體" panose="020B0604030504040204" pitchFamily="34" charset="-120"/>
                <a:ea typeface="微軟正黑體" panose="020B0604030504040204" pitchFamily="34" charset="-120"/>
              </a:rPr>
              <a:t>位於該列印噴頭</a:t>
            </a:r>
            <a:endParaRPr lang="en-US" altLang="zh-TW" sz="1600" b="0" dirty="0">
              <a:solidFill>
                <a:schemeClr val="tx1"/>
              </a:solidFill>
              <a:latin typeface="微軟正黑體" panose="020B0604030504040204" pitchFamily="34" charset="-120"/>
              <a:ea typeface="微軟正黑體" panose="020B0604030504040204" pitchFamily="34" charset="-120"/>
            </a:endParaRPr>
          </a:p>
          <a:p>
            <a:r>
              <a:rPr lang="zh-TW" altLang="en-US" sz="1600" b="0" dirty="0">
                <a:solidFill>
                  <a:schemeClr val="tx1"/>
                </a:solidFill>
                <a:latin typeface="微軟正黑體" panose="020B0604030504040204" pitchFamily="34" charset="-120"/>
                <a:ea typeface="微軟正黑體" panose="020B0604030504040204" pitchFamily="34" charset="-120"/>
              </a:rPr>
              <a:t>之兩側；以及</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indent="269875"/>
            <a:r>
              <a:rPr lang="zh-TW" altLang="en-US" sz="1600" b="0" dirty="0">
                <a:solidFill>
                  <a:srgbClr val="FF0000"/>
                </a:solidFill>
                <a:latin typeface="微軟正黑體" panose="020B0604030504040204" pitchFamily="34" charset="-120"/>
                <a:ea typeface="微軟正黑體" panose="020B0604030504040204" pitchFamily="34" charset="-120"/>
              </a:rPr>
              <a:t>一控制器</a:t>
            </a:r>
            <a:r>
              <a:rPr lang="zh-TW" altLang="en-US" sz="1600" b="0" dirty="0">
                <a:solidFill>
                  <a:schemeClr val="tx1"/>
                </a:solidFill>
                <a:latin typeface="微軟正黑體" panose="020B0604030504040204" pitchFamily="34" charset="-120"/>
                <a:ea typeface="微軟正黑體" panose="020B0604030504040204" pitchFamily="34" charset="-120"/>
              </a:rPr>
              <a:t>，係</a:t>
            </a:r>
            <a:endParaRPr lang="en-US" altLang="zh-TW" sz="1600" b="0" dirty="0">
              <a:solidFill>
                <a:schemeClr val="tx1"/>
              </a:solidFill>
              <a:latin typeface="微軟正黑體" panose="020B0604030504040204" pitchFamily="34" charset="-120"/>
              <a:ea typeface="微軟正黑體" panose="020B0604030504040204" pitchFamily="34" charset="-120"/>
            </a:endParaRPr>
          </a:p>
          <a:p>
            <a:r>
              <a:rPr lang="zh-TW" altLang="en-US" sz="1600" b="0" dirty="0">
                <a:solidFill>
                  <a:schemeClr val="tx1"/>
                </a:solidFill>
                <a:latin typeface="微軟正黑體" panose="020B0604030504040204" pitchFamily="34" charset="-120"/>
                <a:ea typeface="微軟正黑體" panose="020B0604030504040204" pitchFamily="34" charset="-120"/>
              </a:rPr>
              <a:t>設於該開口之一</a:t>
            </a:r>
            <a:endParaRPr lang="en-US" altLang="zh-TW" sz="1600" b="0" dirty="0">
              <a:solidFill>
                <a:schemeClr val="tx1"/>
              </a:solidFill>
              <a:latin typeface="微軟正黑體" panose="020B0604030504040204" pitchFamily="34" charset="-120"/>
              <a:ea typeface="微軟正黑體" panose="020B0604030504040204" pitchFamily="34" charset="-120"/>
            </a:endParaRPr>
          </a:p>
          <a:p>
            <a:r>
              <a:rPr lang="zh-TW" altLang="en-US" sz="1600" b="0" dirty="0">
                <a:solidFill>
                  <a:schemeClr val="tx1"/>
                </a:solidFill>
                <a:latin typeface="微軟正黑體" panose="020B0604030504040204" pitchFamily="34" charset="-120"/>
                <a:ea typeface="微軟正黑體" panose="020B0604030504040204" pitchFamily="34" charset="-120"/>
              </a:rPr>
              <a:t>側，且連接該列</a:t>
            </a:r>
            <a:endParaRPr lang="en-US" altLang="zh-TW" sz="1600" b="0" dirty="0">
              <a:solidFill>
                <a:schemeClr val="tx1"/>
              </a:solidFill>
              <a:latin typeface="微軟正黑體" panose="020B0604030504040204" pitchFamily="34" charset="-120"/>
              <a:ea typeface="微軟正黑體" panose="020B0604030504040204" pitchFamily="34" charset="-120"/>
            </a:endParaRPr>
          </a:p>
          <a:p>
            <a:r>
              <a:rPr lang="zh-TW" altLang="en-US" sz="1600" b="0" dirty="0">
                <a:solidFill>
                  <a:schemeClr val="tx1"/>
                </a:solidFill>
                <a:latin typeface="微軟正黑體" panose="020B0604030504040204" pitchFamily="34" charset="-120"/>
                <a:ea typeface="微軟正黑體" panose="020B0604030504040204" pitchFamily="34" charset="-120"/>
              </a:rPr>
              <a:t>印噴頭。</a:t>
            </a:r>
            <a:endParaRPr lang="zh-TW" altLang="en-US" sz="1600" dirty="0">
              <a:solidFill>
                <a:schemeClr val="tx1"/>
              </a:solidFill>
              <a:latin typeface="微軟正黑體" panose="020B0604030504040204" pitchFamily="34" charset="-120"/>
              <a:ea typeface="微軟正黑體" panose="020B0604030504040204" pitchFamily="34" charset="-120"/>
            </a:endParaRPr>
          </a:p>
        </p:txBody>
      </p:sp>
      <p:pic>
        <p:nvPicPr>
          <p:cNvPr id="3074"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051720" y="3724292"/>
            <a:ext cx="2160240" cy="24280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474211" y="3505200"/>
            <a:ext cx="2482340" cy="26662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文字方塊 8"/>
          <p:cNvSpPr txBox="1"/>
          <p:nvPr/>
        </p:nvSpPr>
        <p:spPr>
          <a:xfrm>
            <a:off x="3806792" y="5450877"/>
            <a:ext cx="569387" cy="246221"/>
          </a:xfrm>
          <a:prstGeom prst="rect">
            <a:avLst/>
          </a:prstGeom>
          <a:noFill/>
        </p:spPr>
        <p:txBody>
          <a:bodyPr wrap="none" rtlCol="0">
            <a:spAutoFit/>
          </a:bodyPr>
          <a:lstStyle/>
          <a:p>
            <a:r>
              <a:rPr lang="zh-TW" altLang="en-US" sz="1000" dirty="0">
                <a:latin typeface="微軟正黑體" panose="020B0604030504040204" pitchFamily="34" charset="-120"/>
                <a:ea typeface="微軟正黑體" panose="020B0604030504040204" pitchFamily="34" charset="-120"/>
              </a:rPr>
              <a:t>列印室</a:t>
            </a:r>
          </a:p>
        </p:txBody>
      </p:sp>
      <p:sp>
        <p:nvSpPr>
          <p:cNvPr id="15" name="文字方塊 14"/>
          <p:cNvSpPr txBox="1"/>
          <p:nvPr/>
        </p:nvSpPr>
        <p:spPr>
          <a:xfrm>
            <a:off x="1831147" y="4715198"/>
            <a:ext cx="441146" cy="246221"/>
          </a:xfrm>
          <a:prstGeom prst="rect">
            <a:avLst/>
          </a:prstGeom>
          <a:noFill/>
        </p:spPr>
        <p:txBody>
          <a:bodyPr wrap="none" rtlCol="0">
            <a:spAutoFit/>
          </a:bodyPr>
          <a:lstStyle/>
          <a:p>
            <a:r>
              <a:rPr lang="zh-TW" altLang="en-US" sz="1000" dirty="0">
                <a:latin typeface="微軟正黑體" panose="020B0604030504040204" pitchFamily="34" charset="-120"/>
                <a:ea typeface="微軟正黑體" panose="020B0604030504040204" pitchFamily="34" charset="-120"/>
              </a:rPr>
              <a:t>噴頭</a:t>
            </a:r>
          </a:p>
        </p:txBody>
      </p:sp>
      <p:sp>
        <p:nvSpPr>
          <p:cNvPr id="16" name="文字方塊 15"/>
          <p:cNvSpPr txBox="1"/>
          <p:nvPr/>
        </p:nvSpPr>
        <p:spPr>
          <a:xfrm>
            <a:off x="1831147" y="5113819"/>
            <a:ext cx="569387" cy="246221"/>
          </a:xfrm>
          <a:prstGeom prst="rect">
            <a:avLst/>
          </a:prstGeom>
          <a:noFill/>
        </p:spPr>
        <p:txBody>
          <a:bodyPr wrap="none" rtlCol="0">
            <a:spAutoFit/>
          </a:bodyPr>
          <a:lstStyle/>
          <a:p>
            <a:r>
              <a:rPr lang="zh-TW" altLang="en-US" sz="1000" dirty="0">
                <a:latin typeface="微軟正黑體" panose="020B0604030504040204" pitchFamily="34" charset="-120"/>
                <a:ea typeface="微軟正黑體" panose="020B0604030504040204" pitchFamily="34" charset="-120"/>
              </a:rPr>
              <a:t>活動軸</a:t>
            </a:r>
          </a:p>
        </p:txBody>
      </p:sp>
      <p:sp>
        <p:nvSpPr>
          <p:cNvPr id="17" name="文字方塊 16"/>
          <p:cNvSpPr txBox="1"/>
          <p:nvPr/>
        </p:nvSpPr>
        <p:spPr>
          <a:xfrm>
            <a:off x="1895267" y="3899668"/>
            <a:ext cx="569387" cy="246221"/>
          </a:xfrm>
          <a:prstGeom prst="rect">
            <a:avLst/>
          </a:prstGeom>
          <a:noFill/>
        </p:spPr>
        <p:txBody>
          <a:bodyPr wrap="none" rtlCol="0">
            <a:spAutoFit/>
          </a:bodyPr>
          <a:lstStyle/>
          <a:p>
            <a:r>
              <a:rPr lang="zh-TW" altLang="en-US" sz="1000" dirty="0">
                <a:latin typeface="微軟正黑體" panose="020B0604030504040204" pitchFamily="34" charset="-120"/>
                <a:ea typeface="微軟正黑體" panose="020B0604030504040204" pitchFamily="34" charset="-120"/>
              </a:rPr>
              <a:t>控制器</a:t>
            </a:r>
          </a:p>
        </p:txBody>
      </p:sp>
      <p:sp>
        <p:nvSpPr>
          <p:cNvPr id="18" name="文字方塊 17"/>
          <p:cNvSpPr txBox="1"/>
          <p:nvPr/>
        </p:nvSpPr>
        <p:spPr>
          <a:xfrm>
            <a:off x="3563888" y="3724292"/>
            <a:ext cx="384721" cy="246221"/>
          </a:xfrm>
          <a:prstGeom prst="rect">
            <a:avLst/>
          </a:prstGeom>
          <a:noFill/>
        </p:spPr>
        <p:txBody>
          <a:bodyPr wrap="none" lIns="0" rIns="0" rtlCol="0">
            <a:spAutoFit/>
          </a:bodyPr>
          <a:lstStyle/>
          <a:p>
            <a:r>
              <a:rPr lang="zh-TW" altLang="en-US" sz="1000" dirty="0">
                <a:latin typeface="微軟正黑體" panose="020B0604030504040204" pitchFamily="34" charset="-120"/>
                <a:ea typeface="微軟正黑體" panose="020B0604030504040204" pitchFamily="34" charset="-120"/>
              </a:rPr>
              <a:t>儲存槽</a:t>
            </a:r>
          </a:p>
        </p:txBody>
      </p:sp>
      <p:sp>
        <p:nvSpPr>
          <p:cNvPr id="19" name="文字方塊 18"/>
          <p:cNvSpPr txBox="1"/>
          <p:nvPr/>
        </p:nvSpPr>
        <p:spPr>
          <a:xfrm>
            <a:off x="3687712" y="3988151"/>
            <a:ext cx="512961" cy="246221"/>
          </a:xfrm>
          <a:prstGeom prst="rect">
            <a:avLst/>
          </a:prstGeom>
          <a:noFill/>
        </p:spPr>
        <p:txBody>
          <a:bodyPr wrap="none" lIns="0" rIns="0" rtlCol="0">
            <a:spAutoFit/>
          </a:bodyPr>
          <a:lstStyle/>
          <a:p>
            <a:r>
              <a:rPr lang="zh-TW" altLang="en-US" sz="1000" dirty="0">
                <a:latin typeface="微軟正黑體" panose="020B0604030504040204" pitchFamily="34" charset="-120"/>
                <a:ea typeface="微軟正黑體" panose="020B0604030504040204" pitchFamily="34" charset="-120"/>
              </a:rPr>
              <a:t>發光單元</a:t>
            </a:r>
          </a:p>
        </p:txBody>
      </p:sp>
      <p:sp>
        <p:nvSpPr>
          <p:cNvPr id="20" name="文字方塊 19"/>
          <p:cNvSpPr txBox="1"/>
          <p:nvPr/>
        </p:nvSpPr>
        <p:spPr>
          <a:xfrm>
            <a:off x="4119699" y="4347652"/>
            <a:ext cx="256480" cy="246221"/>
          </a:xfrm>
          <a:prstGeom prst="rect">
            <a:avLst/>
          </a:prstGeom>
          <a:noFill/>
        </p:spPr>
        <p:txBody>
          <a:bodyPr wrap="none" lIns="0" rIns="0" rtlCol="0">
            <a:spAutoFit/>
          </a:bodyPr>
          <a:lstStyle/>
          <a:p>
            <a:r>
              <a:rPr lang="zh-TW" altLang="en-US" sz="1000" dirty="0">
                <a:latin typeface="微軟正黑體" panose="020B0604030504040204" pitchFamily="34" charset="-120"/>
                <a:ea typeface="微軟正黑體" panose="020B0604030504040204" pitchFamily="34" charset="-120"/>
              </a:rPr>
              <a:t>光纖</a:t>
            </a:r>
          </a:p>
        </p:txBody>
      </p:sp>
      <p:sp>
        <p:nvSpPr>
          <p:cNvPr id="21" name="文字方塊 20"/>
          <p:cNvSpPr txBox="1"/>
          <p:nvPr/>
        </p:nvSpPr>
        <p:spPr>
          <a:xfrm>
            <a:off x="4038936" y="4957880"/>
            <a:ext cx="256480" cy="246221"/>
          </a:xfrm>
          <a:prstGeom prst="rect">
            <a:avLst/>
          </a:prstGeom>
          <a:noFill/>
        </p:spPr>
        <p:txBody>
          <a:bodyPr wrap="none" lIns="0" rIns="0" rtlCol="0">
            <a:spAutoFit/>
          </a:bodyPr>
          <a:lstStyle/>
          <a:p>
            <a:r>
              <a:rPr lang="zh-TW" altLang="en-US" sz="1000" dirty="0">
                <a:latin typeface="微軟正黑體" panose="020B0604030504040204" pitchFamily="34" charset="-120"/>
                <a:ea typeface="微軟正黑體" panose="020B0604030504040204" pitchFamily="34" charset="-120"/>
              </a:rPr>
              <a:t>開口</a:t>
            </a:r>
          </a:p>
        </p:txBody>
      </p:sp>
      <p:sp>
        <p:nvSpPr>
          <p:cNvPr id="22" name="內容版面配置區 2"/>
          <p:cNvSpPr txBox="1">
            <a:spLocks/>
          </p:cNvSpPr>
          <p:nvPr/>
        </p:nvSpPr>
        <p:spPr>
          <a:xfrm>
            <a:off x="4615880" y="887760"/>
            <a:ext cx="4320480" cy="50405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軟正黑體" panose="020B0604030504040204" pitchFamily="34" charset="-120"/>
                <a:ea typeface="微軟正黑體" panose="020B0604030504040204" pitchFamily="34" charset="-12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軟正黑體" panose="020B0604030504040204" pitchFamily="34" charset="-120"/>
                <a:ea typeface="微軟正黑體" panose="020B0604030504040204" pitchFamily="34" charset="-120"/>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軟正黑體" panose="020B0604030504040204" pitchFamily="34" charset="-120"/>
                <a:ea typeface="微軟正黑體" panose="020B0604030504040204" pitchFamily="34" charset="-120"/>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軟正黑體" panose="020B0604030504040204" pitchFamily="34" charset="-120"/>
                <a:ea typeface="微軟正黑體" panose="020B0604030504040204" pitchFamily="34" charset="-120"/>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軟正黑體" panose="020B0604030504040204" pitchFamily="34" charset="-120"/>
                <a:ea typeface="微軟正黑體" panose="020B0604030504040204"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a:buFont typeface="Arial" pitchFamily="34" charset="0"/>
              <a:buNone/>
            </a:pPr>
            <a:r>
              <a:rPr lang="zh-TW" altLang="en-US" sz="2500" dirty="0"/>
              <a:t>軟體控制裝置</a:t>
            </a:r>
          </a:p>
        </p:txBody>
      </p:sp>
    </p:spTree>
    <p:extLst>
      <p:ext uri="{BB962C8B-B14F-4D97-AF65-F5344CB8AC3E}">
        <p14:creationId xmlns:p14="http://schemas.microsoft.com/office/powerpoint/2010/main" val="4045223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電腦軟體與專利</a:t>
            </a:r>
          </a:p>
        </p:txBody>
      </p:sp>
      <p:sp>
        <p:nvSpPr>
          <p:cNvPr id="3" name="內容版面配置區 2"/>
          <p:cNvSpPr>
            <a:spLocks noGrp="1"/>
          </p:cNvSpPr>
          <p:nvPr>
            <p:ph idx="1"/>
          </p:nvPr>
        </p:nvSpPr>
        <p:spPr>
          <a:xfrm>
            <a:off x="208988" y="887760"/>
            <a:ext cx="4284496" cy="504056"/>
          </a:xfrm>
        </p:spPr>
        <p:style>
          <a:lnRef idx="1">
            <a:schemeClr val="accent3"/>
          </a:lnRef>
          <a:fillRef idx="2">
            <a:schemeClr val="accent3"/>
          </a:fillRef>
          <a:effectRef idx="1">
            <a:schemeClr val="accent3"/>
          </a:effectRef>
          <a:fontRef idx="minor">
            <a:schemeClr val="dk1"/>
          </a:fontRef>
        </p:style>
        <p:txBody>
          <a:bodyPr/>
          <a:lstStyle/>
          <a:p>
            <a:pPr marL="0" indent="0" algn="ctr">
              <a:buNone/>
            </a:pPr>
            <a:r>
              <a:rPr lang="zh-TW" altLang="en-US" sz="2500" dirty="0"/>
              <a:t>資訊科技</a:t>
            </a:r>
          </a:p>
        </p:txBody>
      </p:sp>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pPr>
                <a:defRPr/>
              </a:pPr>
              <a:t>17</a:t>
            </a:fld>
            <a:endParaRPr lang="zh-TW" altLang="en-US"/>
          </a:p>
        </p:txBody>
      </p:sp>
      <p:sp>
        <p:nvSpPr>
          <p:cNvPr id="5" name="矩形 4"/>
          <p:cNvSpPr/>
          <p:nvPr/>
        </p:nvSpPr>
        <p:spPr>
          <a:xfrm>
            <a:off x="4595242" y="1494566"/>
            <a:ext cx="4392000" cy="2222466"/>
          </a:xfrm>
          <a:prstGeom prst="rect">
            <a:avLst/>
          </a:prstGeom>
        </p:spPr>
        <p:style>
          <a:lnRef idx="2">
            <a:schemeClr val="accent6"/>
          </a:lnRef>
          <a:fillRef idx="1">
            <a:schemeClr val="lt1"/>
          </a:fillRef>
          <a:effectRef idx="0">
            <a:schemeClr val="accent6"/>
          </a:effectRef>
          <a:fontRef idx="minor">
            <a:schemeClr val="dk1"/>
          </a:fontRef>
        </p:style>
        <p:txBody>
          <a:bodyPr wrap="square">
            <a:noAutofit/>
          </a:bodyPr>
          <a:lstStyle/>
          <a:p>
            <a:r>
              <a:rPr lang="zh-TW" altLang="en-US" sz="2000" dirty="0">
                <a:solidFill>
                  <a:schemeClr val="tx1"/>
                </a:solidFill>
                <a:latin typeface="微軟正黑體" panose="020B0604030504040204" pitchFamily="34" charset="-120"/>
                <a:ea typeface="微軟正黑體" panose="020B0604030504040204" pitchFamily="34" charset="-120"/>
              </a:rPr>
              <a:t>一種預測水果何時應採收的方法，依據在一果樹上的水果的外觀，判斷該水果成熟的程度，據以預估採收時間。</a:t>
            </a:r>
          </a:p>
          <a:p>
            <a:endParaRPr lang="zh-TW" altLang="en-US" sz="2000" dirty="0">
              <a:solidFill>
                <a:schemeClr val="tx1"/>
              </a:solidFill>
              <a:latin typeface="微軟正黑體" panose="020B0604030504040204" pitchFamily="34" charset="-120"/>
              <a:ea typeface="微軟正黑體" panose="020B0604030504040204" pitchFamily="34" charset="-120"/>
            </a:endParaRPr>
          </a:p>
        </p:txBody>
      </p:sp>
      <p:sp>
        <p:nvSpPr>
          <p:cNvPr id="6" name="矩形 5"/>
          <p:cNvSpPr/>
          <p:nvPr/>
        </p:nvSpPr>
        <p:spPr>
          <a:xfrm>
            <a:off x="144016" y="1494568"/>
            <a:ext cx="4392000" cy="4695900"/>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p>
            <a:r>
              <a:rPr lang="zh-TW" altLang="en-US" sz="2000" dirty="0">
                <a:solidFill>
                  <a:schemeClr val="tx1"/>
                </a:solidFill>
                <a:latin typeface="微軟正黑體" panose="020B0604030504040204" pitchFamily="34" charset="-120"/>
                <a:ea typeface="微軟正黑體" panose="020B0604030504040204" pitchFamily="34" charset="-120"/>
              </a:rPr>
              <a:t>一種判斷水果是否應採收的方法，包含：</a:t>
            </a:r>
          </a:p>
          <a:p>
            <a:r>
              <a:rPr lang="zh-TW" altLang="en-US" sz="2000" dirty="0">
                <a:solidFill>
                  <a:schemeClr val="tx1"/>
                </a:solidFill>
                <a:latin typeface="微軟正黑體" panose="020B0604030504040204" pitchFamily="34" charset="-120"/>
                <a:ea typeface="微軟正黑體" panose="020B0604030504040204" pitchFamily="34" charset="-120"/>
              </a:rPr>
              <a:t>一</a:t>
            </a:r>
            <a:r>
              <a:rPr lang="zh-TW" altLang="en-US" sz="2000" b="1" dirty="0">
                <a:solidFill>
                  <a:schemeClr val="tx1"/>
                </a:solidFill>
                <a:latin typeface="微軟正黑體" panose="020B0604030504040204" pitchFamily="34" charset="-120"/>
                <a:ea typeface="微軟正黑體" panose="020B0604030504040204" pitchFamily="34" charset="-120"/>
              </a:rPr>
              <a:t>水果特徵擷取模組</a:t>
            </a:r>
            <a:r>
              <a:rPr lang="zh-TW" altLang="en-US" sz="2000" dirty="0">
                <a:solidFill>
                  <a:schemeClr val="tx1"/>
                </a:solidFill>
                <a:latin typeface="微軟正黑體" panose="020B0604030504040204" pitchFamily="34" charset="-120"/>
                <a:ea typeface="微軟正黑體" panose="020B0604030504040204" pitchFamily="34" charset="-120"/>
              </a:rPr>
              <a:t>，利用複數感測器及攝影機，收集一水果的形狀、大小、顏色、斑塊、重心、共振頻率參數等資料；</a:t>
            </a:r>
          </a:p>
          <a:p>
            <a:r>
              <a:rPr lang="zh-TW" altLang="en-US" sz="2000" dirty="0">
                <a:solidFill>
                  <a:schemeClr val="tx1"/>
                </a:solidFill>
                <a:latin typeface="微軟正黑體" panose="020B0604030504040204" pitchFamily="34" charset="-120"/>
                <a:ea typeface="微軟正黑體" panose="020B0604030504040204" pitchFamily="34" charset="-120"/>
              </a:rPr>
              <a:t>一</a:t>
            </a:r>
            <a:r>
              <a:rPr lang="zh-TW" altLang="en-US" sz="2000" b="1" dirty="0">
                <a:solidFill>
                  <a:schemeClr val="tx1"/>
                </a:solidFill>
                <a:latin typeface="微軟正黑體" panose="020B0604030504040204" pitchFamily="34" charset="-120"/>
                <a:ea typeface="微軟正黑體" panose="020B0604030504040204" pitchFamily="34" charset="-120"/>
              </a:rPr>
              <a:t>影像處理模組</a:t>
            </a:r>
            <a:r>
              <a:rPr lang="zh-TW" altLang="en-US" sz="2000" dirty="0">
                <a:solidFill>
                  <a:schemeClr val="tx1"/>
                </a:solidFill>
                <a:latin typeface="微軟正黑體" panose="020B0604030504040204" pitchFamily="34" charset="-120"/>
                <a:ea typeface="微軟正黑體" panose="020B0604030504040204" pitchFamily="34" charset="-120"/>
              </a:rPr>
              <a:t>，將該攝影機所拍攝之水果影像利用影像處理技術將該水果之邊界、顏色、斑塊清晰化；</a:t>
            </a:r>
          </a:p>
          <a:p>
            <a:r>
              <a:rPr lang="zh-TW" altLang="en-US" sz="2000" dirty="0">
                <a:solidFill>
                  <a:schemeClr val="tx1"/>
                </a:solidFill>
                <a:latin typeface="微軟正黑體" panose="020B0604030504040204" pitchFamily="34" charset="-120"/>
                <a:ea typeface="微軟正黑體" panose="020B0604030504040204" pitchFamily="34" charset="-120"/>
              </a:rPr>
              <a:t>一</a:t>
            </a:r>
            <a:r>
              <a:rPr lang="zh-TW" altLang="en-US" sz="2000" b="1" dirty="0">
                <a:solidFill>
                  <a:schemeClr val="tx1"/>
                </a:solidFill>
                <a:latin typeface="微軟正黑體" panose="020B0604030504040204" pitchFamily="34" charset="-120"/>
                <a:ea typeface="微軟正黑體" panose="020B0604030504040204" pitchFamily="34" charset="-120"/>
              </a:rPr>
              <a:t>神經網路判斷模組</a:t>
            </a:r>
            <a:r>
              <a:rPr lang="zh-TW" altLang="en-US" sz="2000" dirty="0">
                <a:solidFill>
                  <a:schemeClr val="tx1"/>
                </a:solidFill>
                <a:latin typeface="微軟正黑體" panose="020B0604030504040204" pitchFamily="34" charset="-120"/>
                <a:ea typeface="微軟正黑體" panose="020B0604030504040204" pitchFamily="34" charset="-120"/>
              </a:rPr>
              <a:t>，將該水果分類為過熟、成熟及不成熟三類，若為成熟，則應採收。</a:t>
            </a:r>
          </a:p>
        </p:txBody>
      </p:sp>
      <p:sp>
        <p:nvSpPr>
          <p:cNvPr id="22" name="內容版面配置區 2"/>
          <p:cNvSpPr txBox="1">
            <a:spLocks/>
          </p:cNvSpPr>
          <p:nvPr/>
        </p:nvSpPr>
        <p:spPr>
          <a:xfrm>
            <a:off x="4634930" y="887760"/>
            <a:ext cx="4320480" cy="504056"/>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軟正黑體" panose="020B0604030504040204" pitchFamily="34" charset="-120"/>
                <a:ea typeface="微軟正黑體" panose="020B0604030504040204" pitchFamily="34" charset="-12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軟正黑體" panose="020B0604030504040204" pitchFamily="34" charset="-120"/>
                <a:ea typeface="微軟正黑體" panose="020B0604030504040204" pitchFamily="34" charset="-120"/>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軟正黑體" panose="020B0604030504040204" pitchFamily="34" charset="-120"/>
                <a:ea typeface="微軟正黑體" panose="020B0604030504040204" pitchFamily="34" charset="-120"/>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軟正黑體" panose="020B0604030504040204" pitchFamily="34" charset="-120"/>
                <a:ea typeface="微軟正黑體" panose="020B0604030504040204" pitchFamily="34" charset="-120"/>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軟正黑體" panose="020B0604030504040204" pitchFamily="34" charset="-120"/>
                <a:ea typeface="微軟正黑體" panose="020B0604030504040204"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a:buFont typeface="Arial" pitchFamily="34" charset="0"/>
              <a:buNone/>
            </a:pPr>
            <a:r>
              <a:rPr lang="zh-TW" altLang="en-US" sz="2500" dirty="0"/>
              <a:t>商業方法</a:t>
            </a:r>
          </a:p>
        </p:txBody>
      </p:sp>
      <p:sp>
        <p:nvSpPr>
          <p:cNvPr id="8" name="矩形 7"/>
          <p:cNvSpPr/>
          <p:nvPr/>
        </p:nvSpPr>
        <p:spPr>
          <a:xfrm>
            <a:off x="4599170" y="3842518"/>
            <a:ext cx="4392000" cy="2337012"/>
          </a:xfrm>
          <a:prstGeom prst="rect">
            <a:avLst/>
          </a:prstGeom>
        </p:spPr>
        <p:style>
          <a:lnRef idx="2">
            <a:schemeClr val="accent6"/>
          </a:lnRef>
          <a:fillRef idx="1">
            <a:schemeClr val="lt1"/>
          </a:fillRef>
          <a:effectRef idx="0">
            <a:schemeClr val="accent6"/>
          </a:effectRef>
          <a:fontRef idx="minor">
            <a:schemeClr val="dk1"/>
          </a:fontRef>
        </p:style>
        <p:txBody>
          <a:bodyPr wrap="square">
            <a:noAutofit/>
          </a:bodyPr>
          <a:lstStyle/>
          <a:p>
            <a:r>
              <a:rPr lang="zh-TW" altLang="en-US" sz="2000" dirty="0">
                <a:solidFill>
                  <a:schemeClr val="tx1"/>
                </a:solidFill>
                <a:latin typeface="微軟正黑體" panose="020B0604030504040204" pitchFamily="34" charset="-120"/>
                <a:ea typeface="微軟正黑體" panose="020B0604030504040204" pitchFamily="34" charset="-120"/>
              </a:rPr>
              <a:t>一種預測水果何時應採收的方法，包含一</a:t>
            </a:r>
            <a:r>
              <a:rPr lang="zh-TW" altLang="en-US" sz="2000" b="1" dirty="0">
                <a:solidFill>
                  <a:schemeClr val="tx1"/>
                </a:solidFill>
                <a:latin typeface="微軟正黑體" panose="020B0604030504040204" pitchFamily="34" charset="-120"/>
                <a:ea typeface="微軟正黑體" panose="020B0604030504040204" pitchFamily="34" charset="-120"/>
              </a:rPr>
              <a:t>神經網路預測模型</a:t>
            </a:r>
            <a:r>
              <a:rPr lang="zh-TW" altLang="en-US" sz="2000" dirty="0">
                <a:solidFill>
                  <a:schemeClr val="tx1"/>
                </a:solidFill>
                <a:latin typeface="微軟正黑體" panose="020B0604030504040204" pitchFamily="34" charset="-120"/>
                <a:ea typeface="微軟正黑體" panose="020B0604030504040204" pitchFamily="34" charset="-120"/>
              </a:rPr>
              <a:t>，該神經網路預測模型預測一果樹上的</a:t>
            </a:r>
            <a:r>
              <a:rPr lang="zh-TW" altLang="en-US" sz="2000" u="sng" dirty="0">
                <a:solidFill>
                  <a:schemeClr val="tx1"/>
                </a:solidFill>
                <a:latin typeface="微軟正黑體" panose="020B0604030504040204" pitchFamily="34" charset="-120"/>
                <a:ea typeface="微軟正黑體" panose="020B0604030504040204" pitchFamily="34" charset="-120"/>
              </a:rPr>
              <a:t>水果的成熟度</a:t>
            </a:r>
            <a:r>
              <a:rPr lang="zh-TW" altLang="en-US" sz="2000" dirty="0">
                <a:solidFill>
                  <a:schemeClr val="tx1"/>
                </a:solidFill>
                <a:latin typeface="微軟正黑體" panose="020B0604030504040204" pitchFamily="34" charset="-120"/>
                <a:ea typeface="微軟正黑體" panose="020B0604030504040204" pitchFamily="34" charset="-120"/>
              </a:rPr>
              <a:t>，依據該水果成熟度判斷何時應採收。</a:t>
            </a:r>
          </a:p>
        </p:txBody>
      </p:sp>
    </p:spTree>
    <p:extLst>
      <p:ext uri="{BB962C8B-B14F-4D97-AF65-F5344CB8AC3E}">
        <p14:creationId xmlns:p14="http://schemas.microsoft.com/office/powerpoint/2010/main" val="2487272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電腦軟體與專利</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18</a:t>
            </a:fld>
            <a:endParaRPr lang="zh-TW" altLang="en-US"/>
          </a:p>
        </p:txBody>
      </p:sp>
      <p:sp>
        <p:nvSpPr>
          <p:cNvPr id="5" name="矩形 4"/>
          <p:cNvSpPr/>
          <p:nvPr/>
        </p:nvSpPr>
        <p:spPr>
          <a:xfrm>
            <a:off x="166234" y="929406"/>
            <a:ext cx="8820472" cy="1142344"/>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p>
            <a:r>
              <a:rPr lang="zh-TW" altLang="en-US" sz="2000" dirty="0">
                <a:solidFill>
                  <a:schemeClr val="tx1"/>
                </a:solidFill>
                <a:latin typeface="微軟正黑體" panose="020B0604030504040204" pitchFamily="34" charset="-120"/>
                <a:ea typeface="微軟正黑體" panose="020B0604030504040204" pitchFamily="34" charset="-120"/>
              </a:rPr>
              <a:t>一種提高銷售額的方法，其應用於大賣場中，步驟如下：</a:t>
            </a:r>
          </a:p>
          <a:p>
            <a:r>
              <a:rPr lang="zh-TW" altLang="en-US" sz="2000" dirty="0">
                <a:solidFill>
                  <a:schemeClr val="tx1"/>
                </a:solidFill>
                <a:latin typeface="微軟正黑體" panose="020B0604030504040204" pitchFamily="34" charset="-120"/>
                <a:ea typeface="微軟正黑體" panose="020B0604030504040204" pitchFamily="34" charset="-120"/>
              </a:rPr>
              <a:t>預先分析消費者的消費習慣關聯性；</a:t>
            </a:r>
          </a:p>
          <a:p>
            <a:r>
              <a:rPr lang="zh-TW" altLang="en-US" sz="2000" dirty="0">
                <a:solidFill>
                  <a:schemeClr val="tx1"/>
                </a:solidFill>
                <a:latin typeface="微軟正黑體" panose="020B0604030504040204" pitchFamily="34" charset="-120"/>
                <a:ea typeface="微軟正黑體" panose="020B0604030504040204" pitchFamily="34" charset="-120"/>
              </a:rPr>
              <a:t>將該分析之關聯產品放置於同一區塊。</a:t>
            </a:r>
          </a:p>
          <a:p>
            <a:endParaRPr lang="zh-TW" altLang="en-US" sz="2000" dirty="0">
              <a:solidFill>
                <a:schemeClr val="tx1"/>
              </a:solidFill>
              <a:latin typeface="微軟正黑體" panose="020B0604030504040204" pitchFamily="34" charset="-120"/>
              <a:ea typeface="微軟正黑體" panose="020B0604030504040204" pitchFamily="34" charset="-120"/>
            </a:endParaRPr>
          </a:p>
        </p:txBody>
      </p:sp>
      <p:sp>
        <p:nvSpPr>
          <p:cNvPr id="6" name="矩形 5"/>
          <p:cNvSpPr/>
          <p:nvPr/>
        </p:nvSpPr>
        <p:spPr>
          <a:xfrm>
            <a:off x="183982" y="2204864"/>
            <a:ext cx="8784975" cy="1080120"/>
          </a:xfrm>
          <a:prstGeom prst="rect">
            <a:avLst/>
          </a:prstGeom>
          <a:noFill/>
          <a:ln w="25400">
            <a:solidFill>
              <a:schemeClr val="tx1"/>
            </a:solidFill>
          </a:ln>
        </p:spPr>
        <p:txBody>
          <a:bodyPr wrap="square" lIns="36000" tIns="36000" rIns="36000" bIns="36000">
            <a:noAutofit/>
          </a:bodyPr>
          <a:lstStyle/>
          <a:p>
            <a:pPr marL="85725" indent="-1588"/>
            <a:r>
              <a:rPr lang="zh-TW" altLang="zh-TW" sz="2000" b="0" kern="10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一種提高銷售額的方法，其應用於大賣場中，步驟如下：</a:t>
            </a:r>
          </a:p>
          <a:p>
            <a:pPr marL="87313" indent="277813"/>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運用</a:t>
            </a:r>
            <a:r>
              <a:rPr lang="zh-TW" altLang="en-US" sz="2000" b="0" kern="1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電腦</a:t>
            </a:r>
            <a:r>
              <a:rPr lang="zh-TW" altLang="zh-TW"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預先分析消費者的消費習慣關聯性</a:t>
            </a:r>
            <a:r>
              <a:rPr lang="zh-TW" altLang="zh-TW" sz="2000" b="0" kern="10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a:t>
            </a:r>
          </a:p>
          <a:p>
            <a:pPr marL="90488" indent="274638"/>
            <a:r>
              <a:rPr lang="zh-TW" altLang="zh-TW" sz="2000" b="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將該關聯</a:t>
            </a:r>
            <a:r>
              <a:rPr lang="zh-TW" altLang="en-US" sz="2000" b="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的</a:t>
            </a:r>
            <a:r>
              <a:rPr lang="zh-TW" altLang="zh-TW" sz="2000" b="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產品放置於同一區塊。</a:t>
            </a:r>
            <a:endParaRPr kumimoji="1" lang="zh-TW" altLang="en-US" sz="2000" b="0" dirty="0">
              <a:solidFill>
                <a:prstClr val="black"/>
              </a:solidFill>
              <a:latin typeface="微軟正黑體" panose="020B0604030504040204" pitchFamily="34" charset="-120"/>
              <a:ea typeface="微軟正黑體" panose="020B0604030504040204" pitchFamily="34" charset="-120"/>
            </a:endParaRPr>
          </a:p>
        </p:txBody>
      </p:sp>
      <p:sp>
        <p:nvSpPr>
          <p:cNvPr id="7" name="矩形 6"/>
          <p:cNvSpPr/>
          <p:nvPr/>
        </p:nvSpPr>
        <p:spPr>
          <a:xfrm>
            <a:off x="202170" y="3501008"/>
            <a:ext cx="8784975" cy="2880320"/>
          </a:xfrm>
          <a:prstGeom prst="rect">
            <a:avLst/>
          </a:prstGeom>
          <a:noFill/>
          <a:ln w="25400">
            <a:solidFill>
              <a:schemeClr val="tx1"/>
            </a:solidFill>
          </a:ln>
        </p:spPr>
        <p:txBody>
          <a:bodyPr wrap="square" lIns="36000" tIns="36000" rIns="36000" bIns="36000">
            <a:noAutofit/>
          </a:bodyPr>
          <a:lstStyle/>
          <a:p>
            <a:pPr marL="85725" indent="-1588"/>
            <a:r>
              <a:rPr lang="zh-TW" altLang="zh-TW" sz="2000" b="0" kern="10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一種提高銷售額的方法，其應用於大賣場中，步驟如下：</a:t>
            </a:r>
          </a:p>
          <a:p>
            <a:pPr marL="87313" indent="277813"/>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拍攝消費者的影像，儲存在一</a:t>
            </a:r>
            <a:r>
              <a:rPr lang="zh-TW" altLang="en-US" sz="20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大數據資料庫</a:t>
            </a:r>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endParaRPr lang="en-US" altLang="zh-TW"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87313" indent="277813"/>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利用一</a:t>
            </a:r>
            <a:r>
              <a:rPr lang="zh-TW" altLang="en-US" sz="20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資料自動蒐集模組</a:t>
            </a:r>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，收集消費者的消費習慣；</a:t>
            </a:r>
            <a:endParaRPr lang="en-US" altLang="zh-TW"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87313" indent="277813"/>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利用一</a:t>
            </a:r>
            <a:r>
              <a:rPr lang="zh-TW" altLang="en-US" sz="20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資訊分析模組</a:t>
            </a:r>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，經</a:t>
            </a:r>
            <a:r>
              <a:rPr lang="zh-TW" altLang="en-US" sz="20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資料探勘</a:t>
            </a:r>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及</a:t>
            </a:r>
            <a:r>
              <a:rPr lang="zh-TW" altLang="en-US" sz="20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知識萃取</a:t>
            </a:r>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將該消費者影像及消費習慣進行分類及分析；</a:t>
            </a:r>
            <a:endParaRPr lang="en-US" altLang="zh-TW"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87313" indent="277813"/>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運用一</a:t>
            </a:r>
            <a:r>
              <a:rPr lang="zh-TW" altLang="en-US" sz="20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人工智慧伺服器</a:t>
            </a:r>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，經</a:t>
            </a:r>
            <a:r>
              <a:rPr lang="zh-TW" altLang="en-US" sz="20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機器學習模組</a:t>
            </a:r>
            <a:r>
              <a:rPr lang="zh-TW" altLang="en-US"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訓練後，預測各類</a:t>
            </a:r>
            <a:r>
              <a:rPr lang="zh-TW" altLang="zh-TW"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消費者的消費習慣關聯性</a:t>
            </a:r>
            <a:r>
              <a:rPr lang="zh-TW" altLang="zh-TW" sz="2000" b="0" kern="10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a:t>
            </a:r>
          </a:p>
          <a:p>
            <a:pPr marL="90488" indent="274638"/>
            <a:r>
              <a:rPr lang="zh-TW" altLang="zh-TW" sz="2000" b="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將該</a:t>
            </a:r>
            <a:r>
              <a:rPr lang="zh-TW" altLang="zh-TW" sz="20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消費習慣關聯性</a:t>
            </a:r>
            <a:r>
              <a:rPr lang="zh-TW" altLang="zh-TW" sz="2000" b="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之關聯產品放置於同一區塊</a:t>
            </a:r>
            <a:r>
              <a:rPr lang="zh-TW" altLang="en-US" sz="2000" b="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並提供消費者個人化消費建議。</a:t>
            </a:r>
            <a:endParaRPr kumimoji="1" lang="zh-TW" altLang="en-US" sz="2000" b="0" dirty="0">
              <a:solidFill>
                <a:prstClr val="black"/>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547591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群組 6"/>
          <p:cNvGrpSpPr/>
          <p:nvPr/>
        </p:nvGrpSpPr>
        <p:grpSpPr>
          <a:xfrm>
            <a:off x="636290" y="1340767"/>
            <a:ext cx="3744416" cy="742949"/>
            <a:chOff x="1905" y="979765"/>
            <a:chExt cx="1857374" cy="742949"/>
          </a:xfrm>
          <a:scene3d>
            <a:camera prst="orthographicFront"/>
            <a:lightRig rig="flat" dir="t">
              <a:rot lat="0" lon="0" rev="1200000"/>
            </a:lightRig>
          </a:scene3d>
        </p:grpSpPr>
        <p:sp>
          <p:nvSpPr>
            <p:cNvPr id="17" name="矩形 16"/>
            <p:cNvSpPr/>
            <p:nvPr/>
          </p:nvSpPr>
          <p:spPr>
            <a:xfrm>
              <a:off x="1905" y="979765"/>
              <a:ext cx="1857374" cy="742949"/>
            </a:xfrm>
            <a:prstGeom prst="rect">
              <a:avLst/>
            </a:prstGeom>
          </p:spPr>
          <p:style>
            <a:lnRef idx="0">
              <a:schemeClr val="accent5"/>
            </a:lnRef>
            <a:fillRef idx="3">
              <a:schemeClr val="accent5"/>
            </a:fillRef>
            <a:effectRef idx="3">
              <a:schemeClr val="accent5"/>
            </a:effectRef>
            <a:fontRef idx="minor">
              <a:schemeClr val="lt1"/>
            </a:fontRef>
          </p:style>
        </p:sp>
        <p:sp>
          <p:nvSpPr>
            <p:cNvPr id="18" name="矩形 17"/>
            <p:cNvSpPr/>
            <p:nvPr/>
          </p:nvSpPr>
          <p:spPr>
            <a:xfrm>
              <a:off x="1905" y="979765"/>
              <a:ext cx="1857374" cy="742949"/>
            </a:xfrm>
            <a:prstGeom prst="rect">
              <a:avLst/>
            </a:prstGeom>
          </p:spPr>
          <p:style>
            <a:lnRef idx="0">
              <a:schemeClr val="accent5"/>
            </a:lnRef>
            <a:fillRef idx="3">
              <a:schemeClr val="accent5"/>
            </a:fillRef>
            <a:effectRef idx="3">
              <a:schemeClr val="accent5"/>
            </a:effectRef>
            <a:fontRef idx="minor">
              <a:schemeClr val="lt1"/>
            </a:fontRef>
          </p:style>
          <p:txBody>
            <a:bodyPr spcFirstLastPara="0" vert="horz" wrap="square" lIns="206248" tIns="117856" rIns="206248" bIns="117856" numCol="1" spcCol="1270" anchor="ctr" anchorCtr="0">
              <a:noAutofit/>
            </a:bodyPr>
            <a:lstStyle/>
            <a:p>
              <a:pPr lvl="0" algn="ctr" defTabSz="1289050">
                <a:lnSpc>
                  <a:spcPct val="90000"/>
                </a:lnSpc>
                <a:spcBef>
                  <a:spcPct val="0"/>
                </a:spcBef>
                <a:spcAft>
                  <a:spcPct val="35000"/>
                </a:spcAft>
              </a:pPr>
              <a:r>
                <a:rPr lang="zh-TW" altLang="en-US" sz="2900" kern="1200" dirty="0">
                  <a:solidFill>
                    <a:schemeClr val="tx1"/>
                  </a:solidFill>
                  <a:latin typeface="微軟正黑體" panose="020B0604030504040204" pitchFamily="34" charset="-120"/>
                  <a:ea typeface="微軟正黑體" panose="020B0604030504040204" pitchFamily="34" charset="-120"/>
                </a:rPr>
                <a:t>硬體</a:t>
              </a:r>
              <a:endParaRPr lang="zh-CN" altLang="en-US" sz="2900" kern="1200" dirty="0">
                <a:solidFill>
                  <a:schemeClr val="tx1"/>
                </a:solidFill>
                <a:latin typeface="微軟正黑體" panose="020B0604030504040204" pitchFamily="34" charset="-120"/>
                <a:ea typeface="微軟正黑體" panose="020B0604030504040204" pitchFamily="34" charset="-120"/>
              </a:endParaRPr>
            </a:p>
          </p:txBody>
        </p:sp>
      </p:grpSp>
      <p:grpSp>
        <p:nvGrpSpPr>
          <p:cNvPr id="24" name="群組 23"/>
          <p:cNvGrpSpPr/>
          <p:nvPr/>
        </p:nvGrpSpPr>
        <p:grpSpPr>
          <a:xfrm>
            <a:off x="4721696" y="1340768"/>
            <a:ext cx="3744416" cy="742949"/>
            <a:chOff x="1905" y="979765"/>
            <a:chExt cx="1857374" cy="742949"/>
          </a:xfrm>
          <a:scene3d>
            <a:camera prst="orthographicFront"/>
            <a:lightRig rig="flat" dir="t">
              <a:rot lat="0" lon="0" rev="1200000"/>
            </a:lightRig>
          </a:scene3d>
        </p:grpSpPr>
        <p:sp>
          <p:nvSpPr>
            <p:cNvPr id="25" name="矩形 24"/>
            <p:cNvSpPr/>
            <p:nvPr/>
          </p:nvSpPr>
          <p:spPr>
            <a:xfrm>
              <a:off x="1905" y="979765"/>
              <a:ext cx="1857374" cy="742949"/>
            </a:xfrm>
            <a:prstGeom prst="rect">
              <a:avLst/>
            </a:prstGeom>
          </p:spPr>
          <p:style>
            <a:lnRef idx="0">
              <a:schemeClr val="accent3"/>
            </a:lnRef>
            <a:fillRef idx="3">
              <a:schemeClr val="accent3"/>
            </a:fillRef>
            <a:effectRef idx="3">
              <a:schemeClr val="accent3"/>
            </a:effectRef>
            <a:fontRef idx="minor">
              <a:schemeClr val="lt1"/>
            </a:fontRef>
          </p:style>
        </p:sp>
        <p:sp>
          <p:nvSpPr>
            <p:cNvPr id="26" name="矩形 25"/>
            <p:cNvSpPr/>
            <p:nvPr/>
          </p:nvSpPr>
          <p:spPr>
            <a:xfrm>
              <a:off x="1905" y="979765"/>
              <a:ext cx="1857374" cy="742949"/>
            </a:xfrm>
            <a:prstGeom prst="rect">
              <a:avLst/>
            </a:prstGeom>
          </p:spPr>
          <p:style>
            <a:lnRef idx="0">
              <a:schemeClr val="accent3"/>
            </a:lnRef>
            <a:fillRef idx="3">
              <a:schemeClr val="accent3"/>
            </a:fillRef>
            <a:effectRef idx="3">
              <a:schemeClr val="accent3"/>
            </a:effectRef>
            <a:fontRef idx="minor">
              <a:schemeClr val="lt1"/>
            </a:fontRef>
          </p:style>
          <p:txBody>
            <a:bodyPr spcFirstLastPara="0" vert="horz" wrap="square" lIns="206248" tIns="117856" rIns="206248" bIns="117856" numCol="1" spcCol="1270" anchor="ctr" anchorCtr="0">
              <a:noAutofit/>
            </a:bodyPr>
            <a:lstStyle/>
            <a:p>
              <a:pPr lvl="0" algn="ctr" defTabSz="1289050">
                <a:lnSpc>
                  <a:spcPct val="90000"/>
                </a:lnSpc>
                <a:spcBef>
                  <a:spcPct val="0"/>
                </a:spcBef>
                <a:spcAft>
                  <a:spcPct val="35000"/>
                </a:spcAft>
              </a:pPr>
              <a:r>
                <a:rPr lang="zh-TW" altLang="en-US" sz="2900" kern="1200" dirty="0">
                  <a:solidFill>
                    <a:schemeClr val="accent6">
                      <a:lumMod val="50000"/>
                    </a:schemeClr>
                  </a:solidFill>
                  <a:latin typeface="微軟正黑體" panose="020B0604030504040204" pitchFamily="34" charset="-120"/>
                  <a:ea typeface="微軟正黑體" panose="020B0604030504040204" pitchFamily="34" charset="-120"/>
                </a:rPr>
                <a:t>軟體</a:t>
              </a:r>
              <a:endParaRPr lang="zh-CN" altLang="en-US" sz="2900" kern="1200" dirty="0">
                <a:solidFill>
                  <a:schemeClr val="accent6">
                    <a:lumMod val="50000"/>
                  </a:schemeClr>
                </a:solidFill>
                <a:latin typeface="微軟正黑體" panose="020B0604030504040204" pitchFamily="34" charset="-120"/>
                <a:ea typeface="微軟正黑體" panose="020B0604030504040204" pitchFamily="34" charset="-120"/>
              </a:endParaRPr>
            </a:p>
          </p:txBody>
        </p:sp>
      </p:grpSp>
      <p:sp>
        <p:nvSpPr>
          <p:cNvPr id="2" name="標題 1"/>
          <p:cNvSpPr>
            <a:spLocks noGrp="1"/>
          </p:cNvSpPr>
          <p:nvPr>
            <p:ph type="title"/>
          </p:nvPr>
        </p:nvSpPr>
        <p:spPr/>
        <p:txBody>
          <a:bodyPr/>
          <a:lstStyle/>
          <a:p>
            <a:r>
              <a:rPr lang="zh-TW" altLang="en-US" dirty="0"/>
              <a:t>電腦軟體基準所稱之電腦軟、硬體</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19</a:t>
            </a:fld>
            <a:endParaRPr lang="zh-TW" altLang="en-US"/>
          </a:p>
        </p:txBody>
      </p:sp>
      <p:grpSp>
        <p:nvGrpSpPr>
          <p:cNvPr id="29" name="群組 28"/>
          <p:cNvGrpSpPr/>
          <p:nvPr/>
        </p:nvGrpSpPr>
        <p:grpSpPr>
          <a:xfrm>
            <a:off x="4721696" y="2083715"/>
            <a:ext cx="3744416" cy="3705098"/>
            <a:chOff x="1905" y="1722715"/>
            <a:chExt cx="1857374" cy="1361520"/>
          </a:xfrm>
          <a:scene3d>
            <a:camera prst="orthographicFront"/>
            <a:lightRig rig="flat" dir="t"/>
          </a:scene3d>
        </p:grpSpPr>
        <p:sp>
          <p:nvSpPr>
            <p:cNvPr id="30" name="矩形 29"/>
            <p:cNvSpPr/>
            <p:nvPr/>
          </p:nvSpPr>
          <p:spPr>
            <a:xfrm>
              <a:off x="1905" y="1722715"/>
              <a:ext cx="1857374" cy="1361520"/>
            </a:xfrm>
            <a:prstGeom prst="rect">
              <a:avLst/>
            </a:prstGeom>
          </p:spPr>
          <p:style>
            <a:lnRef idx="1">
              <a:schemeClr val="accent3"/>
            </a:lnRef>
            <a:fillRef idx="2">
              <a:schemeClr val="accent3"/>
            </a:fillRef>
            <a:effectRef idx="1">
              <a:schemeClr val="accent3"/>
            </a:effectRef>
            <a:fontRef idx="minor">
              <a:schemeClr val="dk1"/>
            </a:fontRef>
          </p:style>
        </p:sp>
        <p:sp>
          <p:nvSpPr>
            <p:cNvPr id="31" name="矩形 30"/>
            <p:cNvSpPr/>
            <p:nvPr/>
          </p:nvSpPr>
          <p:spPr>
            <a:xfrm>
              <a:off x="1905" y="1722715"/>
              <a:ext cx="1857374" cy="1361520"/>
            </a:xfrm>
            <a:prstGeom prst="rect">
              <a:avLst/>
            </a:prstGeom>
          </p:spPr>
          <p:style>
            <a:lnRef idx="1">
              <a:schemeClr val="accent3"/>
            </a:lnRef>
            <a:fillRef idx="2">
              <a:schemeClr val="accent3"/>
            </a:fillRef>
            <a:effectRef idx="1">
              <a:schemeClr val="accent3"/>
            </a:effectRef>
            <a:fontRef idx="minor">
              <a:schemeClr val="dk1"/>
            </a:fontRef>
          </p:style>
          <p:txBody>
            <a:bodyPr spcFirstLastPara="0" vert="horz" wrap="square" lIns="154686" tIns="154686" rIns="206248" bIns="232029" numCol="1" spcCol="1270" anchor="t" anchorCtr="0">
              <a:noAutofit/>
            </a:bodyPr>
            <a:lstStyle/>
            <a:p>
              <a:pPr lvl="1" indent="-457200" algn="l" defTabSz="1289050">
                <a:lnSpc>
                  <a:spcPct val="90000"/>
                </a:lnSpc>
                <a:spcBef>
                  <a:spcPct val="0"/>
                </a:spcBef>
                <a:spcAft>
                  <a:spcPct val="15000"/>
                </a:spcAft>
                <a:buFont typeface="Wingdings" panose="05000000000000000000" pitchFamily="2" charset="2"/>
                <a:buChar char="l"/>
              </a:pPr>
              <a:r>
                <a:rPr lang="zh-TW" altLang="en-US" sz="2000" kern="1200" dirty="0">
                  <a:solidFill>
                    <a:schemeClr val="accent6">
                      <a:lumMod val="50000"/>
                    </a:schemeClr>
                  </a:solidFill>
                  <a:latin typeface="微軟正黑體" panose="020B0604030504040204" pitchFamily="34" charset="-120"/>
                  <a:ea typeface="微軟正黑體" panose="020B0604030504040204" pitchFamily="34" charset="-120"/>
                </a:rPr>
                <a:t>作業系統、系統程式</a:t>
              </a:r>
              <a:r>
                <a:rPr lang="en-US" altLang="zh-TW" sz="2000" kern="1200" dirty="0">
                  <a:solidFill>
                    <a:schemeClr val="accent6">
                      <a:lumMod val="50000"/>
                    </a:schemeClr>
                  </a:solidFill>
                  <a:latin typeface="微軟正黑體" panose="020B0604030504040204" pitchFamily="34" charset="-120"/>
                  <a:ea typeface="微軟正黑體" panose="020B0604030504040204" pitchFamily="34" charset="-120"/>
                </a:rPr>
                <a:t>…</a:t>
              </a:r>
            </a:p>
            <a:p>
              <a:pPr lvl="1" indent="-457200" algn="l" defTabSz="1289050">
                <a:lnSpc>
                  <a:spcPct val="90000"/>
                </a:lnSpc>
                <a:spcBef>
                  <a:spcPct val="0"/>
                </a:spcBef>
                <a:spcAft>
                  <a:spcPct val="15000"/>
                </a:spcAft>
                <a:buFont typeface="Wingdings" panose="05000000000000000000" pitchFamily="2" charset="2"/>
                <a:buChar char="l"/>
              </a:pPr>
              <a:r>
                <a:rPr lang="zh-TW" altLang="en-US" sz="2000" kern="1200" dirty="0">
                  <a:solidFill>
                    <a:schemeClr val="accent6">
                      <a:lumMod val="50000"/>
                    </a:schemeClr>
                  </a:solidFill>
                  <a:latin typeface="微軟正黑體" panose="020B0604030504040204" pitchFamily="34" charset="-120"/>
                  <a:ea typeface="微軟正黑體" panose="020B0604030504040204" pitchFamily="34" charset="-120"/>
                </a:rPr>
                <a:t>資料</a:t>
              </a:r>
              <a:r>
                <a:rPr lang="zh-TW" altLang="en-US" sz="2000" u="sng" kern="1200" dirty="0">
                  <a:solidFill>
                    <a:schemeClr val="accent6">
                      <a:lumMod val="50000"/>
                    </a:schemeClr>
                  </a:solidFill>
                  <a:latin typeface="微軟正黑體" panose="020B0604030504040204" pitchFamily="34" charset="-120"/>
                  <a:ea typeface="微軟正黑體" panose="020B0604030504040204" pitchFamily="34" charset="-120"/>
                </a:rPr>
                <a:t>庫</a:t>
              </a:r>
              <a:r>
                <a:rPr lang="zh-TW" altLang="en-US" sz="2000" kern="1200" dirty="0">
                  <a:solidFill>
                    <a:schemeClr val="accent6">
                      <a:lumMod val="50000"/>
                    </a:schemeClr>
                  </a:solidFill>
                  <a:latin typeface="微軟正黑體" panose="020B0604030504040204" pitchFamily="34" charset="-120"/>
                  <a:ea typeface="微軟正黑體" panose="020B0604030504040204" pitchFamily="34" charset="-120"/>
                </a:rPr>
                <a:t>、知識</a:t>
              </a:r>
              <a:r>
                <a:rPr lang="zh-TW" altLang="en-US" sz="2000" u="sng" kern="1200" dirty="0">
                  <a:solidFill>
                    <a:schemeClr val="accent6">
                      <a:lumMod val="50000"/>
                    </a:schemeClr>
                  </a:solidFill>
                  <a:latin typeface="微軟正黑體" panose="020B0604030504040204" pitchFamily="34" charset="-120"/>
                  <a:ea typeface="微軟正黑體" panose="020B0604030504040204" pitchFamily="34" charset="-120"/>
                </a:rPr>
                <a:t>庫</a:t>
              </a:r>
              <a:endParaRPr lang="en-US" altLang="zh-TW" sz="2000" u="sng" kern="1200" dirty="0">
                <a:solidFill>
                  <a:schemeClr val="accent6">
                    <a:lumMod val="50000"/>
                  </a:schemeClr>
                </a:solidFill>
                <a:latin typeface="微軟正黑體" panose="020B0604030504040204" pitchFamily="34" charset="-120"/>
                <a:ea typeface="微軟正黑體" panose="020B0604030504040204" pitchFamily="34" charset="-120"/>
              </a:endParaRPr>
            </a:p>
            <a:p>
              <a:pPr lvl="1" indent="-457200" algn="l" defTabSz="1289050">
                <a:lnSpc>
                  <a:spcPct val="90000"/>
                </a:lnSpc>
                <a:spcBef>
                  <a:spcPct val="0"/>
                </a:spcBef>
                <a:spcAft>
                  <a:spcPct val="15000"/>
                </a:spcAft>
                <a:buFont typeface="Wingdings" panose="05000000000000000000" pitchFamily="2" charset="2"/>
                <a:buChar char="l"/>
              </a:pPr>
              <a:r>
                <a:rPr lang="zh-TW" altLang="en-US" sz="2000" kern="1200" dirty="0">
                  <a:solidFill>
                    <a:schemeClr val="accent6">
                      <a:lumMod val="50000"/>
                    </a:schemeClr>
                  </a:solidFill>
                  <a:latin typeface="微軟正黑體" panose="020B0604030504040204" pitchFamily="34" charset="-120"/>
                  <a:ea typeface="微軟正黑體" panose="020B0604030504040204" pitchFamily="34" charset="-120"/>
                </a:rPr>
                <a:t>程式</a:t>
              </a:r>
              <a:r>
                <a:rPr lang="zh-TW" altLang="en-US" sz="2000" u="sng" kern="1200" dirty="0">
                  <a:solidFill>
                    <a:schemeClr val="accent6">
                      <a:lumMod val="50000"/>
                    </a:schemeClr>
                  </a:solidFill>
                  <a:latin typeface="微軟正黑體" panose="020B0604030504040204" pitchFamily="34" charset="-120"/>
                  <a:ea typeface="微軟正黑體" panose="020B0604030504040204" pitchFamily="34" charset="-120"/>
                </a:rPr>
                <a:t>模組</a:t>
              </a:r>
              <a:r>
                <a:rPr lang="zh-TW" altLang="en-US" sz="2000" kern="1200" dirty="0">
                  <a:solidFill>
                    <a:schemeClr val="accent6">
                      <a:lumMod val="50000"/>
                    </a:schemeClr>
                  </a:solidFill>
                  <a:latin typeface="微軟正黑體" panose="020B0604030504040204" pitchFamily="34" charset="-120"/>
                  <a:ea typeface="微軟正黑體" panose="020B0604030504040204" pitchFamily="34" charset="-120"/>
                </a:rPr>
                <a:t>、機器學習</a:t>
              </a:r>
              <a:r>
                <a:rPr lang="zh-TW" altLang="en-US" sz="2000" u="sng" kern="1200" dirty="0">
                  <a:solidFill>
                    <a:schemeClr val="accent6">
                      <a:lumMod val="50000"/>
                    </a:schemeClr>
                  </a:solidFill>
                  <a:latin typeface="微軟正黑體" panose="020B0604030504040204" pitchFamily="34" charset="-120"/>
                  <a:ea typeface="微軟正黑體" panose="020B0604030504040204" pitchFamily="34" charset="-120"/>
                </a:rPr>
                <a:t>模組</a:t>
              </a:r>
              <a:endParaRPr lang="en-US" altLang="zh-TW" sz="2000" u="sng" kern="1200" dirty="0">
                <a:solidFill>
                  <a:schemeClr val="accent6">
                    <a:lumMod val="50000"/>
                  </a:schemeClr>
                </a:solidFill>
                <a:latin typeface="微軟正黑體" panose="020B0604030504040204" pitchFamily="34" charset="-120"/>
                <a:ea typeface="微軟正黑體" panose="020B0604030504040204" pitchFamily="34" charset="-120"/>
              </a:endParaRPr>
            </a:p>
            <a:p>
              <a:pPr lvl="1" indent="-457200" defTabSz="1289050">
                <a:lnSpc>
                  <a:spcPct val="90000"/>
                </a:lnSpc>
                <a:spcBef>
                  <a:spcPct val="0"/>
                </a:spcBef>
                <a:spcAft>
                  <a:spcPct val="15000"/>
                </a:spcAft>
                <a:buFont typeface="Wingdings" panose="05000000000000000000" pitchFamily="2" charset="2"/>
                <a:buChar char="l"/>
              </a:pPr>
              <a:r>
                <a:rPr lang="zh-TW" altLang="en-US" sz="2000" kern="1200" dirty="0">
                  <a:solidFill>
                    <a:schemeClr val="accent6">
                      <a:lumMod val="50000"/>
                    </a:schemeClr>
                  </a:solidFill>
                  <a:latin typeface="微軟正黑體" panose="020B0604030504040204" pitchFamily="34" charset="-120"/>
                  <a:ea typeface="微軟正黑體" panose="020B0604030504040204" pitchFamily="34" charset="-120"/>
                </a:rPr>
                <a:t>輸入</a:t>
              </a:r>
              <a:r>
                <a:rPr lang="zh-TW" altLang="en-US" sz="2000" u="sng" kern="1200" dirty="0">
                  <a:solidFill>
                    <a:schemeClr val="accent6">
                      <a:lumMod val="50000"/>
                    </a:schemeClr>
                  </a:solidFill>
                  <a:latin typeface="微軟正黑體" panose="020B0604030504040204" pitchFamily="34" charset="-120"/>
                  <a:ea typeface="微軟正黑體" panose="020B0604030504040204" pitchFamily="34" charset="-120"/>
                </a:rPr>
                <a:t>單元</a:t>
              </a:r>
              <a:r>
                <a:rPr lang="zh-TW" altLang="en-US" sz="2000" kern="1200" dirty="0">
                  <a:solidFill>
                    <a:schemeClr val="accent6">
                      <a:lumMod val="50000"/>
                    </a:schemeClr>
                  </a:solidFill>
                  <a:latin typeface="微軟正黑體" panose="020B0604030504040204" pitchFamily="34" charset="-120"/>
                  <a:ea typeface="微軟正黑體" panose="020B0604030504040204" pitchFamily="34" charset="-120"/>
                </a:rPr>
                <a:t>、</a:t>
              </a:r>
              <a:r>
                <a:rPr lang="zh-TW" altLang="en-US" sz="2000" dirty="0">
                  <a:solidFill>
                    <a:schemeClr val="accent6">
                      <a:lumMod val="50000"/>
                    </a:schemeClr>
                  </a:solidFill>
                  <a:latin typeface="微軟正黑體" panose="020B0604030504040204" pitchFamily="34" charset="-120"/>
                  <a:ea typeface="微軟正黑體" panose="020B0604030504040204" pitchFamily="34" charset="-120"/>
                </a:rPr>
                <a:t>輸出</a:t>
              </a:r>
              <a:r>
                <a:rPr lang="zh-TW" altLang="en-US" sz="2000" u="sng" dirty="0">
                  <a:solidFill>
                    <a:schemeClr val="accent6">
                      <a:lumMod val="50000"/>
                    </a:schemeClr>
                  </a:solidFill>
                  <a:latin typeface="微軟正黑體" panose="020B0604030504040204" pitchFamily="34" charset="-120"/>
                  <a:ea typeface="微軟正黑體" panose="020B0604030504040204" pitchFamily="34" charset="-120"/>
                </a:rPr>
                <a:t>單元</a:t>
              </a:r>
              <a:endParaRPr lang="en-US" altLang="zh-CN" sz="2000" u="sng" dirty="0">
                <a:solidFill>
                  <a:schemeClr val="accent6">
                    <a:lumMod val="50000"/>
                  </a:schemeClr>
                </a:solidFill>
                <a:latin typeface="微軟正黑體" panose="020B0604030504040204" pitchFamily="34" charset="-120"/>
                <a:ea typeface="微軟正黑體" panose="020B0604030504040204" pitchFamily="34" charset="-120"/>
              </a:endParaRPr>
            </a:p>
            <a:p>
              <a:pPr lvl="1" indent="-457200" defTabSz="1289050">
                <a:lnSpc>
                  <a:spcPct val="90000"/>
                </a:lnSpc>
                <a:spcBef>
                  <a:spcPct val="0"/>
                </a:spcBef>
                <a:spcAft>
                  <a:spcPct val="15000"/>
                </a:spcAft>
                <a:buFont typeface="Wingdings" panose="05000000000000000000" pitchFamily="2" charset="2"/>
                <a:buChar char="l"/>
              </a:pPr>
              <a:r>
                <a:rPr lang="zh-TW" altLang="en-US" sz="2000" dirty="0">
                  <a:solidFill>
                    <a:schemeClr val="accent6">
                      <a:lumMod val="50000"/>
                    </a:schemeClr>
                  </a:solidFill>
                  <a:latin typeface="微軟正黑體" panose="020B0604030504040204" pitchFamily="34" charset="-120"/>
                  <a:ea typeface="微軟正黑體" panose="020B0604030504040204" pitchFamily="34" charset="-120"/>
                </a:rPr>
                <a:t>加密</a:t>
              </a:r>
              <a:r>
                <a:rPr lang="zh-TW" altLang="en-US" sz="2000" u="sng" dirty="0">
                  <a:solidFill>
                    <a:schemeClr val="accent6">
                      <a:lumMod val="50000"/>
                    </a:schemeClr>
                  </a:solidFill>
                  <a:latin typeface="微軟正黑體" panose="020B0604030504040204" pitchFamily="34" charset="-120"/>
                  <a:ea typeface="微軟正黑體" panose="020B0604030504040204" pitchFamily="34" charset="-120"/>
                </a:rPr>
                <a:t>元件</a:t>
              </a:r>
              <a:r>
                <a:rPr lang="zh-TW" altLang="en-US" sz="2000" dirty="0">
                  <a:solidFill>
                    <a:schemeClr val="accent6">
                      <a:lumMod val="50000"/>
                    </a:schemeClr>
                  </a:solidFill>
                  <a:latin typeface="微軟正黑體" panose="020B0604030504040204" pitchFamily="34" charset="-120"/>
                  <a:ea typeface="微軟正黑體" panose="020B0604030504040204" pitchFamily="34" charset="-120"/>
                </a:rPr>
                <a:t>、壓縮</a:t>
              </a:r>
              <a:r>
                <a:rPr lang="zh-TW" altLang="en-US" sz="2000" u="sng" dirty="0">
                  <a:solidFill>
                    <a:schemeClr val="accent6">
                      <a:lumMod val="50000"/>
                    </a:schemeClr>
                  </a:solidFill>
                  <a:latin typeface="微軟正黑體" panose="020B0604030504040204" pitchFamily="34" charset="-120"/>
                  <a:ea typeface="微軟正黑體" panose="020B0604030504040204" pitchFamily="34" charset="-120"/>
                </a:rPr>
                <a:t>元件</a:t>
              </a:r>
              <a:endParaRPr lang="en-US" altLang="zh-TW" sz="2000" u="sng" dirty="0">
                <a:solidFill>
                  <a:schemeClr val="accent6">
                    <a:lumMod val="50000"/>
                  </a:schemeClr>
                </a:solidFill>
                <a:latin typeface="微軟正黑體" panose="020B0604030504040204" pitchFamily="34" charset="-120"/>
                <a:ea typeface="微軟正黑體" panose="020B0604030504040204" pitchFamily="34" charset="-120"/>
              </a:endParaRPr>
            </a:p>
            <a:p>
              <a:pPr lvl="1" indent="-457200" algn="l" defTabSz="1289050">
                <a:lnSpc>
                  <a:spcPct val="90000"/>
                </a:lnSpc>
                <a:spcBef>
                  <a:spcPct val="0"/>
                </a:spcBef>
                <a:spcAft>
                  <a:spcPct val="15000"/>
                </a:spcAft>
                <a:buFont typeface="Wingdings" panose="05000000000000000000" pitchFamily="2" charset="2"/>
                <a:buChar char="l"/>
              </a:pPr>
              <a:r>
                <a:rPr lang="zh-TW" altLang="en-US" sz="2000" kern="1200" dirty="0">
                  <a:solidFill>
                    <a:schemeClr val="accent6">
                      <a:lumMod val="50000"/>
                    </a:schemeClr>
                  </a:solidFill>
                  <a:latin typeface="微軟正黑體" panose="020B0604030504040204" pitchFamily="34" charset="-120"/>
                  <a:ea typeface="微軟正黑體" panose="020B0604030504040204" pitchFamily="34" charset="-120"/>
                </a:rPr>
                <a:t>使用者</a:t>
              </a:r>
              <a:r>
                <a:rPr lang="zh-TW" altLang="en-US" sz="2000" u="sng" kern="1200" dirty="0">
                  <a:solidFill>
                    <a:schemeClr val="accent6">
                      <a:lumMod val="50000"/>
                    </a:schemeClr>
                  </a:solidFill>
                  <a:latin typeface="微軟正黑體" panose="020B0604030504040204" pitchFamily="34" charset="-120"/>
                  <a:ea typeface="微軟正黑體" panose="020B0604030504040204" pitchFamily="34" charset="-120"/>
                </a:rPr>
                <a:t>介面</a:t>
              </a:r>
              <a:r>
                <a:rPr lang="zh-TW" altLang="en-US" sz="2000" kern="1200" dirty="0">
                  <a:solidFill>
                    <a:schemeClr val="accent6">
                      <a:lumMod val="50000"/>
                    </a:schemeClr>
                  </a:solidFill>
                  <a:latin typeface="微軟正黑體" panose="020B0604030504040204" pitchFamily="34" charset="-120"/>
                  <a:ea typeface="微軟正黑體" panose="020B0604030504040204" pitchFamily="34" charset="-120"/>
                </a:rPr>
                <a:t>、訊息通知</a:t>
              </a:r>
              <a:r>
                <a:rPr lang="zh-TW" altLang="en-US" sz="2000" u="sng" kern="1200" dirty="0">
                  <a:solidFill>
                    <a:schemeClr val="accent6">
                      <a:lumMod val="50000"/>
                    </a:schemeClr>
                  </a:solidFill>
                  <a:latin typeface="微軟正黑體" panose="020B0604030504040204" pitchFamily="34" charset="-120"/>
                  <a:ea typeface="微軟正黑體" panose="020B0604030504040204" pitchFamily="34" charset="-120"/>
                </a:rPr>
                <a:t>介面</a:t>
              </a:r>
              <a:endParaRPr lang="en-US" altLang="zh-TW" sz="2000" u="sng" kern="1200" dirty="0">
                <a:solidFill>
                  <a:schemeClr val="accent6">
                    <a:lumMod val="50000"/>
                  </a:schemeClr>
                </a:solidFill>
                <a:latin typeface="微軟正黑體" panose="020B0604030504040204" pitchFamily="34" charset="-120"/>
                <a:ea typeface="微軟正黑體" panose="020B0604030504040204" pitchFamily="34" charset="-120"/>
              </a:endParaRPr>
            </a:p>
            <a:p>
              <a:pPr lvl="1" indent="-457200" algn="l" defTabSz="1289050">
                <a:lnSpc>
                  <a:spcPct val="90000"/>
                </a:lnSpc>
                <a:spcBef>
                  <a:spcPct val="0"/>
                </a:spcBef>
                <a:spcAft>
                  <a:spcPct val="15000"/>
                </a:spcAft>
                <a:buFont typeface="Wingdings" panose="05000000000000000000" pitchFamily="2" charset="2"/>
                <a:buChar char="l"/>
              </a:pPr>
              <a:r>
                <a:rPr lang="zh-TW" altLang="en-US" sz="2000" dirty="0">
                  <a:solidFill>
                    <a:schemeClr val="accent6">
                      <a:lumMod val="50000"/>
                    </a:schemeClr>
                  </a:solidFill>
                  <a:latin typeface="微軟正黑體" panose="020B0604030504040204" pitchFamily="34" charset="-120"/>
                  <a:ea typeface="微軟正黑體" panose="020B0604030504040204" pitchFamily="34" charset="-120"/>
                </a:rPr>
                <a:t>人事</a:t>
              </a:r>
              <a:r>
                <a:rPr lang="zh-TW" altLang="en-US" sz="2000" u="sng" dirty="0">
                  <a:solidFill>
                    <a:schemeClr val="accent6">
                      <a:lumMod val="50000"/>
                    </a:schemeClr>
                  </a:solidFill>
                  <a:latin typeface="微軟正黑體" panose="020B0604030504040204" pitchFamily="34" charset="-120"/>
                  <a:ea typeface="微軟正黑體" panose="020B0604030504040204" pitchFamily="34" charset="-120"/>
                </a:rPr>
                <a:t>系統</a:t>
              </a:r>
              <a:r>
                <a:rPr lang="zh-TW" altLang="en-US" sz="2000" dirty="0">
                  <a:solidFill>
                    <a:schemeClr val="accent6">
                      <a:lumMod val="50000"/>
                    </a:schemeClr>
                  </a:solidFill>
                  <a:latin typeface="微軟正黑體" panose="020B0604030504040204" pitchFamily="34" charset="-120"/>
                  <a:ea typeface="微軟正黑體" panose="020B0604030504040204" pitchFamily="34" charset="-120"/>
                </a:rPr>
                <a:t>、銷售管理</a:t>
              </a:r>
              <a:r>
                <a:rPr lang="zh-TW" altLang="en-US" sz="2000" u="sng" dirty="0">
                  <a:solidFill>
                    <a:schemeClr val="accent6">
                      <a:lumMod val="50000"/>
                    </a:schemeClr>
                  </a:solidFill>
                  <a:latin typeface="微軟正黑體" panose="020B0604030504040204" pitchFamily="34" charset="-120"/>
                  <a:ea typeface="微軟正黑體" panose="020B0604030504040204" pitchFamily="34" charset="-120"/>
                </a:rPr>
                <a:t>系統</a:t>
              </a:r>
              <a:endParaRPr lang="en-US" altLang="zh-TW" sz="2000" u="sng" dirty="0">
                <a:solidFill>
                  <a:schemeClr val="accent6">
                    <a:lumMod val="50000"/>
                  </a:schemeClr>
                </a:solidFill>
                <a:latin typeface="微軟正黑體" panose="020B0604030504040204" pitchFamily="34" charset="-120"/>
                <a:ea typeface="微軟正黑體" panose="020B0604030504040204" pitchFamily="34" charset="-120"/>
              </a:endParaRPr>
            </a:p>
            <a:p>
              <a:pPr lvl="1" indent="-457200" algn="l" defTabSz="1289050">
                <a:lnSpc>
                  <a:spcPct val="90000"/>
                </a:lnSpc>
                <a:spcBef>
                  <a:spcPct val="0"/>
                </a:spcBef>
                <a:spcAft>
                  <a:spcPct val="15000"/>
                </a:spcAft>
                <a:buFont typeface="Wingdings" panose="05000000000000000000" pitchFamily="2" charset="2"/>
                <a:buChar char="l"/>
              </a:pPr>
              <a:r>
                <a:rPr lang="zh-TW" altLang="en-US" sz="2000" kern="1200" dirty="0">
                  <a:solidFill>
                    <a:schemeClr val="accent6">
                      <a:lumMod val="50000"/>
                    </a:schemeClr>
                  </a:solidFill>
                  <a:latin typeface="微軟正黑體" panose="020B0604030504040204" pitchFamily="34" charset="-120"/>
                  <a:ea typeface="微軟正黑體" panose="020B0604030504040204" pitchFamily="34" charset="-120"/>
                </a:rPr>
                <a:t>資訊</a:t>
              </a:r>
              <a:r>
                <a:rPr lang="zh-TW" altLang="en-US" sz="2000" u="sng" kern="1200" dirty="0">
                  <a:solidFill>
                    <a:schemeClr val="accent6">
                      <a:lumMod val="50000"/>
                    </a:schemeClr>
                  </a:solidFill>
                  <a:latin typeface="微軟正黑體" panose="020B0604030504040204" pitchFamily="34" charset="-120"/>
                  <a:ea typeface="微軟正黑體" panose="020B0604030504040204" pitchFamily="34" charset="-120"/>
                </a:rPr>
                <a:t>平台</a:t>
              </a:r>
              <a:r>
                <a:rPr lang="zh-TW" altLang="en-US" sz="2000" kern="1200" dirty="0">
                  <a:solidFill>
                    <a:schemeClr val="accent6">
                      <a:lumMod val="50000"/>
                    </a:schemeClr>
                  </a:solidFill>
                  <a:latin typeface="微軟正黑體" panose="020B0604030504040204" pitchFamily="34" charset="-120"/>
                  <a:ea typeface="微軟正黑體" panose="020B0604030504040204" pitchFamily="34" charset="-120"/>
                </a:rPr>
                <a:t>、商品販售</a:t>
              </a:r>
              <a:r>
                <a:rPr lang="zh-TW" altLang="en-US" sz="2000" u="sng" kern="1200" dirty="0">
                  <a:solidFill>
                    <a:schemeClr val="accent6">
                      <a:lumMod val="50000"/>
                    </a:schemeClr>
                  </a:solidFill>
                  <a:latin typeface="微軟正黑體" panose="020B0604030504040204" pitchFamily="34" charset="-120"/>
                  <a:ea typeface="微軟正黑體" panose="020B0604030504040204" pitchFamily="34" charset="-120"/>
                </a:rPr>
                <a:t>平台</a:t>
              </a:r>
              <a:endParaRPr lang="en-US" altLang="zh-CN" sz="2000" u="sng" kern="1200" dirty="0">
                <a:solidFill>
                  <a:schemeClr val="accent6">
                    <a:lumMod val="50000"/>
                  </a:schemeClr>
                </a:solidFill>
                <a:latin typeface="微軟正黑體" panose="020B0604030504040204" pitchFamily="34" charset="-120"/>
                <a:ea typeface="微軟正黑體" panose="020B0604030504040204" pitchFamily="34" charset="-120"/>
              </a:endParaRPr>
            </a:p>
            <a:p>
              <a:pPr lvl="1" indent="-457200" algn="l" defTabSz="1289050">
                <a:lnSpc>
                  <a:spcPct val="90000"/>
                </a:lnSpc>
                <a:spcBef>
                  <a:spcPct val="0"/>
                </a:spcBef>
                <a:spcAft>
                  <a:spcPct val="15000"/>
                </a:spcAft>
                <a:buFont typeface="Wingdings" panose="05000000000000000000" pitchFamily="2" charset="2"/>
                <a:buChar char="l"/>
              </a:pPr>
              <a:r>
                <a:rPr lang="en-US" altLang="zh-CN" sz="2000" kern="1200" dirty="0">
                  <a:solidFill>
                    <a:schemeClr val="accent6">
                      <a:lumMod val="50000"/>
                    </a:schemeClr>
                  </a:solidFill>
                  <a:latin typeface="微軟正黑體" panose="020B0604030504040204" pitchFamily="34" charset="-120"/>
                  <a:ea typeface="微軟正黑體" panose="020B0604030504040204" pitchFamily="34" charset="-120"/>
                </a:rPr>
                <a:t>…</a:t>
              </a:r>
              <a:endParaRPr lang="zh-CN" altLang="en-US" sz="2000" kern="1200" dirty="0">
                <a:solidFill>
                  <a:schemeClr val="accent6">
                    <a:lumMod val="50000"/>
                  </a:schemeClr>
                </a:solidFill>
                <a:latin typeface="微軟正黑體" panose="020B0604030504040204" pitchFamily="34" charset="-120"/>
                <a:ea typeface="微軟正黑體" panose="020B0604030504040204" pitchFamily="34" charset="-120"/>
              </a:endParaRPr>
            </a:p>
          </p:txBody>
        </p:sp>
      </p:grpSp>
      <p:grpSp>
        <p:nvGrpSpPr>
          <p:cNvPr id="8" name="群組 7"/>
          <p:cNvGrpSpPr/>
          <p:nvPr/>
        </p:nvGrpSpPr>
        <p:grpSpPr>
          <a:xfrm>
            <a:off x="636290" y="2083716"/>
            <a:ext cx="3744416" cy="3705097"/>
            <a:chOff x="1905" y="1722715"/>
            <a:chExt cx="1857374" cy="1361520"/>
          </a:xfrm>
          <a:scene3d>
            <a:camera prst="orthographicFront"/>
            <a:lightRig rig="flat" dir="t"/>
          </a:scene3d>
        </p:grpSpPr>
        <p:sp>
          <p:nvSpPr>
            <p:cNvPr id="15" name="矩形 14"/>
            <p:cNvSpPr/>
            <p:nvPr/>
          </p:nvSpPr>
          <p:spPr>
            <a:xfrm>
              <a:off x="1905" y="1722715"/>
              <a:ext cx="1857374" cy="1361520"/>
            </a:xfrm>
            <a:prstGeom prst="rect">
              <a:avLst/>
            </a:prstGeom>
          </p:spPr>
          <p:style>
            <a:lnRef idx="1">
              <a:schemeClr val="accent5"/>
            </a:lnRef>
            <a:fillRef idx="2">
              <a:schemeClr val="accent5"/>
            </a:fillRef>
            <a:effectRef idx="1">
              <a:schemeClr val="accent5"/>
            </a:effectRef>
            <a:fontRef idx="minor">
              <a:schemeClr val="dk1"/>
            </a:fontRef>
          </p:style>
        </p:sp>
        <p:sp>
          <p:nvSpPr>
            <p:cNvPr id="16" name="矩形 15"/>
            <p:cNvSpPr/>
            <p:nvPr/>
          </p:nvSpPr>
          <p:spPr>
            <a:xfrm>
              <a:off x="1905" y="1722715"/>
              <a:ext cx="1857374" cy="1361520"/>
            </a:xfrm>
            <a:prstGeom prst="rect">
              <a:avLst/>
            </a:prstGeom>
          </p:spPr>
          <p:style>
            <a:lnRef idx="1">
              <a:schemeClr val="accent5"/>
            </a:lnRef>
            <a:fillRef idx="2">
              <a:schemeClr val="accent5"/>
            </a:fillRef>
            <a:effectRef idx="1">
              <a:schemeClr val="accent5"/>
            </a:effectRef>
            <a:fontRef idx="minor">
              <a:schemeClr val="dk1"/>
            </a:fontRef>
          </p:style>
          <p:txBody>
            <a:bodyPr spcFirstLastPara="0" vert="horz" wrap="square" lIns="154686" tIns="154686" rIns="206248" bIns="232029" numCol="1" spcCol="1270" anchor="t" anchorCtr="0">
              <a:noAutofit/>
            </a:bodyPr>
            <a:lstStyle/>
            <a:p>
              <a:pPr lvl="1" indent="-457200" algn="l" defTabSz="1289050">
                <a:lnSpc>
                  <a:spcPct val="90000"/>
                </a:lnSpc>
                <a:spcBef>
                  <a:spcPct val="0"/>
                </a:spcBef>
                <a:spcAft>
                  <a:spcPct val="15000"/>
                </a:spcAft>
                <a:buFont typeface="Wingdings" panose="05000000000000000000" pitchFamily="2" charset="2"/>
                <a:buChar char="l"/>
              </a:pPr>
              <a:r>
                <a:rPr lang="zh-TW" altLang="en-US" sz="2000" kern="1200" dirty="0">
                  <a:latin typeface="微軟正黑體" panose="020B0604030504040204" pitchFamily="34" charset="-120"/>
                  <a:ea typeface="微軟正黑體" panose="020B0604030504040204" pitchFamily="34" charset="-120"/>
                </a:rPr>
                <a:t>電腦、嵌入式電腦、手機、智慧型手機、平板、數位相機</a:t>
              </a:r>
              <a:r>
                <a:rPr lang="en-US" altLang="zh-TW" sz="2000" kern="1200" dirty="0">
                  <a:latin typeface="微軟正黑體" panose="020B0604030504040204" pitchFamily="34" charset="-120"/>
                  <a:ea typeface="微軟正黑體" panose="020B0604030504040204" pitchFamily="34" charset="-120"/>
                </a:rPr>
                <a:t>…</a:t>
              </a:r>
            </a:p>
            <a:p>
              <a:pPr lvl="1" indent="-457200" algn="l" defTabSz="1289050">
                <a:lnSpc>
                  <a:spcPct val="90000"/>
                </a:lnSpc>
                <a:spcBef>
                  <a:spcPct val="0"/>
                </a:spcBef>
                <a:spcAft>
                  <a:spcPct val="15000"/>
                </a:spcAft>
                <a:buFont typeface="Wingdings" panose="05000000000000000000" pitchFamily="2" charset="2"/>
                <a:buChar char="l"/>
              </a:pPr>
              <a:r>
                <a:rPr lang="zh-TW" altLang="en-US" sz="2000" dirty="0">
                  <a:latin typeface="微軟正黑體" panose="020B0604030504040204" pitchFamily="34" charset="-120"/>
                  <a:ea typeface="微軟正黑體" panose="020B0604030504040204" pitchFamily="34" charset="-120"/>
                </a:rPr>
                <a:t>處理器、記憶體、繪圖單元</a:t>
              </a:r>
              <a:r>
                <a:rPr lang="en-US" altLang="zh-TW" sz="2000" dirty="0">
                  <a:latin typeface="微軟正黑體" panose="020B0604030504040204" pitchFamily="34" charset="-120"/>
                  <a:ea typeface="微軟正黑體" panose="020B0604030504040204" pitchFamily="34" charset="-120"/>
                </a:rPr>
                <a:t>…</a:t>
              </a:r>
            </a:p>
            <a:p>
              <a:pPr lvl="1" indent="-457200" algn="l" defTabSz="1289050">
                <a:lnSpc>
                  <a:spcPct val="90000"/>
                </a:lnSpc>
                <a:spcBef>
                  <a:spcPct val="0"/>
                </a:spcBef>
                <a:spcAft>
                  <a:spcPct val="15000"/>
                </a:spcAft>
                <a:buFont typeface="Wingdings" panose="05000000000000000000" pitchFamily="2" charset="2"/>
                <a:buChar char="l"/>
              </a:pPr>
              <a:r>
                <a:rPr lang="zh-TW" altLang="en-US" sz="2000" dirty="0">
                  <a:latin typeface="微軟正黑體" panose="020B0604030504040204" pitchFamily="34" charset="-120"/>
                  <a:ea typeface="微軟正黑體" panose="020B0604030504040204" pitchFamily="34" charset="-120"/>
                </a:rPr>
                <a:t>網路、網際網路</a:t>
              </a:r>
              <a:r>
                <a:rPr lang="en-US" altLang="zh-TW" sz="2000" dirty="0">
                  <a:latin typeface="微軟正黑體" panose="020B0604030504040204" pitchFamily="34" charset="-120"/>
                  <a:ea typeface="微軟正黑體" panose="020B0604030504040204" pitchFamily="34" charset="-120"/>
                </a:rPr>
                <a:t>…</a:t>
              </a:r>
            </a:p>
            <a:p>
              <a:pPr lvl="1" indent="-457200" algn="l" defTabSz="1289050">
                <a:lnSpc>
                  <a:spcPct val="90000"/>
                </a:lnSpc>
                <a:spcBef>
                  <a:spcPct val="0"/>
                </a:spcBef>
                <a:spcAft>
                  <a:spcPct val="15000"/>
                </a:spcAft>
                <a:buFont typeface="Wingdings" panose="05000000000000000000" pitchFamily="2" charset="2"/>
                <a:buChar char="l"/>
              </a:pPr>
              <a:r>
                <a:rPr lang="zh-TW" altLang="en-US" sz="2000" dirty="0">
                  <a:latin typeface="微軟正黑體" panose="020B0604030504040204" pitchFamily="34" charset="-120"/>
                  <a:ea typeface="微軟正黑體" panose="020B0604030504040204" pitchFamily="34" charset="-120"/>
                </a:rPr>
                <a:t>印表機、</a:t>
              </a:r>
              <a:r>
                <a:rPr lang="en-US" altLang="zh-TW" sz="2000" dirty="0">
                  <a:latin typeface="微軟正黑體" panose="020B0604030504040204" pitchFamily="34" charset="-120"/>
                  <a:ea typeface="微軟正黑體" panose="020B0604030504040204" pitchFamily="34" charset="-120"/>
                </a:rPr>
                <a:t>3D</a:t>
              </a:r>
              <a:r>
                <a:rPr lang="zh-TW" altLang="en-US" sz="2000" dirty="0">
                  <a:latin typeface="微軟正黑體" panose="020B0604030504040204" pitchFamily="34" charset="-120"/>
                  <a:ea typeface="微軟正黑體" panose="020B0604030504040204" pitchFamily="34" charset="-120"/>
                </a:rPr>
                <a:t>印表機</a:t>
              </a:r>
              <a:r>
                <a:rPr lang="en-US" altLang="zh-TW" sz="2000" dirty="0">
                  <a:latin typeface="微軟正黑體" panose="020B0604030504040204" pitchFamily="34" charset="-120"/>
                  <a:ea typeface="微軟正黑體" panose="020B0604030504040204" pitchFamily="34" charset="-120"/>
                </a:rPr>
                <a:t>…</a:t>
              </a:r>
            </a:p>
            <a:p>
              <a:pPr lvl="1" indent="-457200" algn="l" defTabSz="1289050">
                <a:lnSpc>
                  <a:spcPct val="90000"/>
                </a:lnSpc>
                <a:spcBef>
                  <a:spcPct val="0"/>
                </a:spcBef>
                <a:spcAft>
                  <a:spcPct val="15000"/>
                </a:spcAft>
                <a:buFont typeface="Wingdings" panose="05000000000000000000" pitchFamily="2" charset="2"/>
                <a:buChar char="l"/>
              </a:pPr>
              <a:r>
                <a:rPr lang="zh-TW" altLang="en-US" sz="2000" dirty="0">
                  <a:latin typeface="微軟正黑體" panose="020B0604030504040204" pitchFamily="34" charset="-120"/>
                  <a:ea typeface="微軟正黑體" panose="020B0604030504040204" pitchFamily="34" charset="-120"/>
                </a:rPr>
                <a:t>螢幕、顯示器</a:t>
              </a:r>
              <a:r>
                <a:rPr lang="en-US" altLang="zh-TW" sz="2000" dirty="0">
                  <a:latin typeface="微軟正黑體" panose="020B0604030504040204" pitchFamily="34" charset="-120"/>
                  <a:ea typeface="微軟正黑體" panose="020B0604030504040204" pitchFamily="34" charset="-120"/>
                </a:rPr>
                <a:t>…</a:t>
              </a:r>
            </a:p>
            <a:p>
              <a:pPr lvl="1" indent="-457200" algn="l" defTabSz="1289050">
                <a:lnSpc>
                  <a:spcPct val="90000"/>
                </a:lnSpc>
                <a:spcBef>
                  <a:spcPct val="0"/>
                </a:spcBef>
                <a:spcAft>
                  <a:spcPct val="15000"/>
                </a:spcAft>
                <a:buFont typeface="Wingdings" panose="05000000000000000000" pitchFamily="2" charset="2"/>
                <a:buChar char="l"/>
              </a:pPr>
              <a:r>
                <a:rPr lang="zh-TW" altLang="en-US" sz="2000" dirty="0">
                  <a:latin typeface="微軟正黑體" panose="020B0604030504040204" pitchFamily="34" charset="-120"/>
                  <a:ea typeface="微軟正黑體" panose="020B0604030504040204" pitchFamily="34" charset="-120"/>
                </a:rPr>
                <a:t>數位控制工具機、機器人</a:t>
              </a:r>
              <a:r>
                <a:rPr lang="en-US" altLang="zh-TW" sz="2000" dirty="0">
                  <a:latin typeface="微軟正黑體" panose="020B0604030504040204" pitchFamily="34" charset="-120"/>
                  <a:ea typeface="微軟正黑體" panose="020B0604030504040204" pitchFamily="34" charset="-120"/>
                </a:rPr>
                <a:t>…</a:t>
              </a:r>
            </a:p>
            <a:p>
              <a:pPr lvl="1" indent="-457200" algn="l" defTabSz="1289050">
                <a:lnSpc>
                  <a:spcPct val="90000"/>
                </a:lnSpc>
                <a:spcBef>
                  <a:spcPct val="0"/>
                </a:spcBef>
                <a:spcAft>
                  <a:spcPct val="15000"/>
                </a:spcAft>
                <a:buFont typeface="Wingdings" panose="05000000000000000000" pitchFamily="2" charset="2"/>
                <a:buChar char="l"/>
              </a:pPr>
              <a:r>
                <a:rPr lang="en-US" altLang="zh-CN" sz="2000" kern="1200" dirty="0">
                  <a:latin typeface="微軟正黑體" panose="020B0604030504040204" pitchFamily="34" charset="-120"/>
                  <a:ea typeface="微軟正黑體" panose="020B0604030504040204" pitchFamily="34" charset="-120"/>
                </a:rPr>
                <a:t>…</a:t>
              </a:r>
              <a:endParaRPr lang="zh-CN" altLang="en-US" sz="2000" kern="12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3640643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技術的流動</a:t>
            </a:r>
          </a:p>
        </p:txBody>
      </p:sp>
      <p:sp>
        <p:nvSpPr>
          <p:cNvPr id="5" name="內容版面配置區 1"/>
          <p:cNvSpPr>
            <a:spLocks noGrp="1"/>
          </p:cNvSpPr>
          <p:nvPr>
            <p:ph idx="1"/>
          </p:nvPr>
        </p:nvSpPr>
        <p:spPr>
          <a:xfrm>
            <a:off x="461670" y="836712"/>
            <a:ext cx="8229600" cy="1008112"/>
          </a:xfrm>
          <a:ln>
            <a:solidFill>
              <a:schemeClr val="accent1"/>
            </a:solidFill>
          </a:ln>
        </p:spPr>
        <p:txBody>
          <a:bodyPr>
            <a:normAutofit lnSpcReduction="10000"/>
          </a:bodyPr>
          <a:lstStyle/>
          <a:p>
            <a:r>
              <a:rPr lang="zh-TW" altLang="en-US" sz="1800" dirty="0"/>
              <a:t>是利用技術領域的手段去解決問題而產生</a:t>
            </a:r>
            <a:r>
              <a:rPr lang="zh-TW" altLang="en-US" sz="1800" u="sng" dirty="0"/>
              <a:t>技術功效</a:t>
            </a:r>
            <a:endParaRPr lang="en-US" altLang="zh-TW" sz="1800" u="sng" dirty="0"/>
          </a:p>
          <a:p>
            <a:r>
              <a:rPr lang="zh-TW" altLang="en-US" sz="1800" dirty="0"/>
              <a:t>是技術的考量，有</a:t>
            </a:r>
            <a:r>
              <a:rPr lang="zh-TW" altLang="en-US" sz="1800" u="sng" dirty="0"/>
              <a:t>技術目的</a:t>
            </a:r>
            <a:r>
              <a:rPr lang="zh-TW" altLang="en-US" sz="1800" dirty="0"/>
              <a:t>的去發明並以</a:t>
            </a:r>
            <a:r>
              <a:rPr lang="zh-TW" altLang="en-US" sz="1800" u="sng" dirty="0"/>
              <a:t>技術去實現</a:t>
            </a:r>
            <a:endParaRPr lang="en-US" altLang="zh-TW" sz="1800" u="sng" dirty="0"/>
          </a:p>
          <a:p>
            <a:r>
              <a:rPr lang="zh-TW" altLang="en-US" sz="1800" dirty="0"/>
              <a:t>技術手段、技術問題、技術功效的綜合考量</a:t>
            </a:r>
            <a:endParaRPr lang="en-US" altLang="zh-TW" sz="1800" dirty="0"/>
          </a:p>
        </p:txBody>
      </p:sp>
      <p:sp>
        <p:nvSpPr>
          <p:cNvPr id="4" name="投影片編號版面配置區 3"/>
          <p:cNvSpPr>
            <a:spLocks noGrp="1"/>
          </p:cNvSpPr>
          <p:nvPr>
            <p:ph type="sldNum" sz="quarter" idx="12"/>
          </p:nvPr>
        </p:nvSpPr>
        <p:spPr>
          <a:xfrm>
            <a:off x="6989390" y="6428060"/>
            <a:ext cx="2133600" cy="365125"/>
          </a:xfrm>
        </p:spPr>
        <p:txBody>
          <a:bodyPr/>
          <a:lstStyle/>
          <a:p>
            <a:fld id="{51D2D507-09EA-4C6F-96ED-053C801F8797}" type="slidenum">
              <a:rPr lang="zh-TW" altLang="en-US" smtClean="0"/>
              <a:t>20</a:t>
            </a:fld>
            <a:endParaRPr lang="zh-TW" altLang="en-US" dirty="0"/>
          </a:p>
        </p:txBody>
      </p:sp>
      <p:sp>
        <p:nvSpPr>
          <p:cNvPr id="6" name="矩形 5"/>
          <p:cNvSpPr/>
          <p:nvPr/>
        </p:nvSpPr>
        <p:spPr>
          <a:xfrm>
            <a:off x="467543" y="1988840"/>
            <a:ext cx="8208913" cy="1008112"/>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wrap="square">
            <a:noAutofit/>
          </a:bodyPr>
          <a:lstStyle/>
          <a:p>
            <a:r>
              <a:rPr lang="zh-TW" altLang="en-US" sz="1700" dirty="0">
                <a:solidFill>
                  <a:schemeClr val="tx1"/>
                </a:solidFill>
                <a:latin typeface="微軟正黑體" panose="020B0604030504040204" pitchFamily="34" charset="-120"/>
                <a:ea typeface="微軟正黑體" panose="020B0604030504040204" pitchFamily="34" charset="-120"/>
              </a:rPr>
              <a:t>一種提高銷售額的方法，其應用於一大賣場中，步驟如下：</a:t>
            </a:r>
          </a:p>
          <a:p>
            <a:r>
              <a:rPr lang="zh-TW" altLang="en-US" sz="1700" dirty="0">
                <a:solidFill>
                  <a:schemeClr val="tx1"/>
                </a:solidFill>
                <a:latin typeface="微軟正黑體" panose="020B0604030504040204" pitchFamily="34" charset="-120"/>
                <a:ea typeface="微軟正黑體" panose="020B0604030504040204" pitchFamily="34" charset="-120"/>
              </a:rPr>
              <a:t>預先以一</a:t>
            </a:r>
            <a:r>
              <a:rPr lang="zh-TW" altLang="en-US" sz="1700" u="sng" dirty="0">
                <a:solidFill>
                  <a:srgbClr val="FF0000"/>
                </a:solidFill>
                <a:latin typeface="微軟正黑體" panose="020B0604030504040204" pitchFamily="34" charset="-120"/>
                <a:ea typeface="微軟正黑體" panose="020B0604030504040204" pitchFamily="34" charset="-120"/>
              </a:rPr>
              <a:t>消費預測模型</a:t>
            </a:r>
            <a:r>
              <a:rPr lang="zh-TW" altLang="en-US" sz="1700" dirty="0">
                <a:solidFill>
                  <a:schemeClr val="tx1"/>
                </a:solidFill>
                <a:latin typeface="微軟正黑體" panose="020B0604030504040204" pitchFamily="34" charset="-120"/>
                <a:ea typeface="微軟正黑體" panose="020B0604030504040204" pitchFamily="34" charset="-120"/>
              </a:rPr>
              <a:t>預測消費者的消費習慣關聯性；</a:t>
            </a:r>
          </a:p>
          <a:p>
            <a:r>
              <a:rPr lang="zh-TW" altLang="en-US" sz="1700" dirty="0">
                <a:solidFill>
                  <a:schemeClr val="tx1"/>
                </a:solidFill>
                <a:latin typeface="微軟正黑體" panose="020B0604030504040204" pitchFamily="34" charset="-120"/>
                <a:ea typeface="微軟正黑體" panose="020B0604030504040204" pitchFamily="34" charset="-120"/>
              </a:rPr>
              <a:t>將該分析之關聯商品放置於同一區塊。</a:t>
            </a:r>
          </a:p>
          <a:p>
            <a:endParaRPr lang="zh-TW" altLang="en-US" sz="1700" dirty="0">
              <a:solidFill>
                <a:schemeClr val="tx1"/>
              </a:solidFill>
              <a:latin typeface="微軟正黑體" panose="020B0604030504040204" pitchFamily="34" charset="-120"/>
              <a:ea typeface="微軟正黑體" panose="020B0604030504040204" pitchFamily="34" charset="-120"/>
            </a:endParaRPr>
          </a:p>
        </p:txBody>
      </p:sp>
      <p:sp>
        <p:nvSpPr>
          <p:cNvPr id="7" name="矩形 6"/>
          <p:cNvSpPr/>
          <p:nvPr/>
        </p:nvSpPr>
        <p:spPr>
          <a:xfrm>
            <a:off x="467543" y="3067065"/>
            <a:ext cx="8208913" cy="577959"/>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p>
            <a:r>
              <a:rPr lang="zh-TW" altLang="en-US" sz="1700" dirty="0">
                <a:solidFill>
                  <a:schemeClr val="tx1"/>
                </a:solidFill>
                <a:latin typeface="微軟正黑體" panose="020B0604030504040204" pitchFamily="34" charset="-120"/>
                <a:ea typeface="微軟正黑體" panose="020B0604030504040204" pitchFamily="34" charset="-120"/>
              </a:rPr>
              <a:t>該消費預測模型統計過去一年該大賣場商品的銷售量，將</a:t>
            </a:r>
            <a:r>
              <a:rPr lang="zh-TW" altLang="en-US" sz="1700" u="sng" dirty="0">
                <a:solidFill>
                  <a:schemeClr val="tx1"/>
                </a:solidFill>
                <a:latin typeface="微軟正黑體" panose="020B0604030504040204" pitchFamily="34" charset="-120"/>
                <a:ea typeface="微軟正黑體" panose="020B0604030504040204" pitchFamily="34" charset="-120"/>
              </a:rPr>
              <a:t>排名前三名之商品</a:t>
            </a:r>
            <a:r>
              <a:rPr lang="zh-TW" altLang="en-US" sz="1700" dirty="0">
                <a:solidFill>
                  <a:schemeClr val="tx1"/>
                </a:solidFill>
                <a:latin typeface="微軟正黑體" panose="020B0604030504040204" pitchFamily="34" charset="-120"/>
                <a:ea typeface="微軟正黑體" panose="020B0604030504040204" pitchFamily="34" charset="-120"/>
              </a:rPr>
              <a:t>視為該關聯商品。</a:t>
            </a:r>
          </a:p>
          <a:p>
            <a:endParaRPr lang="zh-TW" altLang="en-US" sz="1700" dirty="0">
              <a:solidFill>
                <a:schemeClr val="tx1"/>
              </a:solidFill>
              <a:latin typeface="微軟正黑體" panose="020B0604030504040204" pitchFamily="34" charset="-120"/>
              <a:ea typeface="微軟正黑體" panose="020B0604030504040204" pitchFamily="34" charset="-120"/>
            </a:endParaRPr>
          </a:p>
        </p:txBody>
      </p:sp>
      <p:sp>
        <p:nvSpPr>
          <p:cNvPr id="8" name="矩形 7"/>
          <p:cNvSpPr/>
          <p:nvPr/>
        </p:nvSpPr>
        <p:spPr>
          <a:xfrm>
            <a:off x="467543" y="3717033"/>
            <a:ext cx="8208913" cy="576064"/>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p>
            <a:r>
              <a:rPr lang="zh-TW" altLang="en-US" sz="1700" dirty="0">
                <a:solidFill>
                  <a:schemeClr val="tx1"/>
                </a:solidFill>
                <a:latin typeface="微軟正黑體" panose="020B0604030504040204" pitchFamily="34" charset="-120"/>
                <a:ea typeface="微軟正黑體" panose="020B0604030504040204" pitchFamily="34" charset="-120"/>
              </a:rPr>
              <a:t>該消費預測模型利用一</a:t>
            </a:r>
            <a:r>
              <a:rPr lang="zh-TW" altLang="en-US" sz="1700" u="sng" dirty="0">
                <a:solidFill>
                  <a:schemeClr val="tx1"/>
                </a:solidFill>
                <a:latin typeface="微軟正黑體" panose="020B0604030504040204" pitchFamily="34" charset="-120"/>
                <a:ea typeface="微軟正黑體" panose="020B0604030504040204" pitchFamily="34" charset="-120"/>
              </a:rPr>
              <a:t>大數據模組</a:t>
            </a:r>
            <a:r>
              <a:rPr lang="zh-TW" altLang="en-US" sz="1700" dirty="0">
                <a:solidFill>
                  <a:schemeClr val="tx1"/>
                </a:solidFill>
                <a:latin typeface="微軟正黑體" panose="020B0604030504040204" pitchFamily="34" charset="-120"/>
                <a:ea typeface="微軟正黑體" panose="020B0604030504040204" pitchFamily="34" charset="-120"/>
              </a:rPr>
              <a:t>收集資料，將該資料輸入一</a:t>
            </a:r>
            <a:r>
              <a:rPr lang="zh-TW" altLang="en-US" sz="1700" u="sng" dirty="0">
                <a:solidFill>
                  <a:schemeClr val="tx1"/>
                </a:solidFill>
                <a:latin typeface="微軟正黑體" panose="020B0604030504040204" pitchFamily="34" charset="-120"/>
                <a:ea typeface="微軟正黑體" panose="020B0604030504040204" pitchFamily="34" charset="-120"/>
              </a:rPr>
              <a:t>人工智慧模型</a:t>
            </a:r>
            <a:r>
              <a:rPr lang="zh-TW" altLang="en-US" sz="1700" dirty="0">
                <a:solidFill>
                  <a:schemeClr val="tx1"/>
                </a:solidFill>
                <a:latin typeface="微軟正黑體" panose="020B0604030504040204" pitchFamily="34" charset="-120"/>
                <a:ea typeface="微軟正黑體" panose="020B0604030504040204" pitchFamily="34" charset="-120"/>
              </a:rPr>
              <a:t>預測該關聯商品。</a:t>
            </a:r>
          </a:p>
          <a:p>
            <a:endParaRPr lang="zh-TW" altLang="en-US" sz="1700" dirty="0">
              <a:solidFill>
                <a:schemeClr val="tx1"/>
              </a:solidFill>
              <a:latin typeface="微軟正黑體" panose="020B0604030504040204" pitchFamily="34" charset="-120"/>
              <a:ea typeface="微軟正黑體" panose="020B0604030504040204" pitchFamily="34" charset="-120"/>
            </a:endParaRPr>
          </a:p>
        </p:txBody>
      </p:sp>
      <p:sp>
        <p:nvSpPr>
          <p:cNvPr id="9" name="矩形 8"/>
          <p:cNvSpPr/>
          <p:nvPr/>
        </p:nvSpPr>
        <p:spPr>
          <a:xfrm>
            <a:off x="467544" y="4365104"/>
            <a:ext cx="8208912" cy="2304256"/>
          </a:xfrm>
          <a:prstGeom prst="rect">
            <a:avLst/>
          </a:prstGeom>
          <a:noFill/>
          <a:ln w="25400">
            <a:solidFill>
              <a:schemeClr val="tx1"/>
            </a:solidFill>
          </a:ln>
        </p:spPr>
        <p:txBody>
          <a:bodyPr wrap="square" lIns="36000" tIns="36000" rIns="36000" bIns="36000">
            <a:noAutofit/>
          </a:bodyPr>
          <a:lstStyle/>
          <a:p>
            <a:pPr marL="87313" indent="-1588"/>
            <a:r>
              <a:rPr lang="zh-TW" altLang="en-US" sz="1700" dirty="0">
                <a:latin typeface="微軟正黑體" panose="020B0604030504040204" pitchFamily="34" charset="-120"/>
                <a:ea typeface="微軟正黑體" panose="020B0604030504040204" pitchFamily="34" charset="-120"/>
              </a:rPr>
              <a:t>該消費預測模型包含，</a:t>
            </a:r>
            <a:endParaRPr lang="en-US" altLang="zh-TW" sz="1700" dirty="0">
              <a:latin typeface="微軟正黑體" panose="020B0604030504040204" pitchFamily="34" charset="-120"/>
              <a:ea typeface="微軟正黑體" panose="020B0604030504040204" pitchFamily="34" charset="-120"/>
            </a:endParaRPr>
          </a:p>
          <a:p>
            <a:pPr marL="87313" indent="-1588"/>
            <a:r>
              <a:rPr lang="zh-TW" altLang="en-US" sz="1700" dirty="0">
                <a:latin typeface="微軟正黑體" panose="020B0604030504040204" pitchFamily="34" charset="-120"/>
                <a:ea typeface="微軟正黑體" panose="020B0604030504040204" pitchFamily="34" charset="-120"/>
              </a:rPr>
              <a:t>一攝影模組，</a:t>
            </a:r>
            <a:r>
              <a:rPr lang="zh-TW" altLang="en-US" sz="1700" kern="100" dirty="0">
                <a:latin typeface="微軟正黑體" panose="020B0604030504040204" pitchFamily="34" charset="-120"/>
                <a:ea typeface="微軟正黑體" panose="020B0604030504040204" pitchFamily="34" charset="-120"/>
                <a:cs typeface="Times New Roman" panose="02020603050405020304" pitchFamily="18" charset="0"/>
              </a:rPr>
              <a:t>拍攝消費者的影像，儲存在一</a:t>
            </a:r>
            <a:r>
              <a:rPr lang="zh-TW" altLang="en-US" sz="170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大數據資料庫</a:t>
            </a:r>
            <a:r>
              <a:rPr lang="zh-TW" altLang="en-US" sz="1700" kern="100" dirty="0">
                <a:latin typeface="微軟正黑體" panose="020B0604030504040204" pitchFamily="34" charset="-120"/>
                <a:ea typeface="微軟正黑體" panose="020B0604030504040204" pitchFamily="34" charset="-120"/>
                <a:cs typeface="Times New Roman" panose="02020603050405020304" pitchFamily="18" charset="0"/>
              </a:rPr>
              <a:t>；</a:t>
            </a:r>
            <a:endParaRPr lang="en-US" altLang="zh-TW" sz="17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87313" indent="-1588"/>
            <a:r>
              <a:rPr lang="zh-TW" altLang="en-US" sz="1700" dirty="0">
                <a:latin typeface="微軟正黑體" panose="020B0604030504040204" pitchFamily="34" charset="-120"/>
                <a:ea typeface="微軟正黑體" panose="020B0604030504040204" pitchFamily="34" charset="-120"/>
              </a:rPr>
              <a:t>一資料自動蒐集模組，</a:t>
            </a:r>
            <a:r>
              <a:rPr lang="zh-TW" altLang="en-US" sz="1700" kern="100" dirty="0">
                <a:latin typeface="微軟正黑體" panose="020B0604030504040204" pitchFamily="34" charset="-120"/>
                <a:ea typeface="微軟正黑體" panose="020B0604030504040204" pitchFamily="34" charset="-120"/>
                <a:cs typeface="Times New Roman" panose="02020603050405020304" pitchFamily="18" charset="0"/>
              </a:rPr>
              <a:t>利用該</a:t>
            </a:r>
            <a:r>
              <a:rPr lang="zh-TW" altLang="en-US" sz="170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資料自動蒐集模組</a:t>
            </a:r>
            <a:r>
              <a:rPr lang="zh-TW" altLang="en-US" sz="1700" kern="100" dirty="0">
                <a:latin typeface="微軟正黑體" panose="020B0604030504040204" pitchFamily="34" charset="-120"/>
                <a:ea typeface="微軟正黑體" panose="020B0604030504040204" pitchFamily="34" charset="-120"/>
                <a:cs typeface="Times New Roman" panose="02020603050405020304" pitchFamily="18" charset="0"/>
              </a:rPr>
              <a:t>，收集消費者的消費習慣；</a:t>
            </a:r>
            <a:endParaRPr lang="en-US" altLang="zh-TW" sz="17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361950" indent="-276225"/>
            <a:r>
              <a:rPr lang="zh-TW" altLang="en-US" sz="1700" dirty="0">
                <a:latin typeface="微軟正黑體" panose="020B0604030504040204" pitchFamily="34" charset="-120"/>
                <a:ea typeface="微軟正黑體" panose="020B0604030504040204" pitchFamily="34" charset="-120"/>
              </a:rPr>
              <a:t>一資訊分析模組，</a:t>
            </a:r>
            <a:r>
              <a:rPr lang="zh-TW" altLang="en-US" sz="17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利用該</a:t>
            </a:r>
            <a:r>
              <a:rPr lang="zh-TW" altLang="en-US" sz="17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資訊分析模組</a:t>
            </a:r>
            <a:r>
              <a:rPr lang="zh-TW" altLang="en-US" sz="17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，經</a:t>
            </a:r>
            <a:r>
              <a:rPr lang="zh-TW" altLang="en-US" sz="17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資料探勘</a:t>
            </a:r>
            <a:r>
              <a:rPr lang="zh-TW" altLang="en-US" sz="17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及</a:t>
            </a:r>
            <a:r>
              <a:rPr lang="zh-TW" altLang="en-US" sz="17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知識萃取</a:t>
            </a:r>
            <a:r>
              <a:rPr lang="zh-TW" altLang="en-US" sz="17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將該消費者影像及消費習慣進行分類及分析；</a:t>
            </a:r>
            <a:endParaRPr lang="en-US" altLang="zh-TW" sz="17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361950" indent="-276225"/>
            <a:r>
              <a:rPr lang="zh-TW" altLang="en-US" sz="1700" dirty="0">
                <a:latin typeface="微軟正黑體" panose="020B0604030504040204" pitchFamily="34" charset="-120"/>
                <a:ea typeface="微軟正黑體" panose="020B0604030504040204" pitchFamily="34" charset="-120"/>
              </a:rPr>
              <a:t>一人工智慧伺服器，</a:t>
            </a:r>
            <a:r>
              <a:rPr lang="zh-TW" altLang="en-US" sz="17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運用該</a:t>
            </a:r>
            <a:r>
              <a:rPr lang="zh-TW" altLang="en-US" sz="17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人工智慧伺服器</a:t>
            </a:r>
            <a:r>
              <a:rPr lang="zh-TW" altLang="en-US" sz="17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，經</a:t>
            </a:r>
            <a:r>
              <a:rPr lang="zh-TW" altLang="en-US" sz="1700" b="0" kern="100" dirty="0">
                <a:solidFill>
                  <a:srgbClr val="C00000"/>
                </a:solidFill>
                <a:latin typeface="微軟正黑體" panose="020B0604030504040204" pitchFamily="34" charset="-120"/>
                <a:ea typeface="微軟正黑體" panose="020B0604030504040204" pitchFamily="34" charset="-120"/>
                <a:cs typeface="Times New Roman" panose="02020603050405020304" pitchFamily="18" charset="0"/>
              </a:rPr>
              <a:t>機器學習模組</a:t>
            </a:r>
            <a:r>
              <a:rPr lang="zh-TW" altLang="en-US" sz="17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訓練後，預測各類</a:t>
            </a:r>
            <a:r>
              <a:rPr lang="zh-TW" altLang="zh-TW" sz="17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消費者的消費習慣關聯性</a:t>
            </a:r>
            <a:r>
              <a:rPr lang="zh-TW" altLang="zh-TW" sz="1700" b="0" kern="10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a:t>
            </a:r>
          </a:p>
          <a:p>
            <a:pPr marL="90488" indent="274638"/>
            <a:r>
              <a:rPr lang="zh-TW" altLang="zh-TW" sz="1700" b="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將該</a:t>
            </a:r>
            <a:r>
              <a:rPr lang="zh-TW" altLang="zh-TW" sz="1700" b="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消費習慣關聯性</a:t>
            </a:r>
            <a:r>
              <a:rPr lang="zh-TW" altLang="zh-TW" sz="1700" b="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之關聯產品放置於同一區塊</a:t>
            </a:r>
            <a:r>
              <a:rPr lang="zh-TW" altLang="en-US" sz="1700" b="0" dirty="0">
                <a:solidFill>
                  <a:prstClr val="black"/>
                </a:solidFill>
                <a:latin typeface="微軟正黑體" panose="020B0604030504040204" pitchFamily="34" charset="-120"/>
                <a:ea typeface="微軟正黑體" panose="020B0604030504040204" pitchFamily="34" charset="-120"/>
                <a:cs typeface="Times New Roman" panose="02020603050405020304" pitchFamily="18" charset="0"/>
              </a:rPr>
              <a:t>並提供消費者個人化消費建議。</a:t>
            </a:r>
            <a:endParaRPr kumimoji="1" lang="zh-TW" altLang="en-US" sz="1700" b="0" dirty="0">
              <a:solidFill>
                <a:prstClr val="black"/>
              </a:solidFill>
              <a:latin typeface="微軟正黑體" panose="020B0604030504040204" pitchFamily="34" charset="-120"/>
              <a:ea typeface="微軟正黑體" panose="020B0604030504040204" pitchFamily="34" charset="-120"/>
            </a:endParaRPr>
          </a:p>
        </p:txBody>
      </p:sp>
      <p:grpSp>
        <p:nvGrpSpPr>
          <p:cNvPr id="3" name="群組 2"/>
          <p:cNvGrpSpPr/>
          <p:nvPr/>
        </p:nvGrpSpPr>
        <p:grpSpPr>
          <a:xfrm>
            <a:off x="7072918" y="1791395"/>
            <a:ext cx="1488143" cy="1120770"/>
            <a:chOff x="7072918" y="1791395"/>
            <a:chExt cx="1488143" cy="1120770"/>
          </a:xfrm>
        </p:grpSpPr>
        <p:grpSp>
          <p:nvGrpSpPr>
            <p:cNvPr id="26" name="群組 25"/>
            <p:cNvGrpSpPr/>
            <p:nvPr/>
          </p:nvGrpSpPr>
          <p:grpSpPr>
            <a:xfrm>
              <a:off x="7072918" y="1791395"/>
              <a:ext cx="1488143" cy="1120770"/>
              <a:chOff x="6686881" y="1434053"/>
              <a:chExt cx="1959605" cy="1744847"/>
            </a:xfrm>
          </p:grpSpPr>
          <p:sp>
            <p:nvSpPr>
              <p:cNvPr id="30" name="等腰三角形 29"/>
              <p:cNvSpPr/>
              <p:nvPr/>
            </p:nvSpPr>
            <p:spPr>
              <a:xfrm>
                <a:off x="6804248" y="1434053"/>
                <a:ext cx="1656184" cy="1375515"/>
              </a:xfrm>
              <a:prstGeom prst="triangl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b="1">
                  <a:effectLst>
                    <a:outerShdw blurRad="38100" dist="38100" dir="2700000" algn="tl">
                      <a:srgbClr val="000000">
                        <a:alpha val="43137"/>
                      </a:srgbClr>
                    </a:outerShdw>
                  </a:effectLst>
                </a:endParaRPr>
              </a:p>
            </p:txBody>
          </p:sp>
          <p:sp>
            <p:nvSpPr>
              <p:cNvPr id="31" name="矩形 30"/>
              <p:cNvSpPr/>
              <p:nvPr/>
            </p:nvSpPr>
            <p:spPr>
              <a:xfrm>
                <a:off x="6941168" y="2809568"/>
                <a:ext cx="13823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適格性</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sp>
            <p:nvSpPr>
              <p:cNvPr id="32" name="矩形 31"/>
              <p:cNvSpPr/>
              <p:nvPr/>
            </p:nvSpPr>
            <p:spPr>
              <a:xfrm>
                <a:off x="6941168" y="1556792"/>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進</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sp>
            <p:nvSpPr>
              <p:cNvPr id="33" name="矩形 32"/>
              <p:cNvSpPr/>
              <p:nvPr/>
            </p:nvSpPr>
            <p:spPr>
              <a:xfrm>
                <a:off x="6686881" y="2124821"/>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性</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sp>
            <p:nvSpPr>
              <p:cNvPr id="34" name="矩形 33"/>
              <p:cNvSpPr/>
              <p:nvPr/>
            </p:nvSpPr>
            <p:spPr>
              <a:xfrm>
                <a:off x="6841137" y="1839558"/>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步</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grpSp>
            <p:nvGrpSpPr>
              <p:cNvPr id="35" name="群組 34"/>
              <p:cNvGrpSpPr/>
              <p:nvPr/>
            </p:nvGrpSpPr>
            <p:grpSpPr>
              <a:xfrm flipH="1">
                <a:off x="7858480" y="1590698"/>
                <a:ext cx="788006" cy="937361"/>
                <a:chOff x="8196784" y="1556792"/>
                <a:chExt cx="733989" cy="937361"/>
              </a:xfrm>
            </p:grpSpPr>
            <p:sp>
              <p:nvSpPr>
                <p:cNvPr id="36" name="矩形 35"/>
                <p:cNvSpPr/>
                <p:nvPr/>
              </p:nvSpPr>
              <p:spPr>
                <a:xfrm>
                  <a:off x="8491629" y="1556792"/>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明</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sp>
              <p:nvSpPr>
                <p:cNvPr id="37" name="矩形 36"/>
                <p:cNvSpPr/>
                <p:nvPr/>
              </p:nvSpPr>
              <p:spPr>
                <a:xfrm>
                  <a:off x="8196784" y="2124821"/>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性</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sp>
              <p:nvSpPr>
                <p:cNvPr id="38" name="矩形 37"/>
                <p:cNvSpPr/>
                <p:nvPr/>
              </p:nvSpPr>
              <p:spPr>
                <a:xfrm>
                  <a:off x="8351041" y="1839558"/>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確</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grpSp>
        </p:grpSp>
        <p:grpSp>
          <p:nvGrpSpPr>
            <p:cNvPr id="27" name="群組 26"/>
            <p:cNvGrpSpPr/>
            <p:nvPr/>
          </p:nvGrpSpPr>
          <p:grpSpPr>
            <a:xfrm rot="2773135">
              <a:off x="7600419" y="2161392"/>
              <a:ext cx="362269" cy="352358"/>
              <a:chOff x="7338020" y="2052361"/>
              <a:chExt cx="563991" cy="463989"/>
            </a:xfrm>
          </p:grpSpPr>
          <p:sp>
            <p:nvSpPr>
              <p:cNvPr id="28" name="弧形向右箭號 27"/>
              <p:cNvSpPr/>
              <p:nvPr/>
            </p:nvSpPr>
            <p:spPr>
              <a:xfrm>
                <a:off x="7338020" y="2086095"/>
                <a:ext cx="260850" cy="430255"/>
              </a:xfrm>
              <a:prstGeom prst="curv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a:solidFill>
                    <a:schemeClr val="tx1"/>
                  </a:solidFill>
                  <a:effectLst>
                    <a:outerShdw blurRad="38100" dist="38100" dir="2700000" algn="tl">
                      <a:srgbClr val="000000">
                        <a:alpha val="43137"/>
                      </a:srgbClr>
                    </a:outerShdw>
                  </a:effectLst>
                </a:endParaRPr>
              </a:p>
            </p:txBody>
          </p:sp>
          <p:sp>
            <p:nvSpPr>
              <p:cNvPr id="29" name="弧形向右箭號 28"/>
              <p:cNvSpPr/>
              <p:nvPr/>
            </p:nvSpPr>
            <p:spPr>
              <a:xfrm flipH="1" flipV="1">
                <a:off x="7643875" y="2052361"/>
                <a:ext cx="258136" cy="463987"/>
              </a:xfrm>
              <a:prstGeom prst="curv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a:solidFill>
                    <a:schemeClr val="tx1"/>
                  </a:solidFill>
                  <a:effectLst>
                    <a:outerShdw blurRad="38100" dist="38100" dir="2700000" algn="tl">
                      <a:srgbClr val="000000">
                        <a:alpha val="43137"/>
                      </a:srgbClr>
                    </a:outerShdw>
                  </a:effectLst>
                </a:endParaRPr>
              </a:p>
            </p:txBody>
          </p:sp>
        </p:grpSp>
      </p:grpSp>
      <p:grpSp>
        <p:nvGrpSpPr>
          <p:cNvPr id="17" name="群組 16"/>
          <p:cNvGrpSpPr/>
          <p:nvPr/>
        </p:nvGrpSpPr>
        <p:grpSpPr>
          <a:xfrm>
            <a:off x="6588224" y="1085832"/>
            <a:ext cx="1972837" cy="480743"/>
            <a:chOff x="6588224" y="1085832"/>
            <a:chExt cx="1972837" cy="480743"/>
          </a:xfrm>
        </p:grpSpPr>
        <p:sp>
          <p:nvSpPr>
            <p:cNvPr id="11" name="手繪多邊形 10"/>
            <p:cNvSpPr/>
            <p:nvPr/>
          </p:nvSpPr>
          <p:spPr>
            <a:xfrm>
              <a:off x="6791325" y="1085832"/>
              <a:ext cx="1643971" cy="480743"/>
            </a:xfrm>
            <a:custGeom>
              <a:avLst/>
              <a:gdLst>
                <a:gd name="connsiteX0" fmla="*/ 0 w 1666213"/>
                <a:gd name="connsiteY0" fmla="*/ 438168 h 480743"/>
                <a:gd name="connsiteX1" fmla="*/ 180975 w 1666213"/>
                <a:gd name="connsiteY1" fmla="*/ 200043 h 480743"/>
                <a:gd name="connsiteX2" fmla="*/ 342900 w 1666213"/>
                <a:gd name="connsiteY2" fmla="*/ 428643 h 480743"/>
                <a:gd name="connsiteX3" fmla="*/ 628650 w 1666213"/>
                <a:gd name="connsiteY3" fmla="*/ 18 h 480743"/>
                <a:gd name="connsiteX4" fmla="*/ 962025 w 1666213"/>
                <a:gd name="connsiteY4" fmla="*/ 447693 h 480743"/>
                <a:gd name="connsiteX5" fmla="*/ 1152525 w 1666213"/>
                <a:gd name="connsiteY5" fmla="*/ 180993 h 480743"/>
                <a:gd name="connsiteX6" fmla="*/ 1419225 w 1666213"/>
                <a:gd name="connsiteY6" fmla="*/ 457218 h 480743"/>
                <a:gd name="connsiteX7" fmla="*/ 1657350 w 1666213"/>
                <a:gd name="connsiteY7" fmla="*/ 466743 h 480743"/>
                <a:gd name="connsiteX8" fmla="*/ 1619250 w 1666213"/>
                <a:gd name="connsiteY8" fmla="*/ 466743 h 480743"/>
                <a:gd name="connsiteX9" fmla="*/ 1638300 w 1666213"/>
                <a:gd name="connsiteY9" fmla="*/ 466743 h 480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6213" h="480743">
                  <a:moveTo>
                    <a:pt x="0" y="438168"/>
                  </a:moveTo>
                  <a:cubicBezTo>
                    <a:pt x="61912" y="319899"/>
                    <a:pt x="123825" y="201630"/>
                    <a:pt x="180975" y="200043"/>
                  </a:cubicBezTo>
                  <a:cubicBezTo>
                    <a:pt x="238125" y="198455"/>
                    <a:pt x="268288" y="461981"/>
                    <a:pt x="342900" y="428643"/>
                  </a:cubicBezTo>
                  <a:cubicBezTo>
                    <a:pt x="417513" y="395305"/>
                    <a:pt x="525463" y="-3157"/>
                    <a:pt x="628650" y="18"/>
                  </a:cubicBezTo>
                  <a:cubicBezTo>
                    <a:pt x="731837" y="3193"/>
                    <a:pt x="874713" y="417531"/>
                    <a:pt x="962025" y="447693"/>
                  </a:cubicBezTo>
                  <a:cubicBezTo>
                    <a:pt x="1049337" y="477855"/>
                    <a:pt x="1076325" y="179406"/>
                    <a:pt x="1152525" y="180993"/>
                  </a:cubicBezTo>
                  <a:cubicBezTo>
                    <a:pt x="1228725" y="182580"/>
                    <a:pt x="1335087" y="409593"/>
                    <a:pt x="1419225" y="457218"/>
                  </a:cubicBezTo>
                  <a:cubicBezTo>
                    <a:pt x="1503363" y="504843"/>
                    <a:pt x="1624013" y="465156"/>
                    <a:pt x="1657350" y="466743"/>
                  </a:cubicBezTo>
                  <a:cubicBezTo>
                    <a:pt x="1690687" y="468330"/>
                    <a:pt x="1619250" y="466743"/>
                    <a:pt x="1619250" y="466743"/>
                  </a:cubicBezTo>
                  <a:lnTo>
                    <a:pt x="1638300" y="466743"/>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接點 15"/>
            <p:cNvCxnSpPr/>
            <p:nvPr/>
          </p:nvCxnSpPr>
          <p:spPr>
            <a:xfrm>
              <a:off x="6588224" y="1335728"/>
              <a:ext cx="1972837" cy="0"/>
            </a:xfrm>
            <a:prstGeom prst="line">
              <a:avLst/>
            </a:prstGeom>
            <a:ln w="22225">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1712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技術的流動</a:t>
            </a:r>
          </a:p>
        </p:txBody>
      </p:sp>
      <p:sp>
        <p:nvSpPr>
          <p:cNvPr id="4" name="投影片編號版面配置區 3"/>
          <p:cNvSpPr>
            <a:spLocks noGrp="1"/>
          </p:cNvSpPr>
          <p:nvPr>
            <p:ph type="sldNum" sz="quarter" idx="12"/>
          </p:nvPr>
        </p:nvSpPr>
        <p:spPr>
          <a:xfrm>
            <a:off x="6989390" y="6428060"/>
            <a:ext cx="2133600" cy="365125"/>
          </a:xfrm>
        </p:spPr>
        <p:txBody>
          <a:bodyPr/>
          <a:lstStyle/>
          <a:p>
            <a:fld id="{51D2D507-09EA-4C6F-96ED-053C801F8797}" type="slidenum">
              <a:rPr lang="zh-TW" altLang="en-US" smtClean="0"/>
              <a:t>21</a:t>
            </a:fld>
            <a:endParaRPr lang="zh-TW" altLang="en-US" dirty="0"/>
          </a:p>
        </p:txBody>
      </p:sp>
      <p:grpSp>
        <p:nvGrpSpPr>
          <p:cNvPr id="3" name="群組 2"/>
          <p:cNvGrpSpPr/>
          <p:nvPr/>
        </p:nvGrpSpPr>
        <p:grpSpPr>
          <a:xfrm>
            <a:off x="5292080" y="3660650"/>
            <a:ext cx="3312368" cy="2360637"/>
            <a:chOff x="7072918" y="1791395"/>
            <a:chExt cx="1488143" cy="1120770"/>
          </a:xfrm>
        </p:grpSpPr>
        <p:grpSp>
          <p:nvGrpSpPr>
            <p:cNvPr id="26" name="群組 25"/>
            <p:cNvGrpSpPr/>
            <p:nvPr/>
          </p:nvGrpSpPr>
          <p:grpSpPr>
            <a:xfrm>
              <a:off x="7072918" y="1791395"/>
              <a:ext cx="1488143" cy="1120770"/>
              <a:chOff x="6686881" y="1434053"/>
              <a:chExt cx="1959605" cy="1744847"/>
            </a:xfrm>
          </p:grpSpPr>
          <p:sp>
            <p:nvSpPr>
              <p:cNvPr id="30" name="等腰三角形 29"/>
              <p:cNvSpPr/>
              <p:nvPr/>
            </p:nvSpPr>
            <p:spPr>
              <a:xfrm>
                <a:off x="6804248" y="1434053"/>
                <a:ext cx="1656184" cy="1375515"/>
              </a:xfrm>
              <a:prstGeom prst="triangl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b="1">
                  <a:effectLst>
                    <a:outerShdw blurRad="38100" dist="38100" dir="2700000" algn="tl">
                      <a:srgbClr val="000000">
                        <a:alpha val="43137"/>
                      </a:srgbClr>
                    </a:outerShdw>
                  </a:effectLst>
                </a:endParaRPr>
              </a:p>
            </p:txBody>
          </p:sp>
          <p:sp>
            <p:nvSpPr>
              <p:cNvPr id="31" name="矩形 30"/>
              <p:cNvSpPr/>
              <p:nvPr/>
            </p:nvSpPr>
            <p:spPr>
              <a:xfrm>
                <a:off x="6941168" y="2809568"/>
                <a:ext cx="13823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適格性</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sp>
            <p:nvSpPr>
              <p:cNvPr id="32" name="矩形 31"/>
              <p:cNvSpPr/>
              <p:nvPr/>
            </p:nvSpPr>
            <p:spPr>
              <a:xfrm>
                <a:off x="6941168" y="1556792"/>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進</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sp>
            <p:nvSpPr>
              <p:cNvPr id="33" name="矩形 32"/>
              <p:cNvSpPr/>
              <p:nvPr/>
            </p:nvSpPr>
            <p:spPr>
              <a:xfrm>
                <a:off x="6686881" y="2124821"/>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性</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sp>
            <p:nvSpPr>
              <p:cNvPr id="34" name="矩形 33"/>
              <p:cNvSpPr/>
              <p:nvPr/>
            </p:nvSpPr>
            <p:spPr>
              <a:xfrm>
                <a:off x="6841137" y="1839558"/>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步</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grpSp>
            <p:nvGrpSpPr>
              <p:cNvPr id="35" name="群組 34"/>
              <p:cNvGrpSpPr/>
              <p:nvPr/>
            </p:nvGrpSpPr>
            <p:grpSpPr>
              <a:xfrm flipH="1">
                <a:off x="7858480" y="1590698"/>
                <a:ext cx="788006" cy="937361"/>
                <a:chOff x="8196784" y="1556792"/>
                <a:chExt cx="733989" cy="937361"/>
              </a:xfrm>
            </p:grpSpPr>
            <p:sp>
              <p:nvSpPr>
                <p:cNvPr id="36" name="矩形 35"/>
                <p:cNvSpPr/>
                <p:nvPr/>
              </p:nvSpPr>
              <p:spPr>
                <a:xfrm>
                  <a:off x="8491629" y="1556792"/>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明</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sp>
              <p:nvSpPr>
                <p:cNvPr id="37" name="矩形 36"/>
                <p:cNvSpPr/>
                <p:nvPr/>
              </p:nvSpPr>
              <p:spPr>
                <a:xfrm>
                  <a:off x="8196784" y="2124821"/>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性</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sp>
              <p:nvSpPr>
                <p:cNvPr id="38" name="矩形 37"/>
                <p:cNvSpPr/>
                <p:nvPr/>
              </p:nvSpPr>
              <p:spPr>
                <a:xfrm>
                  <a:off x="8351041" y="1839558"/>
                  <a:ext cx="439144" cy="369332"/>
                </a:xfrm>
                <a:prstGeom prst="rect">
                  <a:avLst/>
                </a:prstGeom>
              </p:spPr>
              <p:txBody>
                <a:bodyPr wrap="square">
                  <a:spAutoFit/>
                </a:bodyPr>
                <a:lstStyle/>
                <a:p>
                  <a:pPr algn="ctr"/>
                  <a:r>
                    <a:rPr lang="zh-TW" altLang="en-US"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rPr>
                    <a:t>確</a:t>
                  </a:r>
                  <a:endParaRPr lang="en-US" altLang="zh-TW" b="1" kern="100" dirty="0">
                    <a:solidFill>
                      <a:schemeClr val="tx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cs typeface="Times New Roman"/>
                  </a:endParaRPr>
                </a:p>
              </p:txBody>
            </p:sp>
          </p:grpSp>
        </p:grpSp>
        <p:grpSp>
          <p:nvGrpSpPr>
            <p:cNvPr id="27" name="群組 26"/>
            <p:cNvGrpSpPr/>
            <p:nvPr/>
          </p:nvGrpSpPr>
          <p:grpSpPr>
            <a:xfrm rot="2773135">
              <a:off x="7600419" y="2161392"/>
              <a:ext cx="362269" cy="352358"/>
              <a:chOff x="7338020" y="2052361"/>
              <a:chExt cx="563991" cy="463989"/>
            </a:xfrm>
          </p:grpSpPr>
          <p:sp>
            <p:nvSpPr>
              <p:cNvPr id="28" name="弧形向右箭號 27"/>
              <p:cNvSpPr/>
              <p:nvPr/>
            </p:nvSpPr>
            <p:spPr>
              <a:xfrm>
                <a:off x="7338020" y="2086095"/>
                <a:ext cx="260850" cy="430255"/>
              </a:xfrm>
              <a:prstGeom prst="curv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a:solidFill>
                    <a:schemeClr val="tx1"/>
                  </a:solidFill>
                  <a:effectLst>
                    <a:outerShdw blurRad="38100" dist="38100" dir="2700000" algn="tl">
                      <a:srgbClr val="000000">
                        <a:alpha val="43137"/>
                      </a:srgbClr>
                    </a:outerShdw>
                  </a:effectLst>
                </a:endParaRPr>
              </a:p>
            </p:txBody>
          </p:sp>
          <p:sp>
            <p:nvSpPr>
              <p:cNvPr id="29" name="弧形向右箭號 28"/>
              <p:cNvSpPr/>
              <p:nvPr/>
            </p:nvSpPr>
            <p:spPr>
              <a:xfrm flipH="1" flipV="1">
                <a:off x="7643875" y="2052361"/>
                <a:ext cx="258136" cy="463987"/>
              </a:xfrm>
              <a:prstGeom prst="curv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a:solidFill>
                    <a:schemeClr val="tx1"/>
                  </a:solidFill>
                  <a:effectLst>
                    <a:outerShdw blurRad="38100" dist="38100" dir="2700000" algn="tl">
                      <a:srgbClr val="000000">
                        <a:alpha val="43137"/>
                      </a:srgbClr>
                    </a:outerShdw>
                  </a:effectLst>
                </a:endParaRPr>
              </a:p>
            </p:txBody>
          </p:sp>
        </p:grpSp>
      </p:grpSp>
      <p:grpSp>
        <p:nvGrpSpPr>
          <p:cNvPr id="17" name="群組 16"/>
          <p:cNvGrpSpPr/>
          <p:nvPr/>
        </p:nvGrpSpPr>
        <p:grpSpPr>
          <a:xfrm>
            <a:off x="971600" y="1379991"/>
            <a:ext cx="3240360" cy="2265033"/>
            <a:chOff x="6588224" y="1085832"/>
            <a:chExt cx="1972837" cy="480743"/>
          </a:xfrm>
        </p:grpSpPr>
        <p:sp>
          <p:nvSpPr>
            <p:cNvPr id="11" name="手繪多邊形 10"/>
            <p:cNvSpPr/>
            <p:nvPr/>
          </p:nvSpPr>
          <p:spPr>
            <a:xfrm>
              <a:off x="6791325" y="1085832"/>
              <a:ext cx="1643971" cy="480743"/>
            </a:xfrm>
            <a:custGeom>
              <a:avLst/>
              <a:gdLst>
                <a:gd name="connsiteX0" fmla="*/ 0 w 1666213"/>
                <a:gd name="connsiteY0" fmla="*/ 438168 h 480743"/>
                <a:gd name="connsiteX1" fmla="*/ 180975 w 1666213"/>
                <a:gd name="connsiteY1" fmla="*/ 200043 h 480743"/>
                <a:gd name="connsiteX2" fmla="*/ 342900 w 1666213"/>
                <a:gd name="connsiteY2" fmla="*/ 428643 h 480743"/>
                <a:gd name="connsiteX3" fmla="*/ 628650 w 1666213"/>
                <a:gd name="connsiteY3" fmla="*/ 18 h 480743"/>
                <a:gd name="connsiteX4" fmla="*/ 962025 w 1666213"/>
                <a:gd name="connsiteY4" fmla="*/ 447693 h 480743"/>
                <a:gd name="connsiteX5" fmla="*/ 1152525 w 1666213"/>
                <a:gd name="connsiteY5" fmla="*/ 180993 h 480743"/>
                <a:gd name="connsiteX6" fmla="*/ 1419225 w 1666213"/>
                <a:gd name="connsiteY6" fmla="*/ 457218 h 480743"/>
                <a:gd name="connsiteX7" fmla="*/ 1657350 w 1666213"/>
                <a:gd name="connsiteY7" fmla="*/ 466743 h 480743"/>
                <a:gd name="connsiteX8" fmla="*/ 1619250 w 1666213"/>
                <a:gd name="connsiteY8" fmla="*/ 466743 h 480743"/>
                <a:gd name="connsiteX9" fmla="*/ 1638300 w 1666213"/>
                <a:gd name="connsiteY9" fmla="*/ 466743 h 480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6213" h="480743">
                  <a:moveTo>
                    <a:pt x="0" y="438168"/>
                  </a:moveTo>
                  <a:cubicBezTo>
                    <a:pt x="61912" y="319899"/>
                    <a:pt x="123825" y="201630"/>
                    <a:pt x="180975" y="200043"/>
                  </a:cubicBezTo>
                  <a:cubicBezTo>
                    <a:pt x="238125" y="198455"/>
                    <a:pt x="268288" y="461981"/>
                    <a:pt x="342900" y="428643"/>
                  </a:cubicBezTo>
                  <a:cubicBezTo>
                    <a:pt x="417513" y="395305"/>
                    <a:pt x="525463" y="-3157"/>
                    <a:pt x="628650" y="18"/>
                  </a:cubicBezTo>
                  <a:cubicBezTo>
                    <a:pt x="731837" y="3193"/>
                    <a:pt x="874713" y="417531"/>
                    <a:pt x="962025" y="447693"/>
                  </a:cubicBezTo>
                  <a:cubicBezTo>
                    <a:pt x="1049337" y="477855"/>
                    <a:pt x="1076325" y="179406"/>
                    <a:pt x="1152525" y="180993"/>
                  </a:cubicBezTo>
                  <a:cubicBezTo>
                    <a:pt x="1228725" y="182580"/>
                    <a:pt x="1335087" y="409593"/>
                    <a:pt x="1419225" y="457218"/>
                  </a:cubicBezTo>
                  <a:cubicBezTo>
                    <a:pt x="1503363" y="504843"/>
                    <a:pt x="1624013" y="465156"/>
                    <a:pt x="1657350" y="466743"/>
                  </a:cubicBezTo>
                  <a:cubicBezTo>
                    <a:pt x="1690687" y="468330"/>
                    <a:pt x="1619250" y="466743"/>
                    <a:pt x="1619250" y="466743"/>
                  </a:cubicBezTo>
                  <a:lnTo>
                    <a:pt x="1638300" y="466743"/>
                  </a:lnTo>
                </a:path>
              </a:pathLst>
            </a:cu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接點 15"/>
            <p:cNvCxnSpPr/>
            <p:nvPr/>
          </p:nvCxnSpPr>
          <p:spPr>
            <a:xfrm>
              <a:off x="6588224" y="1309442"/>
              <a:ext cx="1972837" cy="0"/>
            </a:xfrm>
            <a:prstGeom prst="line">
              <a:avLst/>
            </a:prstGeom>
            <a:ln w="22225">
              <a:prstDash val="sysDash"/>
            </a:ln>
          </p:spPr>
          <p:style>
            <a:lnRef idx="1">
              <a:schemeClr val="accent1"/>
            </a:lnRef>
            <a:fillRef idx="0">
              <a:schemeClr val="accent1"/>
            </a:fillRef>
            <a:effectRef idx="0">
              <a:schemeClr val="accent1"/>
            </a:effectRef>
            <a:fontRef idx="minor">
              <a:schemeClr val="tx1"/>
            </a:fontRef>
          </p:style>
        </p:cxnSp>
      </p:grpSp>
      <p:sp>
        <p:nvSpPr>
          <p:cNvPr id="13" name="向右箭號 12"/>
          <p:cNvSpPr/>
          <p:nvPr/>
        </p:nvSpPr>
        <p:spPr>
          <a:xfrm>
            <a:off x="1305191" y="2066705"/>
            <a:ext cx="314481" cy="248267"/>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4" name="矩形 13"/>
          <p:cNvSpPr/>
          <p:nvPr/>
        </p:nvSpPr>
        <p:spPr>
          <a:xfrm>
            <a:off x="6568979" y="4669900"/>
            <a:ext cx="543739" cy="307777"/>
          </a:xfrm>
          <a:prstGeom prst="rect">
            <a:avLst/>
          </a:prstGeom>
        </p:spPr>
        <p:txBody>
          <a:bodyPr wrap="none">
            <a:spAutoFit/>
          </a:bodyPr>
          <a:lstStyle/>
          <a:p>
            <a:r>
              <a:rPr lang="zh-TW" altLang="en-US" sz="1400" b="1" dirty="0">
                <a:solidFill>
                  <a:srgbClr val="C00000"/>
                </a:solidFill>
                <a:latin typeface="微軟正黑體" panose="020B0604030504040204" pitchFamily="34" charset="-120"/>
                <a:ea typeface="微軟正黑體" panose="020B0604030504040204" pitchFamily="34" charset="-120"/>
              </a:rPr>
              <a:t>技術</a:t>
            </a:r>
            <a:endParaRPr lang="zh-TW" altLang="en-US" sz="1400" b="1" dirty="0">
              <a:solidFill>
                <a:srgbClr val="C00000"/>
              </a:solidFill>
            </a:endParaRPr>
          </a:p>
        </p:txBody>
      </p:sp>
      <p:cxnSp>
        <p:nvCxnSpPr>
          <p:cNvPr id="39" name="直線接點 38"/>
          <p:cNvCxnSpPr/>
          <p:nvPr/>
        </p:nvCxnSpPr>
        <p:spPr>
          <a:xfrm>
            <a:off x="971600" y="2852936"/>
            <a:ext cx="3240360" cy="0"/>
          </a:xfrm>
          <a:prstGeom prst="line">
            <a:avLst/>
          </a:prstGeom>
          <a:ln w="22225">
            <a:prstDash val="sysDash"/>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611560" y="908720"/>
            <a:ext cx="7594426" cy="461665"/>
          </a:xfrm>
          <a:prstGeom prst="rect">
            <a:avLst/>
          </a:prstGeom>
        </p:spPr>
        <p:txBody>
          <a:bodyPr wrap="square">
            <a:spAutoFit/>
          </a:bodyPr>
          <a:lstStyle/>
          <a:p>
            <a:r>
              <a:rPr lang="en-US" altLang="zh-TW" sz="2400" dirty="0">
                <a:latin typeface="微軟正黑體" panose="020B0604030504040204" pitchFamily="34" charset="-120"/>
                <a:ea typeface="微軟正黑體" panose="020B0604030504040204" pitchFamily="34" charset="-120"/>
                <a:sym typeface="Wingdings"/>
              </a:rPr>
              <a:t>§21</a:t>
            </a:r>
            <a:r>
              <a:rPr lang="zh-TW" altLang="en-US" sz="2400" dirty="0">
                <a:latin typeface="微軟正黑體" panose="020B0604030504040204" pitchFamily="34" charset="-120"/>
                <a:ea typeface="微軟正黑體" panose="020B0604030504040204" pitchFamily="34" charset="-120"/>
                <a:sym typeface="Wingdings"/>
              </a:rPr>
              <a:t> </a:t>
            </a:r>
            <a:r>
              <a:rPr lang="zh-TW" altLang="en-US" sz="2400" dirty="0">
                <a:latin typeface="微軟正黑體" panose="020B0604030504040204" pitchFamily="34" charset="-120"/>
                <a:ea typeface="微軟正黑體" panose="020B0604030504040204" pitchFamily="34" charset="-120"/>
              </a:rPr>
              <a:t>發明，指利用自然法則之</a:t>
            </a:r>
            <a:r>
              <a:rPr lang="zh-TW" altLang="en-US" sz="2400" u="sng" dirty="0">
                <a:solidFill>
                  <a:srgbClr val="C00000"/>
                </a:solidFill>
                <a:latin typeface="微軟正黑體" panose="020B0604030504040204" pitchFamily="34" charset="-120"/>
                <a:ea typeface="微軟正黑體" panose="020B0604030504040204" pitchFamily="34" charset="-120"/>
              </a:rPr>
              <a:t>技術思想</a:t>
            </a:r>
            <a:r>
              <a:rPr lang="zh-TW" altLang="en-US" sz="2400" dirty="0">
                <a:latin typeface="微軟正黑體" panose="020B0604030504040204" pitchFamily="34" charset="-120"/>
                <a:ea typeface="微軟正黑體" panose="020B0604030504040204" pitchFamily="34" charset="-120"/>
              </a:rPr>
              <a:t>之創作</a:t>
            </a:r>
          </a:p>
        </p:txBody>
      </p:sp>
      <p:sp>
        <p:nvSpPr>
          <p:cNvPr id="18" name="矩形 17"/>
          <p:cNvSpPr/>
          <p:nvPr/>
        </p:nvSpPr>
        <p:spPr>
          <a:xfrm>
            <a:off x="559995" y="1560456"/>
            <a:ext cx="679192" cy="646331"/>
          </a:xfrm>
          <a:prstGeom prst="rect">
            <a:avLst/>
          </a:prstGeom>
        </p:spPr>
        <p:txBody>
          <a:bodyPr wrap="square">
            <a:spAutoFit/>
          </a:bodyPr>
          <a:lstStyle/>
          <a:p>
            <a:r>
              <a:rPr lang="zh-TW" altLang="en-US" sz="3600" dirty="0">
                <a:sym typeface="Wingdings"/>
              </a:rPr>
              <a:t></a:t>
            </a:r>
            <a:endParaRPr lang="zh-TW" altLang="en-US" sz="3600" dirty="0"/>
          </a:p>
        </p:txBody>
      </p:sp>
      <p:sp>
        <p:nvSpPr>
          <p:cNvPr id="19" name="矩形 18"/>
          <p:cNvSpPr/>
          <p:nvPr/>
        </p:nvSpPr>
        <p:spPr>
          <a:xfrm>
            <a:off x="448186" y="2035628"/>
            <a:ext cx="902811" cy="307777"/>
          </a:xfrm>
          <a:prstGeom prst="rect">
            <a:avLst/>
          </a:prstGeom>
        </p:spPr>
        <p:txBody>
          <a:bodyPr wrap="none">
            <a:spAutoFit/>
          </a:bodyPr>
          <a:lstStyle/>
          <a:p>
            <a:pPr algn="ctr"/>
            <a:r>
              <a:rPr lang="zh-TW" altLang="en-US" sz="1400" dirty="0">
                <a:latin typeface="微軟正黑體" panose="020B0604030504040204" pitchFamily="34" charset="-120"/>
                <a:ea typeface="微軟正黑體" panose="020B0604030504040204" pitchFamily="34" charset="-120"/>
              </a:rPr>
              <a:t>技術盒子</a:t>
            </a:r>
          </a:p>
        </p:txBody>
      </p:sp>
      <p:sp>
        <p:nvSpPr>
          <p:cNvPr id="20" name="矩形 19"/>
          <p:cNvSpPr/>
          <p:nvPr/>
        </p:nvSpPr>
        <p:spPr>
          <a:xfrm>
            <a:off x="3360445" y="2859038"/>
            <a:ext cx="851515" cy="646331"/>
          </a:xfrm>
          <a:prstGeom prst="rect">
            <a:avLst/>
          </a:prstGeom>
        </p:spPr>
        <p:txBody>
          <a:bodyPr wrap="none">
            <a:spAutoFit/>
          </a:bodyPr>
          <a:lstStyle/>
          <a:p>
            <a:r>
              <a:rPr lang="zh-TW" altLang="en-US" sz="3600" dirty="0">
                <a:sym typeface="Wingdings"/>
              </a:rPr>
              <a:t></a:t>
            </a:r>
            <a:endParaRPr lang="zh-TW" altLang="en-US" sz="3600" dirty="0"/>
          </a:p>
        </p:txBody>
      </p:sp>
      <p:sp>
        <p:nvSpPr>
          <p:cNvPr id="40" name="矩形 39"/>
          <p:cNvSpPr/>
          <p:nvPr/>
        </p:nvSpPr>
        <p:spPr>
          <a:xfrm>
            <a:off x="1907704" y="1226631"/>
            <a:ext cx="851515" cy="646331"/>
          </a:xfrm>
          <a:prstGeom prst="rect">
            <a:avLst/>
          </a:prstGeom>
        </p:spPr>
        <p:txBody>
          <a:bodyPr wrap="none">
            <a:spAutoFit/>
          </a:bodyPr>
          <a:lstStyle/>
          <a:p>
            <a:r>
              <a:rPr lang="zh-TW" altLang="en-US" sz="3600" dirty="0">
                <a:sym typeface="Wingdings"/>
              </a:rPr>
              <a:t></a:t>
            </a:r>
            <a:endParaRPr lang="zh-TW" altLang="en-US" sz="3600" dirty="0"/>
          </a:p>
        </p:txBody>
      </p:sp>
      <p:sp>
        <p:nvSpPr>
          <p:cNvPr id="41" name="矩形 40"/>
          <p:cNvSpPr/>
          <p:nvPr/>
        </p:nvSpPr>
        <p:spPr>
          <a:xfrm>
            <a:off x="2520365" y="2268200"/>
            <a:ext cx="851515" cy="646331"/>
          </a:xfrm>
          <a:prstGeom prst="rect">
            <a:avLst/>
          </a:prstGeom>
        </p:spPr>
        <p:txBody>
          <a:bodyPr wrap="none">
            <a:spAutoFit/>
          </a:bodyPr>
          <a:lstStyle/>
          <a:p>
            <a:r>
              <a:rPr lang="zh-TW" altLang="en-US" sz="3600" dirty="0">
                <a:sym typeface="Wingdings"/>
              </a:rPr>
              <a:t></a:t>
            </a:r>
            <a:endParaRPr lang="zh-TW" altLang="en-US" sz="3600" dirty="0"/>
          </a:p>
        </p:txBody>
      </p:sp>
      <p:sp>
        <p:nvSpPr>
          <p:cNvPr id="21" name="文字方塊 20"/>
          <p:cNvSpPr txBox="1"/>
          <p:nvPr/>
        </p:nvSpPr>
        <p:spPr>
          <a:xfrm>
            <a:off x="448187" y="3872578"/>
            <a:ext cx="4627870" cy="2308324"/>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專利制度保護技術內涵的原則不變，技術是什麼，則依據國際趨勢</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技術的判斷像一個技術盒子的流動，什麼時候被打開，依據審查基準、審查經驗及審查當時概念</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技術盒子在審查過程中一定會被打開作判斷，可能是適格性、明確性、可據以實現性及進步性的判斷時期</a:t>
            </a:r>
          </a:p>
        </p:txBody>
      </p:sp>
      <p:sp>
        <p:nvSpPr>
          <p:cNvPr id="42" name="文字方塊 41"/>
          <p:cNvSpPr txBox="1"/>
          <p:nvPr/>
        </p:nvSpPr>
        <p:spPr>
          <a:xfrm>
            <a:off x="4716017" y="1627641"/>
            <a:ext cx="4176464" cy="1477328"/>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現行基準在試圖解決適格性判斷容易流於主觀的問題</a:t>
            </a:r>
            <a:r>
              <a:rPr lang="zh-TW" altLang="en-US" sz="1600"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審查標準仍依技術的考量為依歸</a:t>
            </a:r>
            <a:endParaRPr lang="en-US" altLang="zh-TW" dirty="0">
              <a:latin typeface="微軟正黑體"/>
              <a:ea typeface="微軟正黑體"/>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大多數案子將會以先前技術做比對，增進審查品質</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進步性</a:t>
            </a:r>
            <a:r>
              <a:rPr lang="en-US" altLang="zh-TW" dirty="0">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176024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電腦軟體專利要件</a:t>
            </a:r>
          </a:p>
        </p:txBody>
      </p:sp>
      <p:sp>
        <p:nvSpPr>
          <p:cNvPr id="4" name="投影片編號版面配置區 3"/>
          <p:cNvSpPr>
            <a:spLocks noGrp="1"/>
          </p:cNvSpPr>
          <p:nvPr>
            <p:ph type="sldNum" sz="quarter" idx="12"/>
          </p:nvPr>
        </p:nvSpPr>
        <p:spPr>
          <a:xfrm>
            <a:off x="6962775" y="6499225"/>
            <a:ext cx="2133600" cy="365125"/>
          </a:xfrm>
        </p:spPr>
        <p:txBody>
          <a:bodyPr/>
          <a:lstStyle/>
          <a:p>
            <a:pPr>
              <a:defRPr/>
            </a:pPr>
            <a:fld id="{B83ACBEE-1837-4398-8376-AF0F7C4E2424}" type="slidenum">
              <a:rPr lang="zh-TW" altLang="en-US" smtClean="0"/>
              <a:pPr>
                <a:defRPr/>
              </a:pPr>
              <a:t>22</a:t>
            </a:fld>
            <a:endParaRPr lang="zh-TW" altLang="en-US" dirty="0"/>
          </a:p>
        </p:txBody>
      </p:sp>
      <p:grpSp>
        <p:nvGrpSpPr>
          <p:cNvPr id="24" name="群組 23">
            <a:extLst>
              <a:ext uri="{FF2B5EF4-FFF2-40B4-BE49-F238E27FC236}">
                <a16:creationId xmlns:a16="http://schemas.microsoft.com/office/drawing/2014/main" id="{A7ABBCAC-B8EC-437D-B305-D47FE0793C7B}"/>
              </a:ext>
            </a:extLst>
          </p:cNvPr>
          <p:cNvGrpSpPr/>
          <p:nvPr/>
        </p:nvGrpSpPr>
        <p:grpSpPr>
          <a:xfrm>
            <a:off x="827584" y="1486598"/>
            <a:ext cx="8136904" cy="4841895"/>
            <a:chOff x="467544" y="1515515"/>
            <a:chExt cx="8136904" cy="4841895"/>
          </a:xfrm>
        </p:grpSpPr>
        <p:cxnSp>
          <p:nvCxnSpPr>
            <p:cNvPr id="8" name="直線接點 7">
              <a:extLst>
                <a:ext uri="{FF2B5EF4-FFF2-40B4-BE49-F238E27FC236}">
                  <a16:creationId xmlns:a16="http://schemas.microsoft.com/office/drawing/2014/main" id="{71FD0300-DD3D-4D87-ACBA-55F622971263}"/>
                </a:ext>
              </a:extLst>
            </p:cNvPr>
            <p:cNvCxnSpPr/>
            <p:nvPr/>
          </p:nvCxnSpPr>
          <p:spPr>
            <a:xfrm>
              <a:off x="467544" y="4797152"/>
              <a:ext cx="81369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3E260FB9-CCE0-46A0-BB0B-8A68BA3BC621}"/>
                </a:ext>
              </a:extLst>
            </p:cNvPr>
            <p:cNvCxnSpPr/>
            <p:nvPr/>
          </p:nvCxnSpPr>
          <p:spPr>
            <a:xfrm>
              <a:off x="467544" y="3140968"/>
              <a:ext cx="8136904"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1" name="群組 20">
              <a:extLst>
                <a:ext uri="{FF2B5EF4-FFF2-40B4-BE49-F238E27FC236}">
                  <a16:creationId xmlns:a16="http://schemas.microsoft.com/office/drawing/2014/main" id="{79645638-6C25-4AFF-8D15-1FC6BA9E05BF}"/>
                </a:ext>
              </a:extLst>
            </p:cNvPr>
            <p:cNvGrpSpPr/>
            <p:nvPr/>
          </p:nvGrpSpPr>
          <p:grpSpPr>
            <a:xfrm>
              <a:off x="571707" y="1515515"/>
              <a:ext cx="7574827" cy="4841895"/>
              <a:chOff x="571707" y="1515515"/>
              <a:chExt cx="7574827" cy="4841895"/>
            </a:xfrm>
          </p:grpSpPr>
          <p:sp>
            <p:nvSpPr>
              <p:cNvPr id="9" name="文字方塊 8">
                <a:extLst>
                  <a:ext uri="{FF2B5EF4-FFF2-40B4-BE49-F238E27FC236}">
                    <a16:creationId xmlns:a16="http://schemas.microsoft.com/office/drawing/2014/main" id="{BCBC686E-210B-4210-87CB-B69E31EC54F0}"/>
                  </a:ext>
                </a:extLst>
              </p:cNvPr>
              <p:cNvSpPr txBox="1"/>
              <p:nvPr/>
            </p:nvSpPr>
            <p:spPr>
              <a:xfrm>
                <a:off x="6964800" y="5392615"/>
                <a:ext cx="877163" cy="369332"/>
              </a:xfrm>
              <a:prstGeom prst="rect">
                <a:avLst/>
              </a:prstGeom>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wrap="none" rtlCol="0">
                <a:spAutoFit/>
              </a:bodyPr>
              <a:lstStyle/>
              <a:p>
                <a:r>
                  <a:rPr lang="zh-TW" altLang="en-US" dirty="0">
                    <a:latin typeface="微軟正黑體" panose="020B0604030504040204" pitchFamily="34" charset="-120"/>
                    <a:ea typeface="微軟正黑體" panose="020B0604030504040204" pitchFamily="34" charset="-120"/>
                  </a:rPr>
                  <a:t>有沒有</a:t>
                </a:r>
              </a:p>
            </p:txBody>
          </p:sp>
          <p:sp>
            <p:nvSpPr>
              <p:cNvPr id="12" name="文字方塊 11">
                <a:extLst>
                  <a:ext uri="{FF2B5EF4-FFF2-40B4-BE49-F238E27FC236}">
                    <a16:creationId xmlns:a16="http://schemas.microsoft.com/office/drawing/2014/main" id="{3DA46354-122E-4260-85E1-DDDA49F3B0CB}"/>
                  </a:ext>
                </a:extLst>
              </p:cNvPr>
              <p:cNvSpPr txBox="1"/>
              <p:nvPr/>
            </p:nvSpPr>
            <p:spPr>
              <a:xfrm>
                <a:off x="6962775" y="3832358"/>
                <a:ext cx="877163" cy="369332"/>
              </a:xfrm>
              <a:prstGeom prst="rect">
                <a:avLst/>
              </a:prstGeom>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wrap="none" rtlCol="0">
                <a:spAutoFit/>
              </a:bodyPr>
              <a:lstStyle/>
              <a:p>
                <a:r>
                  <a:rPr lang="zh-TW" altLang="en-US" dirty="0">
                    <a:latin typeface="微軟正黑體" panose="020B0604030504040204" pitchFamily="34" charset="-120"/>
                    <a:ea typeface="微軟正黑體" panose="020B0604030504040204" pitchFamily="34" charset="-120"/>
                  </a:rPr>
                  <a:t>夠不夠</a:t>
                </a:r>
              </a:p>
            </p:txBody>
          </p:sp>
          <p:sp>
            <p:nvSpPr>
              <p:cNvPr id="13" name="文字方塊 12">
                <a:extLst>
                  <a:ext uri="{FF2B5EF4-FFF2-40B4-BE49-F238E27FC236}">
                    <a16:creationId xmlns:a16="http://schemas.microsoft.com/office/drawing/2014/main" id="{CA552B03-E87F-4009-BB66-F3E9163C0093}"/>
                  </a:ext>
                </a:extLst>
              </p:cNvPr>
              <p:cNvSpPr txBox="1"/>
              <p:nvPr/>
            </p:nvSpPr>
            <p:spPr>
              <a:xfrm>
                <a:off x="6660230" y="1896578"/>
                <a:ext cx="1486304" cy="646331"/>
              </a:xfrm>
              <a:prstGeom prst="rect">
                <a:avLst/>
              </a:prstGeom>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zh-TW" altLang="en-US" dirty="0">
                    <a:latin typeface="微軟正黑體" panose="020B0604030504040204" pitchFamily="34" charset="-120"/>
                    <a:ea typeface="微軟正黑體" panose="020B0604030504040204" pitchFamily="34" charset="-120"/>
                  </a:rPr>
                  <a:t>厲不厲害</a:t>
                </a:r>
                <a:endParaRPr lang="en-US" altLang="zh-TW" dirty="0">
                  <a:latin typeface="微軟正黑體" panose="020B0604030504040204" pitchFamily="34" charset="-120"/>
                  <a:ea typeface="微軟正黑體" panose="020B0604030504040204" pitchFamily="34" charset="-120"/>
                </a:endParaRPr>
              </a:p>
              <a:p>
                <a:pPr algn="ct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依客觀證據</a:t>
                </a:r>
                <a:r>
                  <a:rPr lang="en-US" altLang="zh-TW" dirty="0">
                    <a:latin typeface="微軟正黑體" panose="020B0604030504040204" pitchFamily="34" charset="-120"/>
                    <a:ea typeface="微軟正黑體" panose="020B0604030504040204" pitchFamily="34" charset="-120"/>
                  </a:rPr>
                  <a:t>)</a:t>
                </a:r>
              </a:p>
            </p:txBody>
          </p:sp>
          <p:sp>
            <p:nvSpPr>
              <p:cNvPr id="18" name="矩形 17">
                <a:extLst>
                  <a:ext uri="{FF2B5EF4-FFF2-40B4-BE49-F238E27FC236}">
                    <a16:creationId xmlns:a16="http://schemas.microsoft.com/office/drawing/2014/main" id="{F651F2AE-9D13-48EB-B2A3-DB5DA8E99B37}"/>
                  </a:ext>
                </a:extLst>
              </p:cNvPr>
              <p:cNvSpPr/>
              <p:nvPr/>
            </p:nvSpPr>
            <p:spPr>
              <a:xfrm>
                <a:off x="571707" y="1580935"/>
                <a:ext cx="851515" cy="646331"/>
              </a:xfrm>
              <a:prstGeom prst="rect">
                <a:avLst/>
              </a:prstGeom>
            </p:spPr>
            <p:txBody>
              <a:bodyPr wrap="none">
                <a:spAutoFit/>
              </a:bodyPr>
              <a:lstStyle/>
              <a:p>
                <a:r>
                  <a:rPr lang="zh-TW" altLang="en-US" sz="3600" dirty="0">
                    <a:sym typeface="Wingdings"/>
                  </a:rPr>
                  <a:t></a:t>
                </a:r>
                <a:endParaRPr lang="zh-TW" altLang="en-US" sz="3600" dirty="0"/>
              </a:p>
            </p:txBody>
          </p:sp>
          <p:sp>
            <p:nvSpPr>
              <p:cNvPr id="19" name="矩形 18">
                <a:extLst>
                  <a:ext uri="{FF2B5EF4-FFF2-40B4-BE49-F238E27FC236}">
                    <a16:creationId xmlns:a16="http://schemas.microsoft.com/office/drawing/2014/main" id="{7A211C32-6A76-44C5-815A-C2A685C2C776}"/>
                  </a:ext>
                </a:extLst>
              </p:cNvPr>
              <p:cNvSpPr/>
              <p:nvPr/>
            </p:nvSpPr>
            <p:spPr>
              <a:xfrm>
                <a:off x="571707" y="3595344"/>
                <a:ext cx="851515" cy="646331"/>
              </a:xfrm>
              <a:prstGeom prst="rect">
                <a:avLst/>
              </a:prstGeom>
            </p:spPr>
            <p:txBody>
              <a:bodyPr wrap="none">
                <a:spAutoFit/>
              </a:bodyPr>
              <a:lstStyle/>
              <a:p>
                <a:r>
                  <a:rPr lang="zh-TW" altLang="en-US" sz="3600" dirty="0">
                    <a:sym typeface="Wingdings"/>
                  </a:rPr>
                  <a:t></a:t>
                </a:r>
                <a:endParaRPr lang="zh-TW" altLang="en-US" sz="3600" dirty="0"/>
              </a:p>
            </p:txBody>
          </p:sp>
          <p:sp>
            <p:nvSpPr>
              <p:cNvPr id="20" name="矩形 19">
                <a:extLst>
                  <a:ext uri="{FF2B5EF4-FFF2-40B4-BE49-F238E27FC236}">
                    <a16:creationId xmlns:a16="http://schemas.microsoft.com/office/drawing/2014/main" id="{D3B75894-6D23-40F0-A62A-DD74FC79CFCA}"/>
                  </a:ext>
                </a:extLst>
              </p:cNvPr>
              <p:cNvSpPr/>
              <p:nvPr/>
            </p:nvSpPr>
            <p:spPr>
              <a:xfrm>
                <a:off x="571707" y="5392615"/>
                <a:ext cx="851515" cy="646331"/>
              </a:xfrm>
              <a:prstGeom prst="rect">
                <a:avLst/>
              </a:prstGeom>
            </p:spPr>
            <p:txBody>
              <a:bodyPr wrap="none">
                <a:spAutoFit/>
              </a:bodyPr>
              <a:lstStyle/>
              <a:p>
                <a:r>
                  <a:rPr lang="zh-TW" altLang="en-US" sz="3600" dirty="0">
                    <a:sym typeface="Wingdings"/>
                  </a:rPr>
                  <a:t></a:t>
                </a:r>
                <a:endParaRPr lang="zh-TW" altLang="en-US" sz="3600" dirty="0"/>
              </a:p>
            </p:txBody>
          </p:sp>
          <p:sp>
            <p:nvSpPr>
              <p:cNvPr id="17" name="文字方塊 16">
                <a:extLst>
                  <a:ext uri="{FF2B5EF4-FFF2-40B4-BE49-F238E27FC236}">
                    <a16:creationId xmlns:a16="http://schemas.microsoft.com/office/drawing/2014/main" id="{0A0CA795-30D2-4357-AE2B-C0EA1A0B8AA7}"/>
                  </a:ext>
                </a:extLst>
              </p:cNvPr>
              <p:cNvSpPr txBox="1"/>
              <p:nvPr/>
            </p:nvSpPr>
            <p:spPr>
              <a:xfrm>
                <a:off x="1760039" y="4880082"/>
                <a:ext cx="4859022" cy="1477328"/>
              </a:xfrm>
              <a:prstGeom prst="rect">
                <a:avLst/>
              </a:prstGeom>
              <a:noFill/>
            </p:spPr>
            <p:txBody>
              <a:bodyPr wrap="none" rtlCol="0">
                <a:spAutoFit/>
              </a:bodyPr>
              <a:lstStyle/>
              <a:p>
                <a:pPr marL="285750" indent="-285750">
                  <a:buFont typeface="Arial" panose="020B0604020202020204" pitchFamily="34" charset="0"/>
                  <a:buChar char="•"/>
                </a:pPr>
                <a:r>
                  <a:rPr lang="zh-TW" altLang="en-US" dirty="0"/>
                  <a:t>有沒有控制機器、有沒有技術性質</a:t>
                </a:r>
                <a:endParaRPr lang="en-US" altLang="zh-TW" dirty="0"/>
              </a:p>
              <a:p>
                <a:pPr marL="285750" indent="-285750">
                  <a:buFont typeface="Arial" panose="020B0604020202020204" pitchFamily="34" charset="0"/>
                  <a:buChar char="•"/>
                </a:pPr>
                <a:r>
                  <a:rPr lang="zh-TW" altLang="en-US" dirty="0"/>
                  <a:t>有沒有硬體</a:t>
                </a:r>
                <a:r>
                  <a:rPr lang="zh-TW" altLang="en-US" dirty="0">
                    <a:latin typeface="微軟正黑體" panose="020B0604030504040204" pitchFamily="34" charset="-120"/>
                    <a:ea typeface="微軟正黑體" panose="020B0604030504040204" pitchFamily="34" charset="-120"/>
                  </a:rPr>
                  <a:t>、有沒有軟體、有沒有協同運作</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有沒有特定之資訊處理</a:t>
                </a:r>
                <a:endParaRPr lang="en-US" altLang="zh-TW"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有沒有揭露處理什麼</a:t>
                </a:r>
                <a:endParaRPr lang="en-US" altLang="zh-TW"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t>有沒有揭露如何處理</a:t>
                </a:r>
              </a:p>
            </p:txBody>
          </p:sp>
          <p:sp>
            <p:nvSpPr>
              <p:cNvPr id="22" name="文字方塊 21">
                <a:extLst>
                  <a:ext uri="{FF2B5EF4-FFF2-40B4-BE49-F238E27FC236}">
                    <a16:creationId xmlns:a16="http://schemas.microsoft.com/office/drawing/2014/main" id="{EB17840F-3293-4775-BE10-326A944428D9}"/>
                  </a:ext>
                </a:extLst>
              </p:cNvPr>
              <p:cNvSpPr txBox="1"/>
              <p:nvPr/>
            </p:nvSpPr>
            <p:spPr>
              <a:xfrm>
                <a:off x="1760039" y="3456844"/>
                <a:ext cx="2550698" cy="923330"/>
              </a:xfrm>
              <a:prstGeom prst="rect">
                <a:avLst/>
              </a:prstGeom>
              <a:noFill/>
            </p:spPr>
            <p:txBody>
              <a:bodyPr wrap="none" rtlCol="0">
                <a:spAutoFit/>
              </a:bodyPr>
              <a:lstStyle/>
              <a:p>
                <a:pPr marL="285750" indent="-285750">
                  <a:buFont typeface="Arial" panose="020B0604020202020204" pitchFamily="34" charset="0"/>
                  <a:buChar char="•"/>
                </a:pPr>
                <a:r>
                  <a:rPr lang="zh-TW" altLang="en-US" dirty="0"/>
                  <a:t>處理什麼揭露夠不夠</a:t>
                </a:r>
                <a:endParaRPr lang="en-US" altLang="zh-TW" dirty="0"/>
              </a:p>
              <a:p>
                <a:pPr marL="285750" indent="-285750">
                  <a:buFont typeface="Arial" panose="020B0604020202020204" pitchFamily="34" charset="0"/>
                  <a:buChar char="•"/>
                </a:pPr>
                <a:r>
                  <a:rPr lang="zh-TW" altLang="en-US" dirty="0"/>
                  <a:t>如何運作揭露夠不夠</a:t>
                </a:r>
                <a:endParaRPr lang="en-US" altLang="zh-TW" dirty="0"/>
              </a:p>
              <a:p>
                <a:pPr marL="285750" indent="-285750">
                  <a:buFont typeface="Arial" panose="020B0604020202020204" pitchFamily="34" charset="0"/>
                  <a:buChar char="•"/>
                </a:pPr>
                <a:r>
                  <a:rPr lang="zh-TW" altLang="en-US" dirty="0"/>
                  <a:t>資料關係揭露夠不夠</a:t>
                </a:r>
                <a:endParaRPr lang="en-US" altLang="zh-TW" dirty="0"/>
              </a:p>
            </p:txBody>
          </p:sp>
          <p:sp>
            <p:nvSpPr>
              <p:cNvPr id="23" name="文字方塊 22">
                <a:extLst>
                  <a:ext uri="{FF2B5EF4-FFF2-40B4-BE49-F238E27FC236}">
                    <a16:creationId xmlns:a16="http://schemas.microsoft.com/office/drawing/2014/main" id="{7D54B1D3-0806-4282-9CEB-F7C8BB01E419}"/>
                  </a:ext>
                </a:extLst>
              </p:cNvPr>
              <p:cNvSpPr txBox="1"/>
              <p:nvPr/>
            </p:nvSpPr>
            <p:spPr>
              <a:xfrm>
                <a:off x="1760039" y="1515515"/>
                <a:ext cx="3243196" cy="1477328"/>
              </a:xfrm>
              <a:prstGeom prst="rect">
                <a:avLst/>
              </a:prstGeom>
              <a:noFill/>
            </p:spPr>
            <p:txBody>
              <a:bodyPr wrap="none" rtlCol="0">
                <a:spAutoFit/>
              </a:bodyPr>
              <a:lstStyle/>
              <a:p>
                <a:pPr marL="285750" indent="-285750">
                  <a:buFont typeface="Arial" panose="020B0604020202020204" pitchFamily="34" charset="0"/>
                  <a:buChar char="•"/>
                </a:pPr>
                <a:r>
                  <a:rPr lang="zh-TW" altLang="en-US" dirty="0"/>
                  <a:t>有沒有別人沒有的</a:t>
                </a:r>
                <a:endParaRPr lang="en-US" altLang="zh-TW" dirty="0"/>
              </a:p>
              <a:p>
                <a:pPr marL="285750" indent="-285750">
                  <a:buFont typeface="Arial" panose="020B0604020202020204" pitchFamily="34" charset="0"/>
                  <a:buChar char="•"/>
                </a:pPr>
                <a:r>
                  <a:rPr lang="zh-TW" altLang="en-US" dirty="0"/>
                  <a:t>有沒有產生技術效果</a:t>
                </a:r>
                <a:endParaRPr lang="en-US" altLang="zh-TW" dirty="0"/>
              </a:p>
              <a:p>
                <a:pPr marL="742950" lvl="1" indent="-285750">
                  <a:buFont typeface="Wingdings" panose="05000000000000000000" pitchFamily="2" charset="2"/>
                  <a:buChar char="ü"/>
                </a:pPr>
                <a:r>
                  <a:rPr lang="zh-TW" altLang="en-US" dirty="0"/>
                  <a:t>無法預期之功效</a:t>
                </a:r>
                <a:endParaRPr lang="en-US" altLang="zh-TW" dirty="0"/>
              </a:p>
              <a:p>
                <a:pPr marL="742950" lvl="1" indent="-285750">
                  <a:buFont typeface="Wingdings" panose="05000000000000000000" pitchFamily="2" charset="2"/>
                  <a:buChar char="ü"/>
                </a:pPr>
                <a:r>
                  <a:rPr lang="zh-TW" altLang="en-US" dirty="0"/>
                  <a:t>有利功效</a:t>
                </a:r>
                <a:endParaRPr lang="en-US" altLang="zh-TW" dirty="0"/>
              </a:p>
              <a:p>
                <a:pPr marL="742950" lvl="1" indent="-285750">
                  <a:buFont typeface="Wingdings" panose="05000000000000000000" pitchFamily="2" charset="2"/>
                  <a:buChar char="ü"/>
                </a:pPr>
                <a:r>
                  <a:rPr lang="zh-TW" altLang="en-US" dirty="0"/>
                  <a:t>有助於技術效果的特徵</a:t>
                </a:r>
                <a:endParaRPr lang="en-US" altLang="zh-TW" dirty="0"/>
              </a:p>
            </p:txBody>
          </p:sp>
        </p:grpSp>
      </p:grpSp>
      <p:sp>
        <p:nvSpPr>
          <p:cNvPr id="25" name="箭號: 向上 24">
            <a:extLst>
              <a:ext uri="{FF2B5EF4-FFF2-40B4-BE49-F238E27FC236}">
                <a16:creationId xmlns:a16="http://schemas.microsoft.com/office/drawing/2014/main" id="{E4DAD7D7-1621-44B2-A9CE-5807A672D8AA}"/>
              </a:ext>
            </a:extLst>
          </p:cNvPr>
          <p:cNvSpPr/>
          <p:nvPr/>
        </p:nvSpPr>
        <p:spPr>
          <a:xfrm>
            <a:off x="155892" y="1124744"/>
            <a:ext cx="481534" cy="5256584"/>
          </a:xfrm>
          <a:prstGeom prst="upArrow">
            <a:avLst/>
          </a:prstGeom>
          <a:gradFill>
            <a:gsLst>
              <a:gs pos="0">
                <a:schemeClr val="accent5">
                  <a:lumMod val="40000"/>
                  <a:lumOff val="60000"/>
                </a:schemeClr>
              </a:gs>
              <a:gs pos="46000">
                <a:schemeClr val="accent5">
                  <a:lumMod val="95000"/>
                  <a:lumOff val="5000"/>
                </a:schemeClr>
              </a:gs>
              <a:gs pos="100000">
                <a:schemeClr val="accent5">
                  <a:lumMod val="60000"/>
                </a:schemeClr>
              </a:gs>
            </a:gsLst>
            <a:path path="circle">
              <a:fillToRect l="50000" t="130000" r="50000" b="-30000"/>
            </a:path>
          </a:gradFill>
          <a:ln>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path path="circle">
                <a:fillToRect l="50000" t="130000" r="50000" b="-3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0912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2564904"/>
            <a:ext cx="7772400" cy="1400987"/>
          </a:xfrm>
        </p:spPr>
        <p:txBody>
          <a:bodyPr>
            <a:normAutofit/>
          </a:bodyPr>
          <a:lstStyle/>
          <a:p>
            <a:pPr lvl="0"/>
            <a:r>
              <a:rPr lang="zh-TW" altLang="en-US" sz="3600" dirty="0"/>
              <a:t>軟體相關發明</a:t>
            </a:r>
            <a:br>
              <a:rPr lang="zh-TW" altLang="en-US" sz="3600" dirty="0"/>
            </a:br>
            <a:r>
              <a:rPr lang="zh-TW" altLang="en-US" sz="3600" dirty="0"/>
              <a:t>發明定義</a:t>
            </a:r>
          </a:p>
        </p:txBody>
      </p:sp>
      <p:sp>
        <p:nvSpPr>
          <p:cNvPr id="3" name="投影片編號版面配置區 3"/>
          <p:cNvSpPr>
            <a:spLocks noGrp="1"/>
          </p:cNvSpPr>
          <p:nvPr>
            <p:ph type="sldNum" sz="quarter" idx="12"/>
          </p:nvPr>
        </p:nvSpPr>
        <p:spPr>
          <a:xfrm>
            <a:off x="6553200" y="6446880"/>
            <a:ext cx="2133600" cy="365125"/>
          </a:xfrm>
        </p:spPr>
        <p:txBody>
          <a:bodyPr/>
          <a:lstStyle/>
          <a:p>
            <a:fld id="{51D2D507-09EA-4C6F-96ED-053C801F8797}" type="slidenum">
              <a:rPr lang="zh-TW" altLang="en-US" smtClean="0"/>
              <a:t>23</a:t>
            </a:fld>
            <a:endParaRPr lang="zh-TW" altLang="en-US" dirty="0"/>
          </a:p>
        </p:txBody>
      </p:sp>
    </p:spTree>
    <p:extLst>
      <p:ext uri="{BB962C8B-B14F-4D97-AF65-F5344CB8AC3E}">
        <p14:creationId xmlns:p14="http://schemas.microsoft.com/office/powerpoint/2010/main" val="709960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011843-1CC3-44E2-B684-83588CCA5709}"/>
              </a:ext>
            </a:extLst>
          </p:cNvPr>
          <p:cNvSpPr>
            <a:spLocks noGrp="1"/>
          </p:cNvSpPr>
          <p:nvPr>
            <p:ph type="title"/>
          </p:nvPr>
        </p:nvSpPr>
        <p:spPr/>
        <p:txBody>
          <a:bodyPr/>
          <a:lstStyle/>
          <a:p>
            <a:r>
              <a:rPr lang="zh-TW" altLang="en-US" dirty="0"/>
              <a:t>發明定義</a:t>
            </a:r>
          </a:p>
        </p:txBody>
      </p:sp>
      <p:sp>
        <p:nvSpPr>
          <p:cNvPr id="4" name="投影片編號版面配置區 3">
            <a:extLst>
              <a:ext uri="{FF2B5EF4-FFF2-40B4-BE49-F238E27FC236}">
                <a16:creationId xmlns:a16="http://schemas.microsoft.com/office/drawing/2014/main" id="{B8621EEC-BB9F-4411-8E99-212F6FDCD01C}"/>
              </a:ext>
            </a:extLst>
          </p:cNvPr>
          <p:cNvSpPr>
            <a:spLocks noGrp="1"/>
          </p:cNvSpPr>
          <p:nvPr>
            <p:ph type="sldNum" sz="quarter" idx="12"/>
          </p:nvPr>
        </p:nvSpPr>
        <p:spPr/>
        <p:txBody>
          <a:bodyPr/>
          <a:lstStyle/>
          <a:p>
            <a:fld id="{51D2D507-09EA-4C6F-96ED-053C801F8797}" type="slidenum">
              <a:rPr lang="zh-TW" altLang="en-US" smtClean="0"/>
              <a:t>24</a:t>
            </a:fld>
            <a:endParaRPr lang="zh-TW" altLang="en-US"/>
          </a:p>
        </p:txBody>
      </p:sp>
      <p:grpSp>
        <p:nvGrpSpPr>
          <p:cNvPr id="18" name="群組 17">
            <a:extLst>
              <a:ext uri="{FF2B5EF4-FFF2-40B4-BE49-F238E27FC236}">
                <a16:creationId xmlns:a16="http://schemas.microsoft.com/office/drawing/2014/main" id="{2A06948C-0D3C-4854-BEE5-023049EFC937}"/>
              </a:ext>
            </a:extLst>
          </p:cNvPr>
          <p:cNvGrpSpPr/>
          <p:nvPr/>
        </p:nvGrpSpPr>
        <p:grpSpPr>
          <a:xfrm>
            <a:off x="5292080" y="1110985"/>
            <a:ext cx="2808312" cy="3655305"/>
            <a:chOff x="6120172" y="1268760"/>
            <a:chExt cx="2808312" cy="3655305"/>
          </a:xfrm>
        </p:grpSpPr>
        <p:sp>
          <p:nvSpPr>
            <p:cNvPr id="19" name="圓角矩形 22">
              <a:extLst>
                <a:ext uri="{FF2B5EF4-FFF2-40B4-BE49-F238E27FC236}">
                  <a16:creationId xmlns:a16="http://schemas.microsoft.com/office/drawing/2014/main" id="{18A07737-773A-4EB6-BAA7-7360BE43C312}"/>
                </a:ext>
              </a:extLst>
            </p:cNvPr>
            <p:cNvSpPr/>
            <p:nvPr/>
          </p:nvSpPr>
          <p:spPr>
            <a:xfrm>
              <a:off x="6228184" y="1268760"/>
              <a:ext cx="2592288"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b="1" dirty="0">
                  <a:solidFill>
                    <a:srgbClr val="C00000"/>
                  </a:solidFill>
                  <a:latin typeface="微軟正黑體" pitchFamily="34" charset="-120"/>
                  <a:ea typeface="微軟正黑體" pitchFamily="34" charset="-120"/>
                </a:rPr>
                <a:t>軟體基準</a:t>
              </a:r>
            </a:p>
          </p:txBody>
        </p:sp>
        <p:sp>
          <p:nvSpPr>
            <p:cNvPr id="20" name="圓角矩形 29">
              <a:extLst>
                <a:ext uri="{FF2B5EF4-FFF2-40B4-BE49-F238E27FC236}">
                  <a16:creationId xmlns:a16="http://schemas.microsoft.com/office/drawing/2014/main" id="{260B4788-142C-444A-AE97-AD3AEBA92F80}"/>
                </a:ext>
              </a:extLst>
            </p:cNvPr>
            <p:cNvSpPr/>
            <p:nvPr/>
          </p:nvSpPr>
          <p:spPr>
            <a:xfrm>
              <a:off x="6120172" y="1916832"/>
              <a:ext cx="2808312"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TW" altLang="en-US" sz="1800" b="1" dirty="0">
                  <a:solidFill>
                    <a:schemeClr val="tx1"/>
                  </a:solidFill>
                  <a:latin typeface="微軟正黑體" pitchFamily="34" charset="-120"/>
                  <a:ea typeface="微軟正黑體" pitchFamily="34" charset="-120"/>
                </a:rPr>
                <a:t>判斷原則</a:t>
              </a:r>
            </a:p>
          </p:txBody>
        </p:sp>
        <p:sp>
          <p:nvSpPr>
            <p:cNvPr id="21" name="圓角矩形 30">
              <a:extLst>
                <a:ext uri="{FF2B5EF4-FFF2-40B4-BE49-F238E27FC236}">
                  <a16:creationId xmlns:a16="http://schemas.microsoft.com/office/drawing/2014/main" id="{16CC9ACB-08AB-4BA9-BC6B-64A787206B7F}"/>
                </a:ext>
              </a:extLst>
            </p:cNvPr>
            <p:cNvSpPr/>
            <p:nvPr/>
          </p:nvSpPr>
          <p:spPr>
            <a:xfrm>
              <a:off x="6120172" y="2493276"/>
              <a:ext cx="2808312"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TW" altLang="en-US" sz="1800" b="1" dirty="0">
                  <a:solidFill>
                    <a:schemeClr val="tx1"/>
                  </a:solidFill>
                  <a:latin typeface="微軟正黑體" pitchFamily="34" charset="-120"/>
                  <a:ea typeface="微軟正黑體" pitchFamily="34" charset="-120"/>
                </a:rPr>
                <a:t>判斷步驟</a:t>
              </a:r>
            </a:p>
          </p:txBody>
        </p:sp>
        <p:sp>
          <p:nvSpPr>
            <p:cNvPr id="22" name="圓角矩形 31">
              <a:extLst>
                <a:ext uri="{FF2B5EF4-FFF2-40B4-BE49-F238E27FC236}">
                  <a16:creationId xmlns:a16="http://schemas.microsoft.com/office/drawing/2014/main" id="{8E5AEF97-E37F-4D95-9002-0C7EE57F5F11}"/>
                </a:ext>
              </a:extLst>
            </p:cNvPr>
            <p:cNvSpPr/>
            <p:nvPr/>
          </p:nvSpPr>
          <p:spPr>
            <a:xfrm>
              <a:off x="6621564" y="3215837"/>
              <a:ext cx="2306920" cy="612067"/>
            </a:xfrm>
            <a:prstGeom prst="roundRect">
              <a:avLst/>
            </a:prstGeom>
          </p:spPr>
          <p:style>
            <a:lnRef idx="2">
              <a:schemeClr val="accent1"/>
            </a:lnRef>
            <a:fillRef idx="1">
              <a:schemeClr val="lt1"/>
            </a:fillRef>
            <a:effectRef idx="0">
              <a:schemeClr val="accent1"/>
            </a:effectRef>
            <a:fontRef idx="minor">
              <a:schemeClr val="dk1"/>
            </a:fontRef>
          </p:style>
          <p:txBody>
            <a:bodyPr lIns="36000" tIns="36000" rIns="36000" bIns="36000" rtlCol="0" anchor="ctr"/>
            <a:lstStyle/>
            <a:p>
              <a:r>
                <a:rPr lang="zh-TW" altLang="en-US" sz="1800" b="1" dirty="0">
                  <a:solidFill>
                    <a:schemeClr val="tx1"/>
                  </a:solidFill>
                  <a:latin typeface="微軟正黑體" pitchFamily="34" charset="-120"/>
                  <a:ea typeface="微軟正黑體" pitchFamily="34" charset="-120"/>
                </a:rPr>
                <a:t>判斷是否屬於明顯</a:t>
              </a:r>
              <a:r>
                <a:rPr lang="en-US" altLang="zh-TW" sz="1800" b="1" dirty="0">
                  <a:solidFill>
                    <a:schemeClr val="tx1"/>
                  </a:solidFill>
                  <a:latin typeface="微軟正黑體" pitchFamily="34" charset="-120"/>
                  <a:ea typeface="微軟正黑體" pitchFamily="34" charset="-120"/>
                </a:rPr>
                <a:t>(</a:t>
              </a:r>
              <a:r>
                <a:rPr lang="zh-TW" altLang="en-US" sz="1800" b="1" dirty="0">
                  <a:solidFill>
                    <a:schemeClr val="tx1"/>
                  </a:solidFill>
                  <a:latin typeface="微軟正黑體" pitchFamily="34" charset="-120"/>
                  <a:ea typeface="微軟正黑體" pitchFamily="34" charset="-120"/>
                </a:rPr>
                <a:t>不明顯</a:t>
              </a:r>
              <a:r>
                <a:rPr lang="en-US" altLang="zh-TW" sz="1800" b="1" dirty="0">
                  <a:solidFill>
                    <a:schemeClr val="tx1"/>
                  </a:solidFill>
                  <a:latin typeface="微軟正黑體" pitchFamily="34" charset="-120"/>
                  <a:ea typeface="微軟正黑體" pitchFamily="34" charset="-120"/>
                </a:rPr>
                <a:t>)</a:t>
              </a:r>
              <a:r>
                <a:rPr lang="zh-TW" altLang="en-US" sz="1800" b="1" dirty="0">
                  <a:solidFill>
                    <a:schemeClr val="tx1"/>
                  </a:solidFill>
                  <a:latin typeface="微軟正黑體" pitchFamily="34" charset="-120"/>
                  <a:ea typeface="微軟正黑體" pitchFamily="34" charset="-120"/>
                </a:rPr>
                <a:t>符合發明定義</a:t>
              </a:r>
            </a:p>
          </p:txBody>
        </p:sp>
        <p:sp>
          <p:nvSpPr>
            <p:cNvPr id="23" name="圓角矩形 32">
              <a:extLst>
                <a:ext uri="{FF2B5EF4-FFF2-40B4-BE49-F238E27FC236}">
                  <a16:creationId xmlns:a16="http://schemas.microsoft.com/office/drawing/2014/main" id="{B8B91EEC-37B4-44E6-BF4D-B633DD3822DD}"/>
                </a:ext>
              </a:extLst>
            </p:cNvPr>
            <p:cNvSpPr/>
            <p:nvPr/>
          </p:nvSpPr>
          <p:spPr>
            <a:xfrm>
              <a:off x="6621564" y="4087885"/>
              <a:ext cx="2306920" cy="836180"/>
            </a:xfrm>
            <a:prstGeom prst="round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lIns="36000" tIns="36000" rIns="36000" bIns="36000" rtlCol="0" anchor="ctr"/>
            <a:lstStyle/>
            <a:p>
              <a:r>
                <a:rPr lang="zh-TW" altLang="en-US" sz="1800" b="1" dirty="0">
                  <a:solidFill>
                    <a:schemeClr val="tx1"/>
                  </a:solidFill>
                  <a:latin typeface="微軟正黑體" pitchFamily="34" charset="-120"/>
                  <a:ea typeface="微軟正黑體" pitchFamily="34" charset="-120"/>
                </a:rPr>
                <a:t>判斷藉助電腦軟體</a:t>
              </a:r>
              <a:r>
                <a:rPr lang="zh-TW" altLang="en-US" b="1" dirty="0">
                  <a:solidFill>
                    <a:schemeClr val="tx1"/>
                  </a:solidFill>
                  <a:latin typeface="微軟正黑體" pitchFamily="34" charset="-120"/>
                  <a:ea typeface="微軟正黑體" pitchFamily="34" charset="-120"/>
                </a:rPr>
                <a:t>之資訊處理是否係利用穎體資源具體實現</a:t>
              </a:r>
              <a:endParaRPr lang="zh-TW" altLang="en-US" sz="1800" b="1" dirty="0">
                <a:solidFill>
                  <a:schemeClr val="tx1"/>
                </a:solidFill>
                <a:latin typeface="微軟正黑體" pitchFamily="34" charset="-120"/>
                <a:ea typeface="微軟正黑體" pitchFamily="34" charset="-120"/>
              </a:endParaRPr>
            </a:p>
          </p:txBody>
        </p:sp>
        <p:cxnSp>
          <p:nvCxnSpPr>
            <p:cNvPr id="24" name="肘形接點 33">
              <a:extLst>
                <a:ext uri="{FF2B5EF4-FFF2-40B4-BE49-F238E27FC236}">
                  <a16:creationId xmlns:a16="http://schemas.microsoft.com/office/drawing/2014/main" id="{2F8A746D-B156-433A-9FBF-86A6716D994B}"/>
                </a:ext>
              </a:extLst>
            </p:cNvPr>
            <p:cNvCxnSpPr>
              <a:endCxn id="23" idx="1"/>
            </p:cNvCxnSpPr>
            <p:nvPr/>
          </p:nvCxnSpPr>
          <p:spPr>
            <a:xfrm rot="16200000" flipH="1">
              <a:off x="5688553" y="3572964"/>
              <a:ext cx="1580652" cy="28536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2D7B860A-C54A-4F4C-B493-1A100526F334}"/>
                </a:ext>
              </a:extLst>
            </p:cNvPr>
            <p:cNvCxnSpPr>
              <a:endCxn id="22" idx="1"/>
            </p:cNvCxnSpPr>
            <p:nvPr/>
          </p:nvCxnSpPr>
          <p:spPr>
            <a:xfrm flipV="1">
              <a:off x="6336195" y="3521871"/>
              <a:ext cx="285369" cy="1116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9" name="群組 38">
            <a:extLst>
              <a:ext uri="{FF2B5EF4-FFF2-40B4-BE49-F238E27FC236}">
                <a16:creationId xmlns:a16="http://schemas.microsoft.com/office/drawing/2014/main" id="{01EDA482-9FC7-D47E-6C11-E6402EA6C4A1}"/>
              </a:ext>
            </a:extLst>
          </p:cNvPr>
          <p:cNvGrpSpPr/>
          <p:nvPr/>
        </p:nvGrpSpPr>
        <p:grpSpPr>
          <a:xfrm>
            <a:off x="877880" y="1110985"/>
            <a:ext cx="3264202" cy="5245365"/>
            <a:chOff x="539552" y="1110985"/>
            <a:chExt cx="3264202" cy="5245365"/>
          </a:xfrm>
        </p:grpSpPr>
        <p:sp>
          <p:nvSpPr>
            <p:cNvPr id="6" name="圓角矩形 4">
              <a:extLst>
                <a:ext uri="{FF2B5EF4-FFF2-40B4-BE49-F238E27FC236}">
                  <a16:creationId xmlns:a16="http://schemas.microsoft.com/office/drawing/2014/main" id="{568E2ECD-A56B-47B9-89BE-32E734433DFD}"/>
                </a:ext>
              </a:extLst>
            </p:cNvPr>
            <p:cNvSpPr/>
            <p:nvPr/>
          </p:nvSpPr>
          <p:spPr>
            <a:xfrm>
              <a:off x="539552" y="1734303"/>
              <a:ext cx="3264202" cy="432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zh-TW" altLang="en-US" b="1" dirty="0">
                  <a:solidFill>
                    <a:schemeClr val="tx1"/>
                  </a:solidFill>
                  <a:latin typeface="微軟正黑體" pitchFamily="34" charset="-120"/>
                  <a:ea typeface="微軟正黑體" pitchFamily="34" charset="-120"/>
                </a:rPr>
                <a:t>不符發明定義的態樣</a:t>
              </a:r>
              <a:endParaRPr lang="zh-TW" altLang="en-US" sz="1800" b="1" dirty="0">
                <a:solidFill>
                  <a:schemeClr val="tx1"/>
                </a:solidFill>
                <a:latin typeface="微軟正黑體" pitchFamily="34" charset="-120"/>
                <a:ea typeface="微軟正黑體" pitchFamily="34" charset="-120"/>
              </a:endParaRPr>
            </a:p>
          </p:txBody>
        </p:sp>
        <p:sp>
          <p:nvSpPr>
            <p:cNvPr id="7" name="圓角矩形 5">
              <a:extLst>
                <a:ext uri="{FF2B5EF4-FFF2-40B4-BE49-F238E27FC236}">
                  <a16:creationId xmlns:a16="http://schemas.microsoft.com/office/drawing/2014/main" id="{46A66054-99AE-44AA-A063-095BFBD36818}"/>
                </a:ext>
              </a:extLst>
            </p:cNvPr>
            <p:cNvSpPr/>
            <p:nvPr/>
          </p:nvSpPr>
          <p:spPr>
            <a:xfrm>
              <a:off x="995442" y="2854381"/>
              <a:ext cx="2808312" cy="432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TW" altLang="en-US" sz="1800" b="1" dirty="0">
                  <a:solidFill>
                    <a:schemeClr val="tx1"/>
                  </a:solidFill>
                  <a:latin typeface="微軟正黑體" pitchFamily="34" charset="-120"/>
                  <a:ea typeface="微軟正黑體" pitchFamily="34" charset="-120"/>
                </a:rPr>
                <a:t>單純的發現</a:t>
              </a:r>
            </a:p>
          </p:txBody>
        </p:sp>
        <p:sp>
          <p:nvSpPr>
            <p:cNvPr id="8" name="圓角矩形 6">
              <a:extLst>
                <a:ext uri="{FF2B5EF4-FFF2-40B4-BE49-F238E27FC236}">
                  <a16:creationId xmlns:a16="http://schemas.microsoft.com/office/drawing/2014/main" id="{3DB98998-57AF-4F54-89D7-7D39C7631832}"/>
                </a:ext>
              </a:extLst>
            </p:cNvPr>
            <p:cNvSpPr/>
            <p:nvPr/>
          </p:nvSpPr>
          <p:spPr>
            <a:xfrm>
              <a:off x="995442" y="3402043"/>
              <a:ext cx="2808312" cy="432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TW" altLang="en-US" sz="1800" b="1" dirty="0">
                  <a:solidFill>
                    <a:schemeClr val="tx1"/>
                  </a:solidFill>
                  <a:latin typeface="微軟正黑體" pitchFamily="34" charset="-120"/>
                  <a:ea typeface="微軟正黑體" pitchFamily="34" charset="-120"/>
                </a:rPr>
                <a:t>違反自然法則者</a:t>
              </a:r>
            </a:p>
          </p:txBody>
        </p:sp>
        <p:sp>
          <p:nvSpPr>
            <p:cNvPr id="9" name="圓角矩形 7">
              <a:extLst>
                <a:ext uri="{FF2B5EF4-FFF2-40B4-BE49-F238E27FC236}">
                  <a16:creationId xmlns:a16="http://schemas.microsoft.com/office/drawing/2014/main" id="{C4298B18-B592-46BB-B43E-587FFC63F52B}"/>
                </a:ext>
              </a:extLst>
            </p:cNvPr>
            <p:cNvSpPr/>
            <p:nvPr/>
          </p:nvSpPr>
          <p:spPr>
            <a:xfrm>
              <a:off x="984176" y="3949705"/>
              <a:ext cx="2808312" cy="432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TW" altLang="en-US" sz="1800" b="1" dirty="0">
                  <a:solidFill>
                    <a:schemeClr val="tx1"/>
                  </a:solidFill>
                  <a:latin typeface="微軟正黑體" pitchFamily="34" charset="-120"/>
                  <a:ea typeface="微軟正黑體" pitchFamily="34" charset="-120"/>
                </a:rPr>
                <a:t>非利用自然法則者</a:t>
              </a:r>
            </a:p>
          </p:txBody>
        </p:sp>
        <p:sp>
          <p:nvSpPr>
            <p:cNvPr id="10" name="圓角矩形 8">
              <a:extLst>
                <a:ext uri="{FF2B5EF4-FFF2-40B4-BE49-F238E27FC236}">
                  <a16:creationId xmlns:a16="http://schemas.microsoft.com/office/drawing/2014/main" id="{CB40EE0F-F778-41CB-B505-98E362E6155F}"/>
                </a:ext>
              </a:extLst>
            </p:cNvPr>
            <p:cNvSpPr/>
            <p:nvPr/>
          </p:nvSpPr>
          <p:spPr>
            <a:xfrm>
              <a:off x="984176" y="4497367"/>
              <a:ext cx="2808312" cy="432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TW" altLang="en-US" sz="1800" b="1" dirty="0">
                  <a:solidFill>
                    <a:schemeClr val="tx1"/>
                  </a:solidFill>
                  <a:latin typeface="微軟正黑體" pitchFamily="34" charset="-120"/>
                  <a:ea typeface="微軟正黑體" pitchFamily="34" charset="-120"/>
                </a:rPr>
                <a:t>非技術思想者</a:t>
              </a:r>
            </a:p>
          </p:txBody>
        </p:sp>
        <p:sp>
          <p:nvSpPr>
            <p:cNvPr id="11" name="圓角矩形 22">
              <a:extLst>
                <a:ext uri="{FF2B5EF4-FFF2-40B4-BE49-F238E27FC236}">
                  <a16:creationId xmlns:a16="http://schemas.microsoft.com/office/drawing/2014/main" id="{DB7C321A-3B1F-4E3D-9A47-B0D38D6A6F71}"/>
                </a:ext>
              </a:extLst>
            </p:cNvPr>
            <p:cNvSpPr/>
            <p:nvPr/>
          </p:nvSpPr>
          <p:spPr>
            <a:xfrm>
              <a:off x="1695872" y="1110985"/>
              <a:ext cx="1512168" cy="4320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sz="1800" b="1" dirty="0">
                  <a:solidFill>
                    <a:srgbClr val="C00000"/>
                  </a:solidFill>
                  <a:latin typeface="微軟正黑體" pitchFamily="34" charset="-120"/>
                  <a:ea typeface="微軟正黑體" pitchFamily="34" charset="-120"/>
                </a:rPr>
                <a:t>通則</a:t>
              </a:r>
            </a:p>
          </p:txBody>
        </p:sp>
        <p:sp>
          <p:nvSpPr>
            <p:cNvPr id="12" name="圓角矩形 40">
              <a:extLst>
                <a:ext uri="{FF2B5EF4-FFF2-40B4-BE49-F238E27FC236}">
                  <a16:creationId xmlns:a16="http://schemas.microsoft.com/office/drawing/2014/main" id="{89D6A6B8-AEB3-416B-A5AB-53E2144533DD}"/>
                </a:ext>
              </a:extLst>
            </p:cNvPr>
            <p:cNvSpPr/>
            <p:nvPr/>
          </p:nvSpPr>
          <p:spPr>
            <a:xfrm>
              <a:off x="1485568" y="5045029"/>
              <a:ext cx="2306920" cy="36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TW" altLang="en-US" sz="1800" b="1" dirty="0">
                  <a:solidFill>
                    <a:schemeClr val="tx1"/>
                  </a:solidFill>
                  <a:latin typeface="微軟正黑體" pitchFamily="34" charset="-120"/>
                  <a:ea typeface="微軟正黑體" pitchFamily="34" charset="-120"/>
                </a:rPr>
                <a:t>技能</a:t>
              </a:r>
            </a:p>
          </p:txBody>
        </p:sp>
        <p:sp>
          <p:nvSpPr>
            <p:cNvPr id="13" name="圓角矩形 43">
              <a:extLst>
                <a:ext uri="{FF2B5EF4-FFF2-40B4-BE49-F238E27FC236}">
                  <a16:creationId xmlns:a16="http://schemas.microsoft.com/office/drawing/2014/main" id="{55C1ECE8-3101-454D-8364-197E1B264730}"/>
                </a:ext>
              </a:extLst>
            </p:cNvPr>
            <p:cNvSpPr/>
            <p:nvPr/>
          </p:nvSpPr>
          <p:spPr>
            <a:xfrm>
              <a:off x="1485568" y="5520691"/>
              <a:ext cx="2306920" cy="36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TW" altLang="en-US" sz="1800" b="1" dirty="0">
                  <a:solidFill>
                    <a:schemeClr val="tx1"/>
                  </a:solidFill>
                  <a:latin typeface="微軟正黑體" pitchFamily="34" charset="-120"/>
                  <a:ea typeface="微軟正黑體" pitchFamily="34" charset="-120"/>
                </a:rPr>
                <a:t>單純的資訊揭示</a:t>
              </a:r>
            </a:p>
          </p:txBody>
        </p:sp>
        <p:sp>
          <p:nvSpPr>
            <p:cNvPr id="14" name="圓角矩形 44">
              <a:extLst>
                <a:ext uri="{FF2B5EF4-FFF2-40B4-BE49-F238E27FC236}">
                  <a16:creationId xmlns:a16="http://schemas.microsoft.com/office/drawing/2014/main" id="{E24915D6-D258-443C-B3A5-DE9D7172D79D}"/>
                </a:ext>
              </a:extLst>
            </p:cNvPr>
            <p:cNvSpPr/>
            <p:nvPr/>
          </p:nvSpPr>
          <p:spPr>
            <a:xfrm>
              <a:off x="1485568" y="5996350"/>
              <a:ext cx="2306920" cy="36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TW" altLang="en-US" sz="1800" b="1" dirty="0">
                  <a:solidFill>
                    <a:schemeClr val="tx1"/>
                  </a:solidFill>
                  <a:latin typeface="微軟正黑體" pitchFamily="34" charset="-120"/>
                  <a:ea typeface="微軟正黑體" pitchFamily="34" charset="-120"/>
                </a:rPr>
                <a:t>單純的美術創作</a:t>
              </a:r>
            </a:p>
          </p:txBody>
        </p:sp>
        <p:cxnSp>
          <p:nvCxnSpPr>
            <p:cNvPr id="15" name="肘形接點 50">
              <a:extLst>
                <a:ext uri="{FF2B5EF4-FFF2-40B4-BE49-F238E27FC236}">
                  <a16:creationId xmlns:a16="http://schemas.microsoft.com/office/drawing/2014/main" id="{AC20C7C9-9B04-4978-B126-72DB4E2AA332}"/>
                </a:ext>
              </a:extLst>
            </p:cNvPr>
            <p:cNvCxnSpPr>
              <a:cxnSpLocks/>
              <a:endCxn id="13" idx="1"/>
            </p:cNvCxnSpPr>
            <p:nvPr/>
          </p:nvCxnSpPr>
          <p:spPr>
            <a:xfrm rot="16200000" flipH="1">
              <a:off x="940018" y="5155140"/>
              <a:ext cx="756493" cy="334608"/>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E94A7161-CA20-4C45-A1A7-92CDF07C9208}"/>
                </a:ext>
              </a:extLst>
            </p:cNvPr>
            <p:cNvCxnSpPr>
              <a:cxnSpLocks/>
              <a:endCxn id="12" idx="1"/>
            </p:cNvCxnSpPr>
            <p:nvPr/>
          </p:nvCxnSpPr>
          <p:spPr>
            <a:xfrm>
              <a:off x="1150958" y="5225029"/>
              <a:ext cx="3346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肘形接點 54">
              <a:extLst>
                <a:ext uri="{FF2B5EF4-FFF2-40B4-BE49-F238E27FC236}">
                  <a16:creationId xmlns:a16="http://schemas.microsoft.com/office/drawing/2014/main" id="{BE79D973-FADB-4445-A934-18865B3B94B7}"/>
                </a:ext>
              </a:extLst>
            </p:cNvPr>
            <p:cNvCxnSpPr>
              <a:cxnSpLocks/>
              <a:endCxn id="14" idx="1"/>
            </p:cNvCxnSpPr>
            <p:nvPr/>
          </p:nvCxnSpPr>
          <p:spPr>
            <a:xfrm rot="16200000" flipH="1">
              <a:off x="1073019" y="5763800"/>
              <a:ext cx="490489" cy="334610"/>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 name="圓角矩形 4">
              <a:extLst>
                <a:ext uri="{FF2B5EF4-FFF2-40B4-BE49-F238E27FC236}">
                  <a16:creationId xmlns:a16="http://schemas.microsoft.com/office/drawing/2014/main" id="{273C9F72-A26A-CF3C-F650-F04C1950A6BE}"/>
                </a:ext>
              </a:extLst>
            </p:cNvPr>
            <p:cNvSpPr/>
            <p:nvPr/>
          </p:nvSpPr>
          <p:spPr>
            <a:xfrm>
              <a:off x="995442" y="2306719"/>
              <a:ext cx="2808312" cy="432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TW" altLang="en-US" sz="1800" b="1" dirty="0">
                  <a:solidFill>
                    <a:schemeClr val="tx1"/>
                  </a:solidFill>
                  <a:latin typeface="微軟正黑體" pitchFamily="34" charset="-120"/>
                  <a:ea typeface="微軟正黑體" pitchFamily="34" charset="-120"/>
                </a:rPr>
                <a:t>自然法則本身</a:t>
              </a:r>
            </a:p>
          </p:txBody>
        </p:sp>
        <p:cxnSp>
          <p:nvCxnSpPr>
            <p:cNvPr id="30" name="接點: 肘形 29">
              <a:extLst>
                <a:ext uri="{FF2B5EF4-FFF2-40B4-BE49-F238E27FC236}">
                  <a16:creationId xmlns:a16="http://schemas.microsoft.com/office/drawing/2014/main" id="{325E04E3-0AC2-5DAA-7307-B910E0CC9D0D}"/>
                </a:ext>
              </a:extLst>
            </p:cNvPr>
            <p:cNvCxnSpPr>
              <a:cxnSpLocks/>
              <a:endCxn id="10" idx="1"/>
            </p:cNvCxnSpPr>
            <p:nvPr/>
          </p:nvCxnSpPr>
          <p:spPr>
            <a:xfrm rot="16200000" flipH="1">
              <a:off x="-419640" y="3309551"/>
              <a:ext cx="2522262" cy="285370"/>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E177BC15-09DA-C4EC-A5D4-658EACB1AE6A}"/>
                </a:ext>
              </a:extLst>
            </p:cNvPr>
            <p:cNvCxnSpPr>
              <a:cxnSpLocks/>
            </p:cNvCxnSpPr>
            <p:nvPr/>
          </p:nvCxnSpPr>
          <p:spPr>
            <a:xfrm flipH="1">
              <a:off x="683677" y="2522719"/>
              <a:ext cx="300498" cy="1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5FD98F7B-E0DB-9F2D-D58D-5C2FA1E14B92}"/>
                </a:ext>
              </a:extLst>
            </p:cNvPr>
            <p:cNvCxnSpPr>
              <a:cxnSpLocks/>
            </p:cNvCxnSpPr>
            <p:nvPr/>
          </p:nvCxnSpPr>
          <p:spPr>
            <a:xfrm flipH="1">
              <a:off x="683677" y="3075765"/>
              <a:ext cx="300498" cy="1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746F6E6C-08FB-D462-84A8-C79B35ADBE61}"/>
                </a:ext>
              </a:extLst>
            </p:cNvPr>
            <p:cNvCxnSpPr>
              <a:cxnSpLocks/>
            </p:cNvCxnSpPr>
            <p:nvPr/>
          </p:nvCxnSpPr>
          <p:spPr>
            <a:xfrm flipH="1">
              <a:off x="683677" y="3628811"/>
              <a:ext cx="300498" cy="1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C5906124-6E67-6F6D-1439-1C73EB70291F}"/>
                </a:ext>
              </a:extLst>
            </p:cNvPr>
            <p:cNvCxnSpPr>
              <a:cxnSpLocks/>
            </p:cNvCxnSpPr>
            <p:nvPr/>
          </p:nvCxnSpPr>
          <p:spPr>
            <a:xfrm flipH="1">
              <a:off x="683677" y="4181857"/>
              <a:ext cx="300498" cy="1025"/>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52071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不符發明定義</a:t>
            </a:r>
          </a:p>
        </p:txBody>
      </p:sp>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pPr>
                <a:defRPr/>
              </a:pPr>
              <a:t>25</a:t>
            </a:fld>
            <a:endParaRPr lang="zh-TW" altLang="en-US"/>
          </a:p>
        </p:txBody>
      </p:sp>
      <p:sp>
        <p:nvSpPr>
          <p:cNvPr id="5" name="文字方塊 4"/>
          <p:cNvSpPr txBox="1"/>
          <p:nvPr/>
        </p:nvSpPr>
        <p:spPr>
          <a:xfrm>
            <a:off x="4572000" y="1553741"/>
            <a:ext cx="4104456" cy="40011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indent="981075" algn="r"/>
            <a:r>
              <a:rPr lang="zh-TW" altLang="en-US" sz="2000" b="1" dirty="0">
                <a:solidFill>
                  <a:schemeClr val="tx1"/>
                </a:solidFill>
                <a:latin typeface="微軟正黑體" panose="020B0604030504040204" pitchFamily="34" charset="-120"/>
                <a:ea typeface="微軟正黑體" panose="020B0604030504040204" pitchFamily="34" charset="-120"/>
              </a:rPr>
              <a:t>技術思想</a:t>
            </a:r>
          </a:p>
        </p:txBody>
      </p:sp>
      <p:sp>
        <p:nvSpPr>
          <p:cNvPr id="6" name="文字方塊 5"/>
          <p:cNvSpPr txBox="1"/>
          <p:nvPr/>
        </p:nvSpPr>
        <p:spPr>
          <a:xfrm>
            <a:off x="395536" y="1553741"/>
            <a:ext cx="4176464"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zh-TW" altLang="en-US" sz="2000" b="1" dirty="0">
                <a:solidFill>
                  <a:schemeClr val="tx1"/>
                </a:solidFill>
                <a:latin typeface="微軟正黑體" panose="020B0604030504040204" pitchFamily="34" charset="-120"/>
                <a:ea typeface="微軟正黑體" panose="020B0604030504040204" pitchFamily="34" charset="-120"/>
              </a:rPr>
              <a:t>利用自然法則</a:t>
            </a:r>
          </a:p>
        </p:txBody>
      </p:sp>
      <p:sp>
        <p:nvSpPr>
          <p:cNvPr id="7" name="文字方塊 6"/>
          <p:cNvSpPr txBox="1"/>
          <p:nvPr/>
        </p:nvSpPr>
        <p:spPr>
          <a:xfrm>
            <a:off x="395536" y="2057797"/>
            <a:ext cx="4032448" cy="3960440"/>
          </a:xfrm>
          <a:prstGeom prst="rect">
            <a:avLst/>
          </a:prstGeom>
        </p:spPr>
        <p:style>
          <a:lnRef idx="2">
            <a:schemeClr val="dk1"/>
          </a:lnRef>
          <a:fillRef idx="1">
            <a:schemeClr val="lt1"/>
          </a:fillRef>
          <a:effectRef idx="0">
            <a:schemeClr val="dk1"/>
          </a:effectRef>
          <a:fontRef idx="minor">
            <a:schemeClr val="dk1"/>
          </a:fontRef>
        </p:style>
        <p:txBody>
          <a:bodyPr wrap="square" rtlCol="0">
            <a:noAutofit/>
          </a:bodyPr>
          <a:lstStyle/>
          <a:p>
            <a:pPr marL="285750" indent="-285750">
              <a:lnSpc>
                <a:spcPts val="2500"/>
              </a:lnSpc>
              <a:spcBef>
                <a:spcPts val="600"/>
              </a:spcBef>
              <a:buFont typeface="Arial" panose="020B0604020202020204" pitchFamily="34" charset="0"/>
              <a:buChar char="•"/>
            </a:pPr>
            <a:r>
              <a:rPr lang="zh-TW" altLang="en-US" sz="2000" dirty="0">
                <a:solidFill>
                  <a:srgbClr val="002060"/>
                </a:solidFill>
                <a:latin typeface="微軟正黑體" pitchFamily="34" charset="-120"/>
                <a:ea typeface="微軟正黑體" pitchFamily="34" charset="-120"/>
              </a:rPr>
              <a:t>自然法則本身</a:t>
            </a:r>
            <a:endParaRPr lang="en-US" altLang="zh-TW" sz="2000" dirty="0">
              <a:solidFill>
                <a:srgbClr val="002060"/>
              </a:solidFill>
              <a:latin typeface="微軟正黑體" pitchFamily="34" charset="-120"/>
              <a:ea typeface="微軟正黑體" pitchFamily="34" charset="-120"/>
            </a:endParaRPr>
          </a:p>
          <a:p>
            <a:pPr marL="285750" indent="-285750">
              <a:lnSpc>
                <a:spcPts val="2500"/>
              </a:lnSpc>
              <a:spcBef>
                <a:spcPts val="600"/>
              </a:spcBef>
              <a:buFont typeface="Arial" panose="020B0604020202020204" pitchFamily="34" charset="0"/>
              <a:buChar char="•"/>
            </a:pPr>
            <a:r>
              <a:rPr lang="zh-TW" altLang="en-US" sz="2000" dirty="0">
                <a:solidFill>
                  <a:srgbClr val="000066"/>
                </a:solidFill>
                <a:latin typeface="微軟正黑體" pitchFamily="34" charset="-120"/>
                <a:ea typeface="微軟正黑體" pitchFamily="34" charset="-120"/>
              </a:rPr>
              <a:t>單純發現</a:t>
            </a:r>
            <a:endParaRPr lang="en-US" altLang="zh-TW" sz="2000" dirty="0">
              <a:solidFill>
                <a:srgbClr val="000066"/>
              </a:solidFill>
              <a:latin typeface="微軟正黑體" pitchFamily="34" charset="-120"/>
              <a:ea typeface="微軟正黑體" pitchFamily="34" charset="-120"/>
            </a:endParaRPr>
          </a:p>
          <a:p>
            <a:pPr marL="742950" lvl="1" indent="-285750">
              <a:lnSpc>
                <a:spcPts val="2500"/>
              </a:lnSpc>
              <a:spcBef>
                <a:spcPts val="600"/>
              </a:spcBef>
              <a:buFont typeface="Arial" panose="020B0604020202020204" pitchFamily="34" charset="0"/>
              <a:buChar char="•"/>
            </a:pPr>
            <a:r>
              <a:rPr lang="zh-TW" altLang="zh-TW" sz="2000" b="0" dirty="0">
                <a:solidFill>
                  <a:srgbClr val="000066"/>
                </a:solidFill>
                <a:latin typeface="微軟正黑體" panose="020B0604030504040204" pitchFamily="34" charset="-120"/>
                <a:ea typeface="微軟正黑體" panose="020B0604030504040204" pitchFamily="34" charset="-120"/>
              </a:rPr>
              <a:t>發現自然界中已知物之特性的行為本身並無技術性</a:t>
            </a:r>
            <a:endParaRPr lang="en-US" altLang="zh-TW" sz="2000" b="0" dirty="0">
              <a:solidFill>
                <a:srgbClr val="000066"/>
              </a:solidFill>
              <a:latin typeface="微軟正黑體" pitchFamily="34" charset="-120"/>
              <a:ea typeface="微軟正黑體" pitchFamily="34" charset="-120"/>
            </a:endParaRPr>
          </a:p>
          <a:p>
            <a:pPr marL="285750" indent="-285750">
              <a:lnSpc>
                <a:spcPts val="2500"/>
              </a:lnSpc>
              <a:spcBef>
                <a:spcPts val="600"/>
              </a:spcBef>
              <a:buFont typeface="Arial" panose="020B0604020202020204" pitchFamily="34" charset="0"/>
              <a:buChar char="•"/>
            </a:pPr>
            <a:r>
              <a:rPr lang="zh-TW" altLang="en-US" sz="2000" dirty="0">
                <a:solidFill>
                  <a:srgbClr val="002060"/>
                </a:solidFill>
                <a:latin typeface="微軟正黑體" pitchFamily="34" charset="-120"/>
                <a:ea typeface="微軟正黑體" pitchFamily="34" charset="-120"/>
              </a:rPr>
              <a:t>違反自然法則者</a:t>
            </a:r>
            <a:endParaRPr lang="en-US" altLang="zh-TW" sz="2000" dirty="0">
              <a:solidFill>
                <a:srgbClr val="002060"/>
              </a:solidFill>
              <a:latin typeface="微軟正黑體" pitchFamily="34" charset="-120"/>
              <a:ea typeface="微軟正黑體" pitchFamily="34" charset="-120"/>
            </a:endParaRPr>
          </a:p>
          <a:p>
            <a:pPr marL="742950" lvl="1" indent="-285750">
              <a:lnSpc>
                <a:spcPts val="2500"/>
              </a:lnSpc>
              <a:spcBef>
                <a:spcPts val="600"/>
              </a:spcBef>
              <a:buFont typeface="Arial" panose="020B0604020202020204" pitchFamily="34" charset="0"/>
              <a:buChar char="•"/>
            </a:pPr>
            <a:r>
              <a:rPr lang="zh-TW" altLang="en-US" sz="2000" b="0" dirty="0">
                <a:solidFill>
                  <a:srgbClr val="002060"/>
                </a:solidFill>
                <a:latin typeface="微軟正黑體" pitchFamily="34" charset="-120"/>
                <a:ea typeface="微軟正黑體" pitchFamily="34" charset="-120"/>
              </a:rPr>
              <a:t>違反能量守恆定律的永動機</a:t>
            </a:r>
            <a:endParaRPr lang="en-US" altLang="zh-TW" sz="2000" b="0" dirty="0">
              <a:solidFill>
                <a:srgbClr val="002060"/>
              </a:solidFill>
              <a:latin typeface="微軟正黑體" pitchFamily="34" charset="-120"/>
              <a:ea typeface="微軟正黑體" pitchFamily="34" charset="-120"/>
            </a:endParaRPr>
          </a:p>
          <a:p>
            <a:pPr>
              <a:lnSpc>
                <a:spcPts val="2500"/>
              </a:lnSpc>
              <a:spcBef>
                <a:spcPts val="600"/>
              </a:spcBef>
              <a:buFont typeface="Arial" panose="020B0604020202020204" pitchFamily="34" charset="0"/>
              <a:buChar char="•"/>
            </a:pPr>
            <a:r>
              <a:rPr lang="zh-TW" altLang="en-US" sz="2000" dirty="0">
                <a:solidFill>
                  <a:srgbClr val="C00000"/>
                </a:solidFill>
                <a:latin typeface="微軟正黑體" pitchFamily="34" charset="-120"/>
                <a:ea typeface="微軟正黑體" pitchFamily="34" charset="-120"/>
              </a:rPr>
              <a:t>   非利用自然法則</a:t>
            </a:r>
            <a:endParaRPr lang="en-US" altLang="zh-TW" sz="2000" dirty="0">
              <a:solidFill>
                <a:srgbClr val="C00000"/>
              </a:solidFill>
              <a:latin typeface="微軟正黑體" pitchFamily="34" charset="-120"/>
              <a:ea typeface="微軟正黑體" pitchFamily="34" charset="-120"/>
            </a:endParaRPr>
          </a:p>
          <a:p>
            <a:pPr marL="714375" lvl="1" indent="-268288">
              <a:lnSpc>
                <a:spcPts val="2500"/>
              </a:lnSpc>
              <a:spcBef>
                <a:spcPts val="600"/>
              </a:spcBef>
              <a:buFont typeface="Arial" panose="020B0604020202020204" pitchFamily="34" charset="0"/>
              <a:buChar char="•"/>
            </a:pPr>
            <a:r>
              <a:rPr lang="zh-TW" altLang="en-US" sz="2000" b="0" dirty="0">
                <a:solidFill>
                  <a:srgbClr val="C00000"/>
                </a:solidFill>
                <a:latin typeface="微軟正黑體" pitchFamily="34" charset="-120"/>
                <a:ea typeface="微軟正黑體" pitchFamily="34" charset="-120"/>
              </a:rPr>
              <a:t>人為安排、數學公式、人為規則、程式語言、商業方法</a:t>
            </a:r>
            <a:endParaRPr lang="en-US" altLang="zh-TW" sz="2000" b="0" dirty="0">
              <a:solidFill>
                <a:srgbClr val="C00000"/>
              </a:solidFill>
              <a:latin typeface="微軟正黑體" pitchFamily="34" charset="-120"/>
              <a:ea typeface="微軟正黑體" pitchFamily="34" charset="-120"/>
            </a:endParaRPr>
          </a:p>
          <a:p>
            <a:pPr marL="714375" lvl="1" indent="-268288">
              <a:lnSpc>
                <a:spcPts val="2500"/>
              </a:lnSpc>
              <a:spcBef>
                <a:spcPts val="600"/>
              </a:spcBef>
              <a:buFont typeface="Arial" panose="020B0604020202020204" pitchFamily="34" charset="0"/>
              <a:buChar char="•"/>
            </a:pPr>
            <a:r>
              <a:rPr lang="zh-TW" altLang="en-US" sz="2000" u="sng" dirty="0">
                <a:solidFill>
                  <a:srgbClr val="C00000"/>
                </a:solidFill>
                <a:latin typeface="微軟正黑體" pitchFamily="34" charset="-120"/>
                <a:ea typeface="微軟正黑體" pitchFamily="34" charset="-120"/>
              </a:rPr>
              <a:t>人為安排的工具使用</a:t>
            </a:r>
            <a:endParaRPr lang="en-US" altLang="zh-TW" sz="2000" b="0" u="sng" dirty="0">
              <a:solidFill>
                <a:srgbClr val="C00000"/>
              </a:solidFill>
              <a:latin typeface="微軟正黑體" pitchFamily="34" charset="-120"/>
              <a:ea typeface="微軟正黑體" pitchFamily="34" charset="-120"/>
            </a:endParaRPr>
          </a:p>
        </p:txBody>
      </p:sp>
      <p:sp>
        <p:nvSpPr>
          <p:cNvPr id="8" name="文字方塊 7"/>
          <p:cNvSpPr txBox="1"/>
          <p:nvPr/>
        </p:nvSpPr>
        <p:spPr>
          <a:xfrm>
            <a:off x="4644939" y="2057797"/>
            <a:ext cx="4032448" cy="3960440"/>
          </a:xfrm>
          <a:prstGeom prst="rect">
            <a:avLst/>
          </a:prstGeom>
        </p:spPr>
        <p:style>
          <a:lnRef idx="2">
            <a:schemeClr val="dk1"/>
          </a:lnRef>
          <a:fillRef idx="1">
            <a:schemeClr val="lt1"/>
          </a:fillRef>
          <a:effectRef idx="0">
            <a:schemeClr val="dk1"/>
          </a:effectRef>
          <a:fontRef idx="minor">
            <a:schemeClr val="dk1"/>
          </a:fontRef>
        </p:style>
        <p:txBody>
          <a:bodyPr wrap="square" rtlCol="0">
            <a:noAutofit/>
          </a:bodyPr>
          <a:lstStyle/>
          <a:p>
            <a:pPr marL="266700" indent="-266700">
              <a:lnSpc>
                <a:spcPts val="2500"/>
              </a:lnSpc>
              <a:spcBef>
                <a:spcPts val="600"/>
              </a:spcBef>
              <a:buFont typeface="Arial" panose="020B0604020202020204" pitchFamily="34" charset="0"/>
              <a:buChar char="•"/>
            </a:pPr>
            <a:r>
              <a:rPr lang="zh-TW" altLang="en-US" sz="2000" dirty="0">
                <a:solidFill>
                  <a:srgbClr val="C00000"/>
                </a:solidFill>
                <a:latin typeface="微軟正黑體" pitchFamily="34" charset="-120"/>
                <a:ea typeface="微軟正黑體" pitchFamily="34" charset="-120"/>
              </a:rPr>
              <a:t>非技術思想</a:t>
            </a:r>
            <a:endParaRPr lang="en-US" altLang="zh-TW" sz="2000" dirty="0">
              <a:solidFill>
                <a:srgbClr val="C00000"/>
              </a:solidFill>
              <a:latin typeface="微軟正黑體" pitchFamily="34" charset="-120"/>
              <a:ea typeface="微軟正黑體" pitchFamily="34" charset="-120"/>
            </a:endParaRPr>
          </a:p>
          <a:p>
            <a:pPr marL="542925" lvl="1" indent="-180975">
              <a:lnSpc>
                <a:spcPts val="2500"/>
              </a:lnSpc>
              <a:spcBef>
                <a:spcPts val="600"/>
              </a:spcBef>
              <a:buFont typeface="Arial" panose="020B0604020202020204" pitchFamily="34" charset="0"/>
              <a:buChar char="•"/>
            </a:pPr>
            <a:r>
              <a:rPr lang="zh-TW" altLang="en-US" sz="2000" b="0" dirty="0">
                <a:solidFill>
                  <a:srgbClr val="C00000"/>
                </a:solidFill>
                <a:latin typeface="微軟正黑體" pitchFamily="34" charset="-120"/>
                <a:ea typeface="微軟正黑體" pitchFamily="34" charset="-120"/>
              </a:rPr>
              <a:t>單純資訊揭示</a:t>
            </a:r>
            <a:endParaRPr lang="en-US" altLang="zh-TW" sz="2000" b="0" dirty="0">
              <a:solidFill>
                <a:srgbClr val="C00000"/>
              </a:solidFill>
              <a:latin typeface="微軟正黑體" pitchFamily="34" charset="-120"/>
              <a:ea typeface="微軟正黑體" pitchFamily="34" charset="-120"/>
            </a:endParaRPr>
          </a:p>
          <a:p>
            <a:pPr marL="276225" indent="-276225">
              <a:lnSpc>
                <a:spcPts val="2500"/>
              </a:lnSpc>
              <a:spcBef>
                <a:spcPts val="600"/>
              </a:spcBef>
              <a:buFont typeface="Arial" panose="020B0604020202020204" pitchFamily="34" charset="0"/>
              <a:buChar char="•"/>
            </a:pPr>
            <a:r>
              <a:rPr lang="zh-TW" altLang="en-US" sz="2000" dirty="0">
                <a:solidFill>
                  <a:srgbClr val="C00000"/>
                </a:solidFill>
                <a:latin typeface="微軟正黑體" pitchFamily="34" charset="-120"/>
                <a:ea typeface="微軟正黑體" pitchFamily="34" charset="-120"/>
              </a:rPr>
              <a:t>軟體觀點</a:t>
            </a:r>
            <a:r>
              <a:rPr lang="en-US" altLang="zh-TW" sz="2000" dirty="0">
                <a:solidFill>
                  <a:srgbClr val="C00000"/>
                </a:solidFill>
                <a:latin typeface="微軟正黑體" pitchFamily="34" charset="-120"/>
                <a:ea typeface="微軟正黑體" pitchFamily="34" charset="-120"/>
              </a:rPr>
              <a:t>(</a:t>
            </a:r>
            <a:r>
              <a:rPr lang="zh-TW" altLang="en-US" sz="2000" dirty="0">
                <a:solidFill>
                  <a:srgbClr val="C00000"/>
                </a:solidFill>
                <a:latin typeface="微軟正黑體" pitchFamily="34" charset="-120"/>
                <a:ea typeface="微軟正黑體" pitchFamily="34" charset="-120"/>
              </a:rPr>
              <a:t>藉助電腦軟體之資訊處理係利用硬體資源具體實現</a:t>
            </a:r>
            <a:r>
              <a:rPr lang="en-US" altLang="zh-TW" sz="2000" dirty="0">
                <a:solidFill>
                  <a:srgbClr val="C00000"/>
                </a:solidFill>
                <a:latin typeface="微軟正黑體" pitchFamily="34" charset="-120"/>
                <a:ea typeface="微軟正黑體" pitchFamily="34" charset="-120"/>
              </a:rPr>
              <a:t>)</a:t>
            </a:r>
          </a:p>
          <a:p>
            <a:pPr marL="733425" lvl="1" indent="-276225">
              <a:lnSpc>
                <a:spcPts val="2500"/>
              </a:lnSpc>
              <a:spcBef>
                <a:spcPts val="600"/>
              </a:spcBef>
              <a:buFont typeface="Arial" panose="020B0604020202020204" pitchFamily="34" charset="0"/>
              <a:buChar char="•"/>
            </a:pPr>
            <a:r>
              <a:rPr lang="zh-TW" altLang="en-US" sz="2000" b="0" dirty="0">
                <a:solidFill>
                  <a:srgbClr val="C00000"/>
                </a:solidFill>
                <a:latin typeface="微軟正黑體" pitchFamily="34" charset="-120"/>
                <a:ea typeface="微軟正黑體" pitchFamily="34" charset="-120"/>
              </a:rPr>
              <a:t>藉由電腦軟、硬體資源協同運作</a:t>
            </a:r>
            <a:endParaRPr lang="en-US" altLang="zh-TW" sz="2000" b="0" dirty="0">
              <a:solidFill>
                <a:srgbClr val="C00000"/>
              </a:solidFill>
              <a:latin typeface="微軟正黑體" pitchFamily="34" charset="-120"/>
              <a:ea typeface="微軟正黑體" pitchFamily="34" charset="-120"/>
            </a:endParaRPr>
          </a:p>
          <a:p>
            <a:pPr marL="733425" lvl="1" indent="-276225">
              <a:lnSpc>
                <a:spcPts val="2500"/>
              </a:lnSpc>
              <a:spcBef>
                <a:spcPts val="600"/>
              </a:spcBef>
              <a:buFont typeface="Arial" panose="020B0604020202020204" pitchFamily="34" charset="0"/>
              <a:buChar char="•"/>
            </a:pPr>
            <a:r>
              <a:rPr lang="zh-TW" altLang="en-US" sz="2000" dirty="0">
                <a:solidFill>
                  <a:srgbClr val="C00000"/>
                </a:solidFill>
                <a:latin typeface="微軟正黑體" pitchFamily="34" charset="-120"/>
                <a:ea typeface="微軟正黑體" pitchFamily="34" charset="-120"/>
              </a:rPr>
              <a:t>依據資訊處理目的建構出</a:t>
            </a:r>
            <a:r>
              <a:rPr lang="zh-TW" altLang="en-US" sz="2000" u="sng" dirty="0">
                <a:solidFill>
                  <a:srgbClr val="C00000"/>
                </a:solidFill>
                <a:latin typeface="微軟正黑體" pitchFamily="34" charset="-120"/>
                <a:ea typeface="微軟正黑體" pitchFamily="34" charset="-120"/>
              </a:rPr>
              <a:t>特定資訊處理</a:t>
            </a:r>
            <a:endParaRPr lang="en-US" altLang="zh-TW" sz="2000" b="0" u="sng" dirty="0">
              <a:solidFill>
                <a:srgbClr val="C00000"/>
              </a:solidFill>
              <a:latin typeface="微軟正黑體" pitchFamily="34" charset="-120"/>
              <a:ea typeface="微軟正黑體" pitchFamily="34" charset="-120"/>
            </a:endParaRPr>
          </a:p>
          <a:p>
            <a:pPr marL="733425" lvl="1" indent="-276225">
              <a:lnSpc>
                <a:spcPts val="2500"/>
              </a:lnSpc>
              <a:spcBef>
                <a:spcPts val="600"/>
              </a:spcBef>
              <a:buFont typeface="Arial" panose="020B0604020202020204" pitchFamily="34" charset="0"/>
              <a:buChar char="•"/>
            </a:pPr>
            <a:endParaRPr lang="en-US" altLang="zh-TW" sz="2000" b="0" dirty="0">
              <a:solidFill>
                <a:srgbClr val="FF0000"/>
              </a:solidFill>
              <a:latin typeface="微軟正黑體" pitchFamily="34" charset="-120"/>
              <a:ea typeface="微軟正黑體" pitchFamily="34" charset="-120"/>
            </a:endParaRPr>
          </a:p>
        </p:txBody>
      </p:sp>
      <p:sp>
        <p:nvSpPr>
          <p:cNvPr id="9" name="圓角矩形 8"/>
          <p:cNvSpPr/>
          <p:nvPr/>
        </p:nvSpPr>
        <p:spPr>
          <a:xfrm>
            <a:off x="3131840" y="1585522"/>
            <a:ext cx="2880319" cy="28803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2000" dirty="0">
                <a:solidFill>
                  <a:prstClr val="black"/>
                </a:solidFill>
                <a:latin typeface="微軟正黑體" pitchFamily="34" charset="-120"/>
                <a:ea typeface="微軟正黑體" pitchFamily="34" charset="-120"/>
              </a:rPr>
              <a:t>違反專利法第</a:t>
            </a:r>
            <a:r>
              <a:rPr lang="en-US" altLang="zh-TW" sz="2000" dirty="0">
                <a:solidFill>
                  <a:prstClr val="black"/>
                </a:solidFill>
                <a:latin typeface="微軟正黑體" pitchFamily="34" charset="-120"/>
                <a:ea typeface="微軟正黑體" pitchFamily="34" charset="-120"/>
              </a:rPr>
              <a:t>21</a:t>
            </a:r>
            <a:r>
              <a:rPr lang="zh-TW" altLang="en-US" sz="2000" dirty="0">
                <a:solidFill>
                  <a:prstClr val="black"/>
                </a:solidFill>
                <a:latin typeface="微軟正黑體" pitchFamily="34" charset="-120"/>
                <a:ea typeface="微軟正黑體" pitchFamily="34" charset="-120"/>
              </a:rPr>
              <a:t>條類型</a:t>
            </a:r>
          </a:p>
        </p:txBody>
      </p:sp>
      <p:sp>
        <p:nvSpPr>
          <p:cNvPr id="10" name="文字方塊 9"/>
          <p:cNvSpPr txBox="1"/>
          <p:nvPr/>
        </p:nvSpPr>
        <p:spPr>
          <a:xfrm>
            <a:off x="395536" y="1121693"/>
            <a:ext cx="8280920" cy="40011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TW" altLang="en-US" sz="2000" b="0" dirty="0">
                <a:solidFill>
                  <a:prstClr val="black">
                    <a:lumMod val="95000"/>
                    <a:lumOff val="5000"/>
                  </a:prstClr>
                </a:solidFill>
                <a:latin typeface="微軟正黑體" panose="020B0604030504040204" pitchFamily="34" charset="-120"/>
                <a:ea typeface="微軟正黑體" panose="020B0604030504040204" pitchFamily="34" charset="-120"/>
              </a:rPr>
              <a:t>  發明定義 </a:t>
            </a:r>
            <a:r>
              <a:rPr lang="en-US" altLang="zh-TW" sz="2000" b="0" dirty="0">
                <a:solidFill>
                  <a:prstClr val="black">
                    <a:lumMod val="95000"/>
                    <a:lumOff val="5000"/>
                  </a:prstClr>
                </a:solidFill>
                <a:latin typeface="微軟正黑體" panose="020B0604030504040204" pitchFamily="34" charset="-120"/>
                <a:ea typeface="微軟正黑體" panose="020B0604030504040204" pitchFamily="34" charset="-120"/>
              </a:rPr>
              <a:t>/</a:t>
            </a:r>
            <a:r>
              <a:rPr lang="zh-TW" altLang="en-US" sz="2000" b="0" dirty="0">
                <a:solidFill>
                  <a:prstClr val="black">
                    <a:lumMod val="95000"/>
                    <a:lumOff val="5000"/>
                  </a:prstClr>
                </a:solidFill>
                <a:latin typeface="微軟正黑體" panose="020B0604030504040204" pitchFamily="34" charset="-120"/>
                <a:ea typeface="微軟正黑體" panose="020B0604030504040204" pitchFamily="34" charset="-120"/>
              </a:rPr>
              <a:t> 專利標的適格性 </a:t>
            </a:r>
            <a:r>
              <a:rPr lang="en-US" altLang="zh-TW" sz="2000" b="0" dirty="0">
                <a:solidFill>
                  <a:prstClr val="black">
                    <a:lumMod val="95000"/>
                    <a:lumOff val="5000"/>
                  </a:prstClr>
                </a:solidFill>
                <a:latin typeface="微軟正黑體" panose="020B0604030504040204" pitchFamily="34" charset="-120"/>
                <a:ea typeface="微軟正黑體" panose="020B0604030504040204" pitchFamily="34" charset="-120"/>
              </a:rPr>
              <a:t>/</a:t>
            </a:r>
            <a:r>
              <a:rPr lang="zh-TW" altLang="en-US" sz="2000" b="0" dirty="0">
                <a:solidFill>
                  <a:prstClr val="black">
                    <a:lumMod val="95000"/>
                    <a:lumOff val="5000"/>
                  </a:prstClr>
                </a:solidFill>
                <a:latin typeface="微軟正黑體" panose="020B0604030504040204" pitchFamily="34" charset="-120"/>
                <a:ea typeface="微軟正黑體" panose="020B0604030504040204" pitchFamily="34" charset="-120"/>
              </a:rPr>
              <a:t> 發明整體具</a:t>
            </a:r>
            <a:r>
              <a:rPr lang="zh-TW" altLang="en-US" sz="2000" dirty="0">
                <a:solidFill>
                  <a:schemeClr val="tx1"/>
                </a:solidFill>
                <a:latin typeface="微軟正黑體" panose="020B0604030504040204" pitchFamily="34" charset="-120"/>
                <a:ea typeface="微軟正黑體" panose="020B0604030504040204" pitchFamily="34" charset="-120"/>
              </a:rPr>
              <a:t>技術性</a:t>
            </a:r>
          </a:p>
        </p:txBody>
      </p:sp>
    </p:spTree>
    <p:extLst>
      <p:ext uri="{BB962C8B-B14F-4D97-AF65-F5344CB8AC3E}">
        <p14:creationId xmlns:p14="http://schemas.microsoft.com/office/powerpoint/2010/main" val="3577955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17427" y="1520876"/>
            <a:ext cx="8847062" cy="5109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r>
              <a:rPr lang="zh-TW" altLang="en-US" dirty="0"/>
              <a:t>電腦軟體發明定義</a:t>
            </a:r>
          </a:p>
        </p:txBody>
      </p:sp>
      <p:sp>
        <p:nvSpPr>
          <p:cNvPr id="4" name="投影片編號版面配置區 3"/>
          <p:cNvSpPr>
            <a:spLocks noGrp="1"/>
          </p:cNvSpPr>
          <p:nvPr>
            <p:ph type="sldNum" sz="quarter" idx="12"/>
          </p:nvPr>
        </p:nvSpPr>
        <p:spPr>
          <a:xfrm>
            <a:off x="6962775" y="6499225"/>
            <a:ext cx="2133600" cy="365125"/>
          </a:xfrm>
        </p:spPr>
        <p:txBody>
          <a:bodyPr/>
          <a:lstStyle/>
          <a:p>
            <a:pPr>
              <a:defRPr/>
            </a:pPr>
            <a:fld id="{B83ACBEE-1837-4398-8376-AF0F7C4E2424}" type="slidenum">
              <a:rPr lang="zh-TW" altLang="en-US" smtClean="0"/>
              <a:pPr>
                <a:defRPr/>
              </a:pPr>
              <a:t>26</a:t>
            </a:fld>
            <a:endParaRPr lang="zh-TW" altLang="en-US" dirty="0"/>
          </a:p>
        </p:txBody>
      </p:sp>
      <p:sp>
        <p:nvSpPr>
          <p:cNvPr id="3" name="文字方塊 2"/>
          <p:cNvSpPr txBox="1"/>
          <p:nvPr/>
        </p:nvSpPr>
        <p:spPr>
          <a:xfrm>
            <a:off x="113978" y="899195"/>
            <a:ext cx="1338828" cy="369332"/>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zh-TW" altLang="en-US" dirty="0">
                <a:latin typeface="微軟正黑體" panose="020B0604030504040204" pitchFamily="34" charset="-120"/>
                <a:ea typeface="微軟正黑體" panose="020B0604030504040204" pitchFamily="34" charset="-120"/>
              </a:rPr>
              <a:t>判斷對象：</a:t>
            </a:r>
          </a:p>
        </p:txBody>
      </p:sp>
      <p:sp>
        <p:nvSpPr>
          <p:cNvPr id="5" name="矩形 4"/>
          <p:cNvSpPr/>
          <p:nvPr/>
        </p:nvSpPr>
        <p:spPr>
          <a:xfrm>
            <a:off x="1452806" y="765845"/>
            <a:ext cx="7651610" cy="923330"/>
          </a:xfrm>
          <a:prstGeom prst="rect">
            <a:avLst/>
          </a:prstGeom>
        </p:spPr>
        <p:txBody>
          <a:bodyPr wrap="square">
            <a:spAutoFit/>
          </a:bodyPr>
          <a:lstStyle/>
          <a:p>
            <a:r>
              <a:rPr lang="zh-TW" altLang="en-US" dirty="0">
                <a:latin typeface="微軟正黑體" panose="020B0604030504040204" pitchFamily="34" charset="-120"/>
                <a:ea typeface="微軟正黑體" panose="020B0604030504040204" pitchFamily="34" charset="-120"/>
              </a:rPr>
              <a:t>審查人員應先確定申請專利之發明的範圍，於解釋請求項時，得審酌說明書及圖式，惟</a:t>
            </a:r>
            <a:r>
              <a:rPr lang="zh-TW" altLang="en-US" b="1" u="sng" dirty="0">
                <a:latin typeface="微軟正黑體" panose="020B0604030504040204" pitchFamily="34" charset="-120"/>
                <a:ea typeface="微軟正黑體" panose="020B0604030504040204" pitchFamily="34" charset="-120"/>
              </a:rPr>
              <a:t>不得將說明書或圖式有揭露但請求項未記載之內容引入請求項</a:t>
            </a:r>
            <a:r>
              <a:rPr lang="zh-TW" altLang="en-US" dirty="0">
                <a:latin typeface="微軟正黑體" panose="020B0604030504040204" pitchFamily="34" charset="-120"/>
                <a:ea typeface="微軟正黑體" panose="020B0604030504040204" pitchFamily="34" charset="-120"/>
              </a:rPr>
              <a:t>。</a:t>
            </a:r>
          </a:p>
        </p:txBody>
      </p:sp>
      <p:sp>
        <p:nvSpPr>
          <p:cNvPr id="7" name="文字方塊 6"/>
          <p:cNvSpPr txBox="1"/>
          <p:nvPr/>
        </p:nvSpPr>
        <p:spPr>
          <a:xfrm>
            <a:off x="131937" y="1556792"/>
            <a:ext cx="1338828" cy="369332"/>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zh-TW" altLang="en-US" dirty="0">
                <a:latin typeface="微軟正黑體" panose="020B0604030504040204" pitchFamily="34" charset="-120"/>
                <a:ea typeface="微軟正黑體" panose="020B0604030504040204" pitchFamily="34" charset="-120"/>
              </a:rPr>
              <a:t>判斷步驟：</a:t>
            </a:r>
          </a:p>
        </p:txBody>
      </p:sp>
    </p:spTree>
    <p:extLst>
      <p:ext uri="{BB962C8B-B14F-4D97-AF65-F5344CB8AC3E}">
        <p14:creationId xmlns:p14="http://schemas.microsoft.com/office/powerpoint/2010/main" val="3024530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軟體專利特性</a:t>
            </a:r>
          </a:p>
        </p:txBody>
      </p:sp>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pPr>
                <a:defRPr/>
              </a:pPr>
              <a:t>27</a:t>
            </a:fld>
            <a:endParaRPr lang="zh-TW" altLang="en-US"/>
          </a:p>
        </p:txBody>
      </p:sp>
      <p:sp>
        <p:nvSpPr>
          <p:cNvPr id="5" name="矩形 4"/>
          <p:cNvSpPr/>
          <p:nvPr/>
        </p:nvSpPr>
        <p:spPr>
          <a:xfrm>
            <a:off x="4644008" y="1118549"/>
            <a:ext cx="4032448" cy="138666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216000" rtlCol="0" anchor="ctr"/>
          <a:lstStyle/>
          <a:p>
            <a:pPr marL="263525" indent="-263525">
              <a:spcBef>
                <a:spcPts val="1200"/>
              </a:spcBef>
              <a:buFont typeface="Arial" panose="020B0604020202020204" pitchFamily="34" charset="0"/>
              <a:buChar char="•"/>
            </a:pPr>
            <a:r>
              <a:rPr lang="zh-TW" altLang="en-US" b="0" dirty="0">
                <a:solidFill>
                  <a:schemeClr val="tx1"/>
                </a:solidFill>
                <a:latin typeface="微軟正黑體" panose="020B0604030504040204" pitchFamily="34" charset="-120"/>
                <a:ea typeface="微軟正黑體" panose="020B0604030504040204" pitchFamily="34" charset="-120"/>
              </a:rPr>
              <a:t>硬體元件</a:t>
            </a:r>
            <a:endParaRPr lang="en-US" altLang="zh-TW" b="0" dirty="0">
              <a:solidFill>
                <a:schemeClr val="tx1"/>
              </a:solidFill>
              <a:latin typeface="微軟正黑體" panose="020B0604030504040204" pitchFamily="34" charset="-120"/>
              <a:ea typeface="微軟正黑體" panose="020B0604030504040204" pitchFamily="34" charset="-120"/>
            </a:endParaRPr>
          </a:p>
          <a:p>
            <a:pPr marL="265113" indent="-265113">
              <a:buFont typeface="Arial" panose="020B0604020202020204" pitchFamily="34" charset="0"/>
              <a:buChar char="•"/>
            </a:pPr>
            <a:r>
              <a:rPr lang="zh-TW" altLang="en-US" dirty="0">
                <a:solidFill>
                  <a:schemeClr val="tx1"/>
                </a:solidFill>
                <a:latin typeface="微軟正黑體" panose="020B0604030504040204" pitchFamily="34" charset="-120"/>
                <a:ea typeface="微軟正黑體" panose="020B0604030504040204" pitchFamily="34" charset="-120"/>
              </a:rPr>
              <a:t>軟體元件</a:t>
            </a:r>
            <a:endParaRPr lang="en-US" altLang="zh-TW" dirty="0">
              <a:solidFill>
                <a:schemeClr val="tx1"/>
              </a:solidFill>
              <a:latin typeface="微軟正黑體" panose="020B0604030504040204" pitchFamily="34" charset="-120"/>
              <a:ea typeface="微軟正黑體" panose="020B0604030504040204" pitchFamily="34" charset="-120"/>
            </a:endParaRPr>
          </a:p>
          <a:p>
            <a:pPr marL="625475" lvl="1" indent="-285750">
              <a:buFont typeface="Wingdings" panose="05000000000000000000" pitchFamily="2" charset="2"/>
              <a:buChar char="ü"/>
            </a:pPr>
            <a:r>
              <a:rPr lang="zh-TW" altLang="en-US" b="0" dirty="0">
                <a:solidFill>
                  <a:schemeClr val="tx1"/>
                </a:solidFill>
                <a:latin typeface="微軟正黑體" panose="020B0604030504040204" pitchFamily="34" charset="-120"/>
                <a:ea typeface="微軟正黑體" panose="020B0604030504040204" pitchFamily="34" charset="-120"/>
              </a:rPr>
              <a:t>控制機器、技術性質之資訊處理</a:t>
            </a:r>
            <a:endParaRPr lang="en-US" altLang="zh-TW" b="0" dirty="0">
              <a:solidFill>
                <a:schemeClr val="tx1"/>
              </a:solidFill>
              <a:latin typeface="微軟正黑體" panose="020B0604030504040204" pitchFamily="34" charset="-120"/>
              <a:ea typeface="微軟正黑體" panose="020B0604030504040204" pitchFamily="34" charset="-120"/>
            </a:endParaRPr>
          </a:p>
          <a:p>
            <a:pPr marL="625475" lvl="1" indent="-285750">
              <a:buFont typeface="Wingdings" panose="05000000000000000000" pitchFamily="2" charset="2"/>
              <a:buChar char="ü"/>
            </a:pPr>
            <a:r>
              <a:rPr lang="zh-TW" altLang="en-US" dirty="0">
                <a:solidFill>
                  <a:schemeClr val="tx1"/>
                </a:solidFill>
                <a:latin typeface="微軟正黑體" panose="020B0604030504040204" pitchFamily="34" charset="-120"/>
                <a:ea typeface="微軟正黑體" panose="020B0604030504040204" pitchFamily="34" charset="-120"/>
              </a:rPr>
              <a:t>軟硬體協同之資訊處理</a:t>
            </a:r>
            <a:endParaRPr lang="en-US" altLang="zh-TW" b="0" dirty="0">
              <a:solidFill>
                <a:schemeClr val="tx1"/>
              </a:solidFill>
              <a:latin typeface="微軟正黑體" panose="020B0604030504040204" pitchFamily="34" charset="-120"/>
              <a:ea typeface="微軟正黑體" panose="020B0604030504040204" pitchFamily="34" charset="-120"/>
            </a:endParaRPr>
          </a:p>
        </p:txBody>
      </p:sp>
      <p:sp>
        <p:nvSpPr>
          <p:cNvPr id="6" name="矩形 5"/>
          <p:cNvSpPr/>
          <p:nvPr/>
        </p:nvSpPr>
        <p:spPr>
          <a:xfrm>
            <a:off x="662047" y="4656438"/>
            <a:ext cx="3312368" cy="432048"/>
          </a:xfrm>
          <a:prstGeom prst="rect">
            <a:avLst/>
          </a:prstGeom>
          <a:gradFill>
            <a:gsLst>
              <a:gs pos="0">
                <a:schemeClr val="accent2">
                  <a:tint val="50000"/>
                  <a:satMod val="300000"/>
                  <a:alpha val="7000"/>
                </a:schemeClr>
              </a:gs>
              <a:gs pos="35000">
                <a:schemeClr val="accent2">
                  <a:tint val="37000"/>
                  <a:satMod val="300000"/>
                </a:schemeClr>
              </a:gs>
              <a:gs pos="100000">
                <a:schemeClr val="accent2">
                  <a:tint val="15000"/>
                  <a:satMod val="350000"/>
                </a:schemeClr>
              </a:gs>
            </a:gsLst>
          </a:gra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7" name="矩形 6"/>
          <p:cNvSpPr/>
          <p:nvPr/>
        </p:nvSpPr>
        <p:spPr>
          <a:xfrm>
            <a:off x="522096" y="2276872"/>
            <a:ext cx="3456384" cy="64807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8" name="矩形 7"/>
          <p:cNvSpPr/>
          <p:nvPr/>
        </p:nvSpPr>
        <p:spPr>
          <a:xfrm>
            <a:off x="666112" y="3068960"/>
            <a:ext cx="3312368" cy="3600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9" name="矩形 8"/>
          <p:cNvSpPr/>
          <p:nvPr/>
        </p:nvSpPr>
        <p:spPr>
          <a:xfrm>
            <a:off x="666112" y="3506479"/>
            <a:ext cx="3312368" cy="28803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0" name="矩形 9"/>
          <p:cNvSpPr/>
          <p:nvPr/>
        </p:nvSpPr>
        <p:spPr>
          <a:xfrm>
            <a:off x="663716" y="4274622"/>
            <a:ext cx="827257" cy="28803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1" name="矩形 10"/>
          <p:cNvSpPr/>
          <p:nvPr/>
        </p:nvSpPr>
        <p:spPr>
          <a:xfrm>
            <a:off x="1490974" y="4274622"/>
            <a:ext cx="792088" cy="28803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2" name="矩形 11"/>
          <p:cNvSpPr/>
          <p:nvPr/>
        </p:nvSpPr>
        <p:spPr>
          <a:xfrm>
            <a:off x="2287419" y="4274622"/>
            <a:ext cx="1688666" cy="28803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3" name="矩形 12"/>
          <p:cNvSpPr/>
          <p:nvPr/>
        </p:nvSpPr>
        <p:spPr>
          <a:xfrm>
            <a:off x="663717" y="4656438"/>
            <a:ext cx="3312368" cy="432048"/>
          </a:xfrm>
          <a:prstGeom prst="rect">
            <a:avLst/>
          </a:prstGeom>
          <a:gradFill>
            <a:gsLst>
              <a:gs pos="0">
                <a:schemeClr val="accent3">
                  <a:tint val="50000"/>
                  <a:satMod val="300000"/>
                  <a:alpha val="0"/>
                </a:schemeClr>
              </a:gs>
              <a:gs pos="87000">
                <a:schemeClr val="accent3">
                  <a:tint val="37000"/>
                  <a:satMod val="300000"/>
                </a:schemeClr>
              </a:gs>
              <a:gs pos="100000">
                <a:schemeClr val="accent3">
                  <a:tint val="15000"/>
                  <a:satMod val="350000"/>
                </a:schemeClr>
              </a:gs>
            </a:gsLst>
          </a:gradFill>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4" name="矩形 13"/>
          <p:cNvSpPr/>
          <p:nvPr/>
        </p:nvSpPr>
        <p:spPr>
          <a:xfrm>
            <a:off x="666112" y="3871990"/>
            <a:ext cx="3312368" cy="28803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5" name="矩形 14"/>
          <p:cNvSpPr/>
          <p:nvPr/>
        </p:nvSpPr>
        <p:spPr>
          <a:xfrm>
            <a:off x="378080" y="1556792"/>
            <a:ext cx="3744416" cy="41157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p:cNvSpPr txBox="1"/>
          <p:nvPr/>
        </p:nvSpPr>
        <p:spPr>
          <a:xfrm>
            <a:off x="337751" y="1059871"/>
            <a:ext cx="1800493" cy="369332"/>
          </a:xfrm>
          <a:prstGeom prst="rect">
            <a:avLst/>
          </a:prstGeom>
          <a:noFill/>
        </p:spPr>
        <p:txBody>
          <a:bodyPr wrap="none" rtlCol="0">
            <a:spAutoFit/>
          </a:bodyPr>
          <a:lstStyle/>
          <a:p>
            <a:r>
              <a:rPr lang="zh-TW" altLang="en-US" b="0" dirty="0">
                <a:solidFill>
                  <a:schemeClr val="tx1"/>
                </a:solidFill>
                <a:latin typeface="微軟正黑體" panose="020B0604030504040204" pitchFamily="34" charset="-120"/>
                <a:ea typeface="微軟正黑體" panose="020B0604030504040204" pitchFamily="34" charset="-120"/>
              </a:rPr>
              <a:t>申請專利範圍：</a:t>
            </a:r>
          </a:p>
        </p:txBody>
      </p:sp>
      <p:sp>
        <p:nvSpPr>
          <p:cNvPr id="17" name="矩形 16"/>
          <p:cNvSpPr/>
          <p:nvPr/>
        </p:nvSpPr>
        <p:spPr>
          <a:xfrm>
            <a:off x="4995729" y="938529"/>
            <a:ext cx="3392693" cy="36004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技術手段</a:t>
            </a:r>
            <a:endParaRPr lang="zh-TW" altLang="en-US" b="0" dirty="0">
              <a:latin typeface="微軟正黑體" panose="020B0604030504040204" pitchFamily="34" charset="-120"/>
              <a:ea typeface="微軟正黑體" panose="020B0604030504040204" pitchFamily="34" charset="-120"/>
            </a:endParaRPr>
          </a:p>
        </p:txBody>
      </p:sp>
      <p:sp>
        <p:nvSpPr>
          <p:cNvPr id="20" name="矩形 19"/>
          <p:cNvSpPr/>
          <p:nvPr/>
        </p:nvSpPr>
        <p:spPr>
          <a:xfrm>
            <a:off x="385410" y="5951694"/>
            <a:ext cx="3347391" cy="461665"/>
          </a:xfrm>
          <a:prstGeom prst="rect">
            <a:avLst/>
          </a:prstGeom>
          <a:noFill/>
        </p:spPr>
        <p:txBody>
          <a:bodyPr wrap="none" lIns="91440" tIns="45720" rIns="91440" bIns="45720">
            <a:spAutoFit/>
          </a:bodyPr>
          <a:lstStyle/>
          <a:p>
            <a:pPr algn="ctr"/>
            <a:r>
              <a:rPr lang="zh-TW" altLang="en-US"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發明專利審查基準 通則</a:t>
            </a:r>
          </a:p>
        </p:txBody>
      </p:sp>
      <p:sp>
        <p:nvSpPr>
          <p:cNvPr id="21" name="矩形 20"/>
          <p:cNvSpPr/>
          <p:nvPr/>
        </p:nvSpPr>
        <p:spPr>
          <a:xfrm>
            <a:off x="5116197" y="5964087"/>
            <a:ext cx="3347391" cy="461665"/>
          </a:xfrm>
          <a:prstGeom prst="rect">
            <a:avLst/>
          </a:prstGeom>
          <a:noFill/>
        </p:spPr>
        <p:txBody>
          <a:bodyPr wrap="none" lIns="91440" tIns="45720" rIns="91440" bIns="45720">
            <a:spAutoFit/>
          </a:bodyPr>
          <a:lstStyle/>
          <a:p>
            <a:pPr algn="ctr"/>
            <a:r>
              <a:rPr lang="zh-TW" altLang="en-US"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電腦軟體相關發明 專章</a:t>
            </a:r>
          </a:p>
        </p:txBody>
      </p:sp>
      <p:sp>
        <p:nvSpPr>
          <p:cNvPr id="22" name="十字形 21"/>
          <p:cNvSpPr/>
          <p:nvPr/>
        </p:nvSpPr>
        <p:spPr>
          <a:xfrm>
            <a:off x="4104710" y="5850902"/>
            <a:ext cx="700613" cy="688033"/>
          </a:xfrm>
          <a:prstGeom prst="plus">
            <a:avLst>
              <a:gd name="adj" fmla="val 326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519408" y="1666155"/>
            <a:ext cx="1569660" cy="369332"/>
          </a:xfrm>
          <a:prstGeom prst="rect">
            <a:avLst/>
          </a:prstGeom>
          <a:noFill/>
        </p:spPr>
        <p:txBody>
          <a:bodyPr wrap="none" rtlCol="0">
            <a:spAutoFit/>
          </a:bodyPr>
          <a:lstStyle/>
          <a:p>
            <a:r>
              <a:rPr lang="zh-TW" altLang="en-US" b="0" dirty="0">
                <a:solidFill>
                  <a:schemeClr val="tx1"/>
                </a:solidFill>
                <a:latin typeface="微軟正黑體" panose="020B0604030504040204" pitchFamily="34" charset="-120"/>
                <a:ea typeface="微軟正黑體" panose="020B0604030504040204" pitchFamily="34" charset="-120"/>
              </a:rPr>
              <a:t>混合型請求項</a:t>
            </a:r>
          </a:p>
        </p:txBody>
      </p:sp>
      <p:grpSp>
        <p:nvGrpSpPr>
          <p:cNvPr id="25" name="群組 24"/>
          <p:cNvGrpSpPr/>
          <p:nvPr/>
        </p:nvGrpSpPr>
        <p:grpSpPr>
          <a:xfrm>
            <a:off x="4675851" y="2604973"/>
            <a:ext cx="4032448" cy="1955768"/>
            <a:chOff x="4644008" y="2440707"/>
            <a:chExt cx="4032448" cy="2032073"/>
          </a:xfrm>
        </p:grpSpPr>
        <p:sp>
          <p:nvSpPr>
            <p:cNvPr id="26" name="矩形 25"/>
            <p:cNvSpPr/>
            <p:nvPr/>
          </p:nvSpPr>
          <p:spPr>
            <a:xfrm>
              <a:off x="4644008" y="2612177"/>
              <a:ext cx="4032448" cy="186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endParaRPr lang="en-US" altLang="zh-TW" b="0" dirty="0">
                <a:solidFill>
                  <a:schemeClr val="tx1"/>
                </a:solidFill>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dirty="0">
                  <a:solidFill>
                    <a:schemeClr val="tx1"/>
                  </a:solidFill>
                  <a:latin typeface="微軟正黑體" panose="020B0604030504040204" pitchFamily="34" charset="-120"/>
                  <a:ea typeface="微軟正黑體" panose="020B0604030504040204" pitchFamily="34" charset="-120"/>
                </a:rPr>
                <a:t>人為安排</a:t>
              </a:r>
              <a:endParaRPr lang="en-US" altLang="zh-TW" b="0" dirty="0">
                <a:solidFill>
                  <a:schemeClr val="tx1"/>
                </a:solidFill>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b="0" dirty="0">
                  <a:solidFill>
                    <a:schemeClr val="tx1"/>
                  </a:solidFill>
                  <a:latin typeface="微軟正黑體" panose="020B0604030504040204" pitchFamily="34" charset="-120"/>
                  <a:ea typeface="微軟正黑體" panose="020B0604030504040204" pitchFamily="34" charset="-120"/>
                </a:rPr>
                <a:t>自然法則以外的知規律或人為規則</a:t>
              </a:r>
              <a:endParaRPr lang="en-US" altLang="zh-TW" b="0" dirty="0">
                <a:solidFill>
                  <a:schemeClr val="tx1"/>
                </a:solidFill>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b="0" dirty="0">
                  <a:solidFill>
                    <a:schemeClr val="tx1"/>
                  </a:solidFill>
                  <a:latin typeface="微軟正黑體" panose="020B0604030504040204" pitchFamily="34" charset="-120"/>
                  <a:ea typeface="微軟正黑體" panose="020B0604030504040204" pitchFamily="34" charset="-120"/>
                </a:rPr>
                <a:t>數學公式或數學方法</a:t>
              </a:r>
              <a:endParaRPr lang="en-US" altLang="zh-TW" b="0" dirty="0">
                <a:solidFill>
                  <a:schemeClr val="tx1"/>
                </a:solidFill>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b="0" dirty="0">
                  <a:solidFill>
                    <a:schemeClr val="tx1"/>
                  </a:solidFill>
                  <a:latin typeface="微軟正黑體" panose="020B0604030504040204" pitchFamily="34" charset="-120"/>
                  <a:ea typeface="微軟正黑體" panose="020B0604030504040204" pitchFamily="34" charset="-120"/>
                </a:rPr>
                <a:t>人類的精神或心智活動</a:t>
              </a:r>
              <a:endParaRPr lang="en-US" altLang="zh-TW" b="0" dirty="0">
                <a:solidFill>
                  <a:schemeClr val="tx1"/>
                </a:solidFill>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b="0" dirty="0">
                  <a:solidFill>
                    <a:schemeClr val="tx1"/>
                  </a:solidFill>
                  <a:latin typeface="微軟正黑體" panose="020B0604030504040204" pitchFamily="34" charset="-120"/>
                  <a:ea typeface="微軟正黑體" panose="020B0604030504040204" pitchFamily="34" charset="-120"/>
                </a:rPr>
                <a:t>僅利用前述者</a:t>
              </a:r>
              <a:endParaRPr lang="en-US" altLang="zh-TW" b="0" dirty="0">
                <a:solidFill>
                  <a:schemeClr val="tx1"/>
                </a:solidFill>
                <a:latin typeface="微軟正黑體" panose="020B0604030504040204" pitchFamily="34" charset="-120"/>
                <a:ea typeface="微軟正黑體" panose="020B0604030504040204" pitchFamily="34" charset="-120"/>
              </a:endParaRPr>
            </a:p>
          </p:txBody>
        </p:sp>
        <p:sp>
          <p:nvSpPr>
            <p:cNvPr id="27" name="矩形 26"/>
            <p:cNvSpPr/>
            <p:nvPr/>
          </p:nvSpPr>
          <p:spPr>
            <a:xfrm>
              <a:off x="4995731" y="2440707"/>
              <a:ext cx="3392692" cy="36004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b="0" dirty="0">
                  <a:latin typeface="微軟正黑體" panose="020B0604030504040204" pitchFamily="34" charset="-120"/>
                  <a:ea typeface="微軟正黑體" panose="020B0604030504040204" pitchFamily="34" charset="-120"/>
                </a:rPr>
                <a:t>非利用自然法則</a:t>
              </a:r>
            </a:p>
          </p:txBody>
        </p:sp>
      </p:grpSp>
      <p:grpSp>
        <p:nvGrpSpPr>
          <p:cNvPr id="28" name="群組 27"/>
          <p:cNvGrpSpPr/>
          <p:nvPr/>
        </p:nvGrpSpPr>
        <p:grpSpPr>
          <a:xfrm>
            <a:off x="4656855" y="4657517"/>
            <a:ext cx="4032448" cy="1097690"/>
            <a:chOff x="4644008" y="2440707"/>
            <a:chExt cx="4032448" cy="1140516"/>
          </a:xfrm>
        </p:grpSpPr>
        <p:sp>
          <p:nvSpPr>
            <p:cNvPr id="29" name="矩形 28"/>
            <p:cNvSpPr/>
            <p:nvPr/>
          </p:nvSpPr>
          <p:spPr>
            <a:xfrm>
              <a:off x="4644008" y="2612178"/>
              <a:ext cx="4032448" cy="96904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180000" bIns="0" rtlCol="0" anchor="ctr"/>
            <a:lstStyle/>
            <a:p>
              <a:pPr marL="342900" indent="-342900">
                <a:buFont typeface="Arial" panose="020B0604020202020204" pitchFamily="34" charset="0"/>
                <a:buChar char="•"/>
              </a:pPr>
              <a:r>
                <a:rPr lang="zh-TW" altLang="en-US" dirty="0">
                  <a:solidFill>
                    <a:schemeClr val="tx1"/>
                  </a:solidFill>
                  <a:latin typeface="微軟正黑體" panose="020B0604030504040204" pitchFamily="34" charset="-120"/>
                  <a:ea typeface="微軟正黑體" panose="020B0604030504040204" pitchFamily="34" charset="-120"/>
                </a:rPr>
                <a:t>技能</a:t>
              </a:r>
              <a:endParaRPr lang="en-US" altLang="zh-TW" b="0" dirty="0">
                <a:solidFill>
                  <a:schemeClr val="tx1"/>
                </a:solidFill>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b="0" dirty="0">
                  <a:solidFill>
                    <a:schemeClr val="tx1"/>
                  </a:solidFill>
                  <a:latin typeface="微軟正黑體" panose="020B0604030504040204" pitchFamily="34" charset="-120"/>
                  <a:ea typeface="微軟正黑體" panose="020B0604030504040204" pitchFamily="34" charset="-120"/>
                </a:rPr>
                <a:t>單純資訊揭示</a:t>
              </a:r>
              <a:endParaRPr lang="en-US" altLang="zh-TW" b="0" dirty="0">
                <a:solidFill>
                  <a:schemeClr val="tx1"/>
                </a:solidFill>
                <a:latin typeface="微軟正黑體" panose="020B0604030504040204" pitchFamily="34" charset="-120"/>
                <a:ea typeface="微軟正黑體" panose="020B0604030504040204" pitchFamily="34" charset="-120"/>
              </a:endParaRPr>
            </a:p>
          </p:txBody>
        </p:sp>
        <p:sp>
          <p:nvSpPr>
            <p:cNvPr id="30" name="矩形 29"/>
            <p:cNvSpPr/>
            <p:nvPr/>
          </p:nvSpPr>
          <p:spPr>
            <a:xfrm>
              <a:off x="4995731" y="2440707"/>
              <a:ext cx="3392692" cy="36004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b="0" dirty="0">
                  <a:latin typeface="微軟正黑體" panose="020B0604030504040204" pitchFamily="34" charset="-120"/>
                  <a:ea typeface="微軟正黑體" panose="020B0604030504040204" pitchFamily="34" charset="-120"/>
                </a:rPr>
                <a:t>非技術思想</a:t>
              </a:r>
            </a:p>
          </p:txBody>
        </p:sp>
      </p:grpSp>
    </p:spTree>
    <p:extLst>
      <p:ext uri="{BB962C8B-B14F-4D97-AF65-F5344CB8AC3E}">
        <p14:creationId xmlns:p14="http://schemas.microsoft.com/office/powerpoint/2010/main" val="41624658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a:spLocks noGrp="1"/>
          </p:cNvSpPr>
          <p:nvPr>
            <p:ph type="title"/>
          </p:nvPr>
        </p:nvSpPr>
        <p:spPr/>
        <p:txBody>
          <a:bodyPr/>
          <a:lstStyle/>
          <a:p>
            <a:r>
              <a:rPr lang="zh-TW" altLang="en-US" dirty="0"/>
              <a:t>電腦軟體發明定義</a:t>
            </a:r>
          </a:p>
        </p:txBody>
      </p:sp>
      <p:sp>
        <p:nvSpPr>
          <p:cNvPr id="3" name="內容版面配置區 2"/>
          <p:cNvSpPr>
            <a:spLocks noGrp="1"/>
          </p:cNvSpPr>
          <p:nvPr>
            <p:ph idx="1"/>
          </p:nvPr>
        </p:nvSpPr>
        <p:spPr>
          <a:xfrm>
            <a:off x="107504" y="836712"/>
            <a:ext cx="3826768" cy="360040"/>
          </a:xfrm>
        </p:spPr>
        <p:style>
          <a:lnRef idx="0">
            <a:schemeClr val="accent3"/>
          </a:lnRef>
          <a:fillRef idx="3">
            <a:schemeClr val="accent3"/>
          </a:fillRef>
          <a:effectRef idx="3">
            <a:schemeClr val="accent3"/>
          </a:effectRef>
          <a:fontRef idx="minor">
            <a:schemeClr val="lt1"/>
          </a:fontRef>
        </p:style>
        <p:txBody>
          <a:bodyPr>
            <a:normAutofit fontScale="92500" lnSpcReduction="10000"/>
          </a:bodyPr>
          <a:lstStyle/>
          <a:p>
            <a:pPr marL="0" indent="0">
              <a:buNone/>
            </a:pPr>
            <a:r>
              <a:rPr lang="zh-TW" altLang="en-US" sz="2000" dirty="0"/>
              <a:t>明顯符合發明定義之態樣</a:t>
            </a:r>
            <a:endParaRPr lang="en-US" altLang="zh-TW" sz="2000"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28</a:t>
            </a:fld>
            <a:endParaRPr lang="zh-TW" altLang="en-US"/>
          </a:p>
        </p:txBody>
      </p:sp>
      <p:sp>
        <p:nvSpPr>
          <p:cNvPr id="2" name="矩形 1"/>
          <p:cNvSpPr/>
          <p:nvPr/>
        </p:nvSpPr>
        <p:spPr>
          <a:xfrm>
            <a:off x="117848" y="1225327"/>
            <a:ext cx="5112568"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具體執行對於</a:t>
            </a:r>
            <a:r>
              <a:rPr lang="zh-TW" altLang="en-US" u="sng" dirty="0">
                <a:latin typeface="微軟正黑體" panose="020B0604030504040204" pitchFamily="34" charset="-120"/>
                <a:ea typeface="微軟正黑體" panose="020B0604030504040204" pitchFamily="34" charset="-120"/>
              </a:rPr>
              <a:t>機器等之控制</a:t>
            </a:r>
            <a:r>
              <a:rPr lang="zh-TW" altLang="en-US" dirty="0">
                <a:latin typeface="微軟正黑體" panose="020B0604030504040204" pitchFamily="34" charset="-120"/>
                <a:ea typeface="微軟正黑體" panose="020B0604030504040204" pitchFamily="34" charset="-120"/>
              </a:rPr>
              <a:t>或</a:t>
            </a:r>
            <a:r>
              <a:rPr lang="zh-TW" altLang="en-US" u="sng" dirty="0">
                <a:latin typeface="微軟正黑體" panose="020B0604030504040204" pitchFamily="34" charset="-120"/>
                <a:ea typeface="微軟正黑體" panose="020B0604030504040204" pitchFamily="34" charset="-120"/>
              </a:rPr>
              <a:t>伴隨控制之處理</a:t>
            </a:r>
            <a:r>
              <a:rPr lang="zh-TW" altLang="en-US" dirty="0">
                <a:latin typeface="微軟正黑體" panose="020B0604030504040204" pitchFamily="34" charset="-120"/>
                <a:ea typeface="微軟正黑體" panose="020B0604030504040204" pitchFamily="34" charset="-120"/>
              </a:rPr>
              <a:t>者</a:t>
            </a:r>
          </a:p>
        </p:txBody>
      </p:sp>
      <p:grpSp>
        <p:nvGrpSpPr>
          <p:cNvPr id="8" name="群組 7"/>
          <p:cNvGrpSpPr/>
          <p:nvPr/>
        </p:nvGrpSpPr>
        <p:grpSpPr>
          <a:xfrm>
            <a:off x="101452" y="1747478"/>
            <a:ext cx="8791028" cy="1092684"/>
            <a:chOff x="101452" y="1747478"/>
            <a:chExt cx="8791028" cy="1092684"/>
          </a:xfrm>
        </p:grpSpPr>
        <p:sp>
          <p:nvSpPr>
            <p:cNvPr id="6" name="矩形 5"/>
            <p:cNvSpPr/>
            <p:nvPr/>
          </p:nvSpPr>
          <p:spPr>
            <a:xfrm>
              <a:off x="101452" y="1916832"/>
              <a:ext cx="8791028" cy="92333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基於控制對象之機器等或與控制對象相關連之機器等的</a:t>
              </a:r>
              <a:r>
                <a:rPr lang="zh-TW" altLang="en-US" b="1" u="sng" dirty="0">
                  <a:latin typeface="微軟正黑體" panose="020B0604030504040204" pitchFamily="34" charset="-120"/>
                  <a:ea typeface="微軟正黑體" panose="020B0604030504040204" pitchFamily="34" charset="-120"/>
                </a:rPr>
                <a:t>構造、構件、組成</a:t>
              </a:r>
              <a:r>
                <a:rPr lang="zh-TW" altLang="en-US" dirty="0">
                  <a:latin typeface="微軟正黑體" panose="020B0604030504040204" pitchFamily="34" charset="-120"/>
                  <a:ea typeface="微軟正黑體" panose="020B0604030504040204" pitchFamily="34" charset="-120"/>
                </a:rPr>
                <a:t>、</a:t>
              </a:r>
              <a:r>
                <a:rPr lang="zh-TW" altLang="en-US" u="sng" dirty="0">
                  <a:solidFill>
                    <a:srgbClr val="C00000"/>
                  </a:solidFill>
                  <a:latin typeface="微軟正黑體" panose="020B0604030504040204" pitchFamily="34" charset="-120"/>
                  <a:ea typeface="微軟正黑體" panose="020B0604030504040204" pitchFamily="34" charset="-120"/>
                </a:rPr>
                <a:t>作用、功能、性質、特性或作動</a:t>
              </a:r>
              <a:r>
                <a:rPr lang="zh-TW" altLang="en-US" dirty="0">
                  <a:latin typeface="微軟正黑體" panose="020B0604030504040204" pitchFamily="34" charset="-120"/>
                  <a:ea typeface="微軟正黑體" panose="020B0604030504040204" pitchFamily="34" charset="-120"/>
                </a:rPr>
                <a:t>等，而對前述機器等進行控制者</a:t>
              </a:r>
            </a:p>
          </p:txBody>
        </p:sp>
        <p:sp>
          <p:nvSpPr>
            <p:cNvPr id="7" name="圓角矩形 6"/>
            <p:cNvSpPr/>
            <p:nvPr/>
          </p:nvSpPr>
          <p:spPr>
            <a:xfrm>
              <a:off x="101452" y="1747478"/>
              <a:ext cx="1789856" cy="36004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控制機器</a:t>
              </a:r>
            </a:p>
          </p:txBody>
        </p:sp>
      </p:grpSp>
      <p:sp>
        <p:nvSpPr>
          <p:cNvPr id="9" name="矩形 8"/>
          <p:cNvSpPr/>
          <p:nvPr/>
        </p:nvSpPr>
        <p:spPr>
          <a:xfrm>
            <a:off x="117848" y="3068960"/>
            <a:ext cx="4572000" cy="3600400"/>
          </a:xfrm>
          <a:prstGeom prst="rect">
            <a:avLst/>
          </a:prstGeom>
        </p:spPr>
        <p:style>
          <a:lnRef idx="1">
            <a:schemeClr val="accent5"/>
          </a:lnRef>
          <a:fillRef idx="2">
            <a:schemeClr val="accent5"/>
          </a:fillRef>
          <a:effectRef idx="1">
            <a:schemeClr val="accent5"/>
          </a:effectRef>
          <a:fontRef idx="minor">
            <a:schemeClr val="dk1"/>
          </a:fontRef>
        </p:style>
        <p:txBody>
          <a:bodyPr>
            <a:noAutofit/>
          </a:bodyPr>
          <a:lstStyle/>
          <a:p>
            <a:r>
              <a:rPr lang="zh-TW" altLang="en-US" dirty="0">
                <a:latin typeface="微軟正黑體" panose="020B0604030504040204" pitchFamily="34" charset="-120"/>
                <a:ea typeface="微軟正黑體" panose="020B0604030504040204" pitchFamily="34" charset="-120"/>
              </a:rPr>
              <a:t>一種網路伺服器，包含；</a:t>
            </a:r>
          </a:p>
          <a:p>
            <a:pPr indent="266700"/>
            <a:r>
              <a:rPr lang="zh-TW" altLang="en-US" dirty="0">
                <a:latin typeface="微軟正黑體" panose="020B0604030504040204" pitchFamily="34" charset="-120"/>
                <a:ea typeface="微軟正黑體" panose="020B0604030504040204" pitchFamily="34" charset="-120"/>
              </a:rPr>
              <a:t>一接收裝置，自複數使用者端接收該等使用者端儲存之</a:t>
            </a:r>
            <a:r>
              <a:rPr lang="zh-TW" altLang="en-US" u="sng" dirty="0">
                <a:latin typeface="微軟正黑體" panose="020B0604030504040204" pitchFamily="34" charset="-120"/>
                <a:ea typeface="微軟正黑體" panose="020B0604030504040204" pitchFamily="34" charset="-120"/>
              </a:rPr>
              <a:t>使用者行事曆資訊</a:t>
            </a:r>
            <a:r>
              <a:rPr lang="zh-TW" altLang="en-US" dirty="0">
                <a:latin typeface="微軟正黑體" panose="020B0604030504040204" pitchFamily="34" charset="-120"/>
                <a:ea typeface="微軟正黑體" panose="020B0604030504040204" pitchFamily="34" charset="-120"/>
              </a:rPr>
              <a:t>；</a:t>
            </a:r>
          </a:p>
          <a:p>
            <a:pPr indent="266700"/>
            <a:r>
              <a:rPr lang="zh-TW" altLang="en-US" dirty="0">
                <a:latin typeface="微軟正黑體" panose="020B0604030504040204" pitchFamily="34" charset="-120"/>
                <a:ea typeface="微軟正黑體" panose="020B0604030504040204" pitchFamily="34" charset="-120"/>
              </a:rPr>
              <a:t>一處理裝置，基於該使用者行事曆資訊，</a:t>
            </a:r>
            <a:r>
              <a:rPr lang="zh-TW" altLang="en-US" u="sng" dirty="0">
                <a:latin typeface="微軟正黑體" panose="020B0604030504040204" pitchFamily="34" charset="-120"/>
                <a:ea typeface="微軟正黑體" panose="020B0604030504040204" pitchFamily="34" charset="-120"/>
              </a:rPr>
              <a:t>推算出使用者到家時間</a:t>
            </a:r>
            <a:r>
              <a:rPr lang="zh-TW" altLang="en-US" dirty="0">
                <a:latin typeface="微軟正黑體" panose="020B0604030504040204" pitchFamily="34" charset="-120"/>
                <a:ea typeface="微軟正黑體" panose="020B0604030504040204" pitchFamily="34" charset="-120"/>
              </a:rPr>
              <a:t>；</a:t>
            </a:r>
          </a:p>
          <a:p>
            <a:pPr indent="266700"/>
            <a:r>
              <a:rPr lang="zh-TW" altLang="en-US" dirty="0">
                <a:latin typeface="微軟正黑體" panose="020B0604030504040204" pitchFamily="34" charset="-120"/>
                <a:ea typeface="微軟正黑體" panose="020B0604030504040204" pitchFamily="34" charset="-120"/>
              </a:rPr>
              <a:t>一設定裝置，基於該推算出之使用者到家時間，</a:t>
            </a:r>
            <a:r>
              <a:rPr lang="zh-TW" altLang="en-US" u="sng" dirty="0">
                <a:latin typeface="微軟正黑體" panose="020B0604030504040204" pitchFamily="34" charset="-120"/>
                <a:ea typeface="微軟正黑體" panose="020B0604030504040204" pitchFamily="34" charset="-120"/>
              </a:rPr>
              <a:t>設定在使用者到家時間前可完成煮飯之時間點</a:t>
            </a:r>
            <a:r>
              <a:rPr lang="zh-TW" altLang="en-US" dirty="0">
                <a:latin typeface="微軟正黑體" panose="020B0604030504040204" pitchFamily="34" charset="-120"/>
                <a:ea typeface="微軟正黑體" panose="020B0604030504040204" pitchFamily="34" charset="-120"/>
              </a:rPr>
              <a:t>；以及</a:t>
            </a:r>
          </a:p>
          <a:p>
            <a:pPr indent="266700"/>
            <a:r>
              <a:rPr lang="zh-TW" altLang="en-US" dirty="0">
                <a:latin typeface="微軟正黑體" panose="020B0604030504040204" pitchFamily="34" charset="-120"/>
                <a:ea typeface="微軟正黑體" panose="020B0604030504040204" pitchFamily="34" charset="-120"/>
              </a:rPr>
              <a:t>一啟動裝置，依據該時間點指示電鍋開始煮飯。</a:t>
            </a:r>
          </a:p>
        </p:txBody>
      </p:sp>
      <p:pic>
        <p:nvPicPr>
          <p:cNvPr id="3078" name="Picture 6" descr="Rice Cooker Kitchen Appliance Flat - Free vector graphic on Pixabay"/>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455264" y="5537125"/>
            <a:ext cx="1113532" cy="111353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alendar Schedule Monthly - Free vector graphic on Pixabay"/>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364088" y="3284984"/>
            <a:ext cx="574626" cy="636509"/>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6876256" y="3374638"/>
            <a:ext cx="1224136"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接收裝置</a:t>
            </a:r>
          </a:p>
        </p:txBody>
      </p:sp>
      <p:sp>
        <p:nvSpPr>
          <p:cNvPr id="17" name="矩形 16"/>
          <p:cNvSpPr/>
          <p:nvPr/>
        </p:nvSpPr>
        <p:spPr>
          <a:xfrm>
            <a:off x="4932040" y="4437593"/>
            <a:ext cx="1224136"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處理裝置</a:t>
            </a:r>
          </a:p>
        </p:txBody>
      </p:sp>
      <p:sp>
        <p:nvSpPr>
          <p:cNvPr id="18" name="矩形 17"/>
          <p:cNvSpPr/>
          <p:nvPr/>
        </p:nvSpPr>
        <p:spPr>
          <a:xfrm>
            <a:off x="6344660" y="4433798"/>
            <a:ext cx="1224136"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啟動裝置</a:t>
            </a:r>
          </a:p>
        </p:txBody>
      </p:sp>
      <p:sp>
        <p:nvSpPr>
          <p:cNvPr id="19" name="矩形 18"/>
          <p:cNvSpPr/>
          <p:nvPr/>
        </p:nvSpPr>
        <p:spPr>
          <a:xfrm>
            <a:off x="7757281" y="4437593"/>
            <a:ext cx="1224136"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設定裝置</a:t>
            </a:r>
          </a:p>
        </p:txBody>
      </p:sp>
      <p:sp>
        <p:nvSpPr>
          <p:cNvPr id="13" name="向右箭號 12"/>
          <p:cNvSpPr/>
          <p:nvPr/>
        </p:nvSpPr>
        <p:spPr>
          <a:xfrm>
            <a:off x="6239240" y="3398760"/>
            <a:ext cx="43204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肘形接點 14"/>
          <p:cNvCxnSpPr>
            <a:stCxn id="12" idx="2"/>
            <a:endCxn id="17" idx="0"/>
          </p:cNvCxnSpPr>
          <p:nvPr/>
        </p:nvCxnSpPr>
        <p:spPr>
          <a:xfrm rot="5400000">
            <a:off x="6213339" y="3162607"/>
            <a:ext cx="605755" cy="194421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0" name="肘形接點 19"/>
          <p:cNvCxnSpPr>
            <a:stCxn id="17" idx="2"/>
            <a:endCxn id="19" idx="2"/>
          </p:cNvCxnSpPr>
          <p:nvPr/>
        </p:nvCxnSpPr>
        <p:spPr>
          <a:xfrm rot="16200000" flipH="1">
            <a:off x="6956728" y="3482172"/>
            <a:ext cx="12700" cy="2825241"/>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sp>
        <p:nvSpPr>
          <p:cNvPr id="21" name="向下箭號 20"/>
          <p:cNvSpPr/>
          <p:nvPr/>
        </p:nvSpPr>
        <p:spPr>
          <a:xfrm>
            <a:off x="6720762" y="4941472"/>
            <a:ext cx="484632" cy="489204"/>
          </a:xfrm>
          <a:prstGeom prst="downArrow">
            <a:avLst/>
          </a:prstGeom>
          <a:gradFill>
            <a:gsLst>
              <a:gs pos="0">
                <a:schemeClr val="accent5">
                  <a:tint val="50000"/>
                  <a:satMod val="300000"/>
                </a:schemeClr>
              </a:gs>
              <a:gs pos="88000">
                <a:schemeClr val="accent5">
                  <a:tint val="37000"/>
                  <a:satMod val="300000"/>
                </a:schemeClr>
              </a:gs>
              <a:gs pos="100000">
                <a:schemeClr val="accent5">
                  <a:tint val="15000"/>
                  <a:satMod val="350000"/>
                </a:schemeClr>
              </a:gs>
            </a:gsLst>
          </a:gradFill>
          <a:ln>
            <a:solidFill>
              <a:schemeClr val="accent5">
                <a:shade val="95000"/>
                <a:satMod val="105000"/>
                <a:alpha val="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pic>
        <p:nvPicPr>
          <p:cNvPr id="3084" name="Picture 12" descr="Stopwatch Dial Timer - Free vector graphic on Pixabay"/>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568796" y="3657656"/>
            <a:ext cx="361804" cy="45147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2" descr="Stopwatch Dial Timer - Free vector graphic on Pixabay"/>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182304" y="4770702"/>
            <a:ext cx="361804" cy="45147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Stopwatch Dial Timer - Free vector graphic on Pixabay"/>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8475273" y="4770703"/>
            <a:ext cx="361804" cy="451471"/>
          </a:xfrm>
          <a:prstGeom prst="rect">
            <a:avLst/>
          </a:prstGeom>
          <a:noFill/>
          <a:extLst>
            <a:ext uri="{909E8E84-426E-40DD-AFC4-6F175D3DCCD1}">
              <a14:hiddenFill xmlns:a14="http://schemas.microsoft.com/office/drawing/2010/main">
                <a:solidFill>
                  <a:srgbClr val="FFFFFF"/>
                </a:solidFill>
              </a14:hiddenFill>
            </a:ext>
          </a:extLst>
        </p:spPr>
      </p:pic>
      <p:sp>
        <p:nvSpPr>
          <p:cNvPr id="25" name="矩形 24"/>
          <p:cNvSpPr/>
          <p:nvPr/>
        </p:nvSpPr>
        <p:spPr>
          <a:xfrm>
            <a:off x="8284919" y="1542647"/>
            <a:ext cx="742511" cy="369332"/>
          </a:xfrm>
          <a:prstGeom prst="rect">
            <a:avLst/>
          </a:prstGeom>
        </p:spPr>
        <p:txBody>
          <a:bodyPr wrap="none">
            <a:spAutoFit/>
          </a:bodyPr>
          <a:lstStyle/>
          <a:p>
            <a:r>
              <a:rPr lang="zh-TW" altLang="en-US" dirty="0">
                <a:latin typeface="微軟正黑體" panose="020B0604030504040204" pitchFamily="34" charset="-120"/>
                <a:ea typeface="微軟正黑體" panose="020B0604030504040204" pitchFamily="34" charset="-120"/>
              </a:rPr>
              <a:t>①</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③</a:t>
            </a:r>
          </a:p>
        </p:txBody>
      </p:sp>
    </p:spTree>
    <p:extLst>
      <p:ext uri="{BB962C8B-B14F-4D97-AF65-F5344CB8AC3E}">
        <p14:creationId xmlns:p14="http://schemas.microsoft.com/office/powerpoint/2010/main" val="1938646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a:spLocks noGrp="1"/>
          </p:cNvSpPr>
          <p:nvPr>
            <p:ph type="title"/>
          </p:nvPr>
        </p:nvSpPr>
        <p:spPr/>
        <p:txBody>
          <a:bodyPr/>
          <a:lstStyle/>
          <a:p>
            <a:r>
              <a:rPr lang="zh-TW" altLang="en-US" dirty="0"/>
              <a:t>電腦軟體發明定義</a:t>
            </a:r>
          </a:p>
        </p:txBody>
      </p:sp>
      <p:sp>
        <p:nvSpPr>
          <p:cNvPr id="3" name="內容版面配置區 2"/>
          <p:cNvSpPr>
            <a:spLocks noGrp="1"/>
          </p:cNvSpPr>
          <p:nvPr>
            <p:ph idx="1"/>
          </p:nvPr>
        </p:nvSpPr>
        <p:spPr>
          <a:xfrm>
            <a:off x="107504" y="836712"/>
            <a:ext cx="3826768" cy="360040"/>
          </a:xfrm>
        </p:spPr>
        <p:style>
          <a:lnRef idx="0">
            <a:schemeClr val="accent3"/>
          </a:lnRef>
          <a:fillRef idx="3">
            <a:schemeClr val="accent3"/>
          </a:fillRef>
          <a:effectRef idx="3">
            <a:schemeClr val="accent3"/>
          </a:effectRef>
          <a:fontRef idx="minor">
            <a:schemeClr val="lt1"/>
          </a:fontRef>
        </p:style>
        <p:txBody>
          <a:bodyPr>
            <a:normAutofit fontScale="92500" lnSpcReduction="10000"/>
          </a:bodyPr>
          <a:lstStyle/>
          <a:p>
            <a:pPr marL="0" indent="0">
              <a:buNone/>
            </a:pPr>
            <a:r>
              <a:rPr lang="zh-TW" altLang="en-US" sz="2000" dirty="0"/>
              <a:t>明顯符合發明定義之態樣</a:t>
            </a:r>
            <a:endParaRPr lang="en-US" altLang="zh-TW" sz="2000" dirty="0"/>
          </a:p>
        </p:txBody>
      </p:sp>
      <p:sp>
        <p:nvSpPr>
          <p:cNvPr id="4" name="投影片編號版面配置區 3"/>
          <p:cNvSpPr>
            <a:spLocks noGrp="1"/>
          </p:cNvSpPr>
          <p:nvPr>
            <p:ph type="sldNum" sz="quarter" idx="12"/>
          </p:nvPr>
        </p:nvSpPr>
        <p:spPr>
          <a:xfrm>
            <a:off x="6848475" y="6480175"/>
            <a:ext cx="2133600" cy="365125"/>
          </a:xfrm>
        </p:spPr>
        <p:txBody>
          <a:bodyPr/>
          <a:lstStyle/>
          <a:p>
            <a:fld id="{51D2D507-09EA-4C6F-96ED-053C801F8797}" type="slidenum">
              <a:rPr lang="zh-TW" altLang="en-US" smtClean="0"/>
              <a:t>29</a:t>
            </a:fld>
            <a:endParaRPr lang="zh-TW" altLang="en-US" dirty="0"/>
          </a:p>
        </p:txBody>
      </p:sp>
      <p:sp>
        <p:nvSpPr>
          <p:cNvPr id="2" name="矩形 1"/>
          <p:cNvSpPr/>
          <p:nvPr/>
        </p:nvSpPr>
        <p:spPr>
          <a:xfrm>
            <a:off x="117848" y="1225327"/>
            <a:ext cx="5112568"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具體執行對於</a:t>
            </a:r>
            <a:r>
              <a:rPr lang="zh-TW" altLang="en-US" u="sng" dirty="0">
                <a:latin typeface="微軟正黑體" panose="020B0604030504040204" pitchFamily="34" charset="-120"/>
                <a:ea typeface="微軟正黑體" panose="020B0604030504040204" pitchFamily="34" charset="-120"/>
              </a:rPr>
              <a:t>機器等之控制</a:t>
            </a:r>
            <a:r>
              <a:rPr lang="zh-TW" altLang="en-US" dirty="0">
                <a:latin typeface="微軟正黑體" panose="020B0604030504040204" pitchFamily="34" charset="-120"/>
                <a:ea typeface="微軟正黑體" panose="020B0604030504040204" pitchFamily="34" charset="-120"/>
              </a:rPr>
              <a:t>或</a:t>
            </a:r>
            <a:r>
              <a:rPr lang="zh-TW" altLang="en-US" u="sng" dirty="0">
                <a:latin typeface="微軟正黑體" panose="020B0604030504040204" pitchFamily="34" charset="-120"/>
                <a:ea typeface="微軟正黑體" panose="020B0604030504040204" pitchFamily="34" charset="-120"/>
              </a:rPr>
              <a:t>伴隨控制之處理</a:t>
            </a:r>
            <a:r>
              <a:rPr lang="zh-TW" altLang="en-US" dirty="0">
                <a:latin typeface="微軟正黑體" panose="020B0604030504040204" pitchFamily="34" charset="-120"/>
                <a:ea typeface="微軟正黑體" panose="020B0604030504040204" pitchFamily="34" charset="-120"/>
              </a:rPr>
              <a:t>者</a:t>
            </a:r>
          </a:p>
        </p:txBody>
      </p:sp>
      <p:grpSp>
        <p:nvGrpSpPr>
          <p:cNvPr id="8" name="群組 7"/>
          <p:cNvGrpSpPr/>
          <p:nvPr/>
        </p:nvGrpSpPr>
        <p:grpSpPr>
          <a:xfrm>
            <a:off x="101452" y="1747478"/>
            <a:ext cx="8791028" cy="815685"/>
            <a:chOff x="101452" y="1747478"/>
            <a:chExt cx="8791028" cy="815685"/>
          </a:xfrm>
        </p:grpSpPr>
        <p:sp>
          <p:nvSpPr>
            <p:cNvPr id="6" name="矩形 5"/>
            <p:cNvSpPr/>
            <p:nvPr/>
          </p:nvSpPr>
          <p:spPr>
            <a:xfrm>
              <a:off x="101452" y="1916832"/>
              <a:ext cx="8791028" cy="646331"/>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依據機器等之使用目的，為</a:t>
              </a:r>
              <a:r>
                <a:rPr lang="zh-TW" altLang="en-US" b="1" dirty="0">
                  <a:latin typeface="微軟正黑體" panose="020B0604030504040204" pitchFamily="34" charset="-120"/>
                  <a:ea typeface="微軟正黑體" panose="020B0604030504040204" pitchFamily="34" charset="-120"/>
                </a:rPr>
                <a:t>具體實現其作動</a:t>
              </a:r>
              <a:r>
                <a:rPr lang="zh-TW" altLang="en-US" dirty="0">
                  <a:latin typeface="微軟正黑體" panose="020B0604030504040204" pitchFamily="34" charset="-120"/>
                  <a:ea typeface="微軟正黑體" panose="020B0604030504040204" pitchFamily="34" charset="-120"/>
                </a:rPr>
                <a:t>而對前述機器等進行控制者</a:t>
              </a:r>
            </a:p>
          </p:txBody>
        </p:sp>
        <p:sp>
          <p:nvSpPr>
            <p:cNvPr id="7" name="圓角矩形 6"/>
            <p:cNvSpPr/>
            <p:nvPr/>
          </p:nvSpPr>
          <p:spPr>
            <a:xfrm>
              <a:off x="101452" y="1747478"/>
              <a:ext cx="1789856" cy="36004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控制機器</a:t>
              </a:r>
            </a:p>
          </p:txBody>
        </p:sp>
      </p:grpSp>
      <p:sp>
        <p:nvSpPr>
          <p:cNvPr id="9" name="矩形 8"/>
          <p:cNvSpPr/>
          <p:nvPr/>
        </p:nvSpPr>
        <p:spPr>
          <a:xfrm>
            <a:off x="117848" y="2708920"/>
            <a:ext cx="4670176" cy="3960440"/>
          </a:xfrm>
          <a:prstGeom prst="rect">
            <a:avLst/>
          </a:prstGeom>
        </p:spPr>
        <p:style>
          <a:lnRef idx="1">
            <a:schemeClr val="accent5"/>
          </a:lnRef>
          <a:fillRef idx="2">
            <a:schemeClr val="accent5"/>
          </a:fillRef>
          <a:effectRef idx="1">
            <a:schemeClr val="accent5"/>
          </a:effectRef>
          <a:fontRef idx="minor">
            <a:schemeClr val="dk1"/>
          </a:fontRef>
        </p:style>
        <p:txBody>
          <a:bodyPr lIns="72000" tIns="36000" rIns="72000" bIns="36000">
            <a:noAutofit/>
          </a:bodyPr>
          <a:lstStyle/>
          <a:p>
            <a:r>
              <a:rPr lang="zh-TW" altLang="en-US" sz="1600" dirty="0">
                <a:latin typeface="微軟正黑體" panose="020B0604030504040204" pitchFamily="34" charset="-120"/>
                <a:ea typeface="微軟正黑體" panose="020B0604030504040204" pitchFamily="34" charset="-120"/>
              </a:rPr>
              <a:t>一種電力控制系統，用於將一發電裝置產生之電力售予一商用電力系統、購買該商用電力系統之系統電力並傳送至一蓄電池及一電氣設備、將該發電裝置所產生之電力蓄電至該蓄電池，以及將該蓄電池之電力放電至該電氣設備，該電力控制系統包含：</a:t>
            </a:r>
          </a:p>
          <a:p>
            <a:pPr indent="266700"/>
            <a:r>
              <a:rPr lang="zh-TW" altLang="en-US" sz="1600" dirty="0">
                <a:latin typeface="微軟正黑體" panose="020B0604030504040204" pitchFamily="34" charset="-120"/>
                <a:ea typeface="微軟正黑體" panose="020B0604030504040204" pitchFamily="34" charset="-120"/>
              </a:rPr>
              <a:t>一伺服器，具有一</a:t>
            </a:r>
            <a:r>
              <a:rPr lang="zh-TW" altLang="en-US" sz="1600" b="1" u="sng" dirty="0">
                <a:latin typeface="微軟正黑體" panose="020B0604030504040204" pitchFamily="34" charset="-120"/>
                <a:ea typeface="微軟正黑體" panose="020B0604030504040204" pitchFamily="34" charset="-120"/>
              </a:rPr>
              <a:t>電力價值計算模組</a:t>
            </a:r>
            <a:r>
              <a:rPr lang="zh-TW" altLang="en-US" sz="1600" dirty="0">
                <a:latin typeface="微軟正黑體" panose="020B0604030504040204" pitchFamily="34" charset="-120"/>
                <a:ea typeface="微軟正黑體" panose="020B0604030504040204" pitchFamily="34" charset="-120"/>
              </a:rPr>
              <a:t>，係依據該電氣設備之預測使用電量及該發電裝置之預測發電量，計算出</a:t>
            </a:r>
            <a:r>
              <a:rPr lang="zh-TW" altLang="en-US" sz="1600" b="1" dirty="0">
                <a:latin typeface="微軟正黑體" panose="020B0604030504040204" pitchFamily="34" charset="-120"/>
                <a:ea typeface="微軟正黑體" panose="020B0604030504040204" pitchFamily="34" charset="-120"/>
              </a:rPr>
              <a:t>各時間帶之電力價值</a:t>
            </a:r>
            <a:r>
              <a:rPr lang="zh-TW" altLang="en-US" sz="1600" dirty="0">
                <a:latin typeface="微軟正黑體" panose="020B0604030504040204" pitchFamily="34" charset="-120"/>
                <a:ea typeface="微軟正黑體" panose="020B0604030504040204" pitchFamily="34" charset="-120"/>
              </a:rPr>
              <a:t>，當該蓄電池之蓄電量足以負擔該預測使用電量時，該電力價值係以</a:t>
            </a:r>
            <a:r>
              <a:rPr lang="zh-TW" altLang="en-US" sz="1600" u="sng" dirty="0">
                <a:latin typeface="微軟正黑體" panose="020B0604030504040204" pitchFamily="34" charset="-120"/>
                <a:ea typeface="微軟正黑體" panose="020B0604030504040204" pitchFamily="34" charset="-120"/>
              </a:rPr>
              <a:t>可賣電</a:t>
            </a:r>
            <a:r>
              <a:rPr lang="zh-TW" altLang="en-US" sz="1600" dirty="0">
                <a:latin typeface="微軟正黑體" panose="020B0604030504040204" pitchFamily="34" charset="-120"/>
                <a:ea typeface="微軟正黑體" panose="020B0604030504040204" pitchFamily="34" charset="-120"/>
              </a:rPr>
              <a:t>之該發電裝置之發電量</a:t>
            </a:r>
            <a:r>
              <a:rPr lang="zh-TW" altLang="en-US" sz="1600" u="sng" dirty="0">
                <a:latin typeface="微軟正黑體" panose="020B0604030504040204" pitchFamily="34" charset="-120"/>
                <a:ea typeface="微軟正黑體" panose="020B0604030504040204" pitchFamily="34" charset="-120"/>
              </a:rPr>
              <a:t>乘以賣電單價</a:t>
            </a:r>
            <a:r>
              <a:rPr lang="zh-TW" altLang="en-US" sz="1600" dirty="0">
                <a:latin typeface="微軟正黑體" panose="020B0604030504040204" pitchFamily="34" charset="-120"/>
                <a:ea typeface="微軟正黑體" panose="020B0604030504040204" pitchFamily="34" charset="-120"/>
              </a:rPr>
              <a:t>，與</a:t>
            </a:r>
            <a:r>
              <a:rPr lang="zh-TW" altLang="en-US" sz="1600" u="sng" dirty="0">
                <a:latin typeface="微軟正黑體" panose="020B0604030504040204" pitchFamily="34" charset="-120"/>
                <a:ea typeface="微軟正黑體" panose="020B0604030504040204" pitchFamily="34" charset="-120"/>
              </a:rPr>
              <a:t>無須買電</a:t>
            </a:r>
            <a:r>
              <a:rPr lang="zh-TW" altLang="en-US" sz="1600" dirty="0">
                <a:latin typeface="微軟正黑體" panose="020B0604030504040204" pitchFamily="34" charset="-120"/>
                <a:ea typeface="微軟正黑體" panose="020B0604030504040204" pitchFamily="34" charset="-120"/>
              </a:rPr>
              <a:t>之系統電力量乘以</a:t>
            </a:r>
            <a:r>
              <a:rPr lang="zh-TW" altLang="en-US" sz="1600" u="sng" dirty="0">
                <a:latin typeface="微軟正黑體" panose="020B0604030504040204" pitchFamily="34" charset="-120"/>
                <a:ea typeface="微軟正黑體" panose="020B0604030504040204" pitchFamily="34" charset="-120"/>
              </a:rPr>
              <a:t>買電單價</a:t>
            </a:r>
            <a:r>
              <a:rPr lang="zh-TW" altLang="en-US" sz="1600" dirty="0">
                <a:latin typeface="微軟正黑體" panose="020B0604030504040204" pitchFamily="34" charset="-120"/>
                <a:ea typeface="微軟正黑體" panose="020B0604030504040204" pitchFamily="34" charset="-120"/>
              </a:rPr>
              <a:t>加總計算；以及</a:t>
            </a:r>
          </a:p>
          <a:p>
            <a:pPr indent="266700"/>
            <a:r>
              <a:rPr lang="zh-TW" altLang="en-US" sz="1600" dirty="0">
                <a:latin typeface="微軟正黑體" panose="020B0604030504040204" pitchFamily="34" charset="-120"/>
                <a:ea typeface="微軟正黑體" panose="020B0604030504040204" pitchFamily="34" charset="-120"/>
              </a:rPr>
              <a:t>一電力控制裝置，透過一網路連接至該伺服器並具有一</a:t>
            </a:r>
            <a:r>
              <a:rPr lang="zh-TW" altLang="en-US" sz="1600" b="1" dirty="0">
                <a:latin typeface="微軟正黑體" panose="020B0604030504040204" pitchFamily="34" charset="-120"/>
                <a:ea typeface="微軟正黑體" panose="020B0604030504040204" pitchFamily="34" charset="-120"/>
              </a:rPr>
              <a:t>電力控制部</a:t>
            </a:r>
            <a:r>
              <a:rPr lang="zh-TW" altLang="en-US" sz="1600" dirty="0">
                <a:latin typeface="微軟正黑體" panose="020B0604030504040204" pitchFamily="34" charset="-120"/>
                <a:ea typeface="微軟正黑體" panose="020B0604030504040204" pitchFamily="34" charset="-120"/>
              </a:rPr>
              <a:t>，該電力控制部係當該電力價值計算模組所計算之</a:t>
            </a:r>
            <a:r>
              <a:rPr lang="zh-TW" altLang="en-US" sz="1600" u="sng" dirty="0">
                <a:latin typeface="微軟正黑體" panose="020B0604030504040204" pitchFamily="34" charset="-120"/>
                <a:ea typeface="微軟正黑體" panose="020B0604030504040204" pitchFamily="34" charset="-120"/>
              </a:rPr>
              <a:t>電力價值高於預定值之時間帶</a:t>
            </a:r>
            <a:r>
              <a:rPr lang="zh-TW" altLang="en-US" sz="1600" dirty="0">
                <a:latin typeface="微軟正黑體" panose="020B0604030504040204" pitchFamily="34" charset="-120"/>
                <a:ea typeface="微軟正黑體" panose="020B0604030504040204" pitchFamily="34" charset="-120"/>
              </a:rPr>
              <a:t>，</a:t>
            </a:r>
            <a:r>
              <a:rPr lang="zh-TW" altLang="en-US" sz="1600" u="sng" dirty="0">
                <a:latin typeface="微軟正黑體" panose="020B0604030504040204" pitchFamily="34" charset="-120"/>
                <a:ea typeface="微軟正黑體" panose="020B0604030504040204" pitchFamily="34" charset="-120"/>
              </a:rPr>
              <a:t>進行賣電、蓄電、放電但限制買電</a:t>
            </a:r>
            <a:r>
              <a:rPr lang="zh-TW" altLang="en-US" sz="1600" dirty="0">
                <a:latin typeface="微軟正黑體" panose="020B0604030504040204" pitchFamily="34" charset="-120"/>
                <a:ea typeface="微軟正黑體" panose="020B0604030504040204" pitchFamily="34" charset="-120"/>
              </a:rPr>
              <a:t>。</a:t>
            </a:r>
          </a:p>
        </p:txBody>
      </p:sp>
      <p:sp>
        <p:nvSpPr>
          <p:cNvPr id="10" name="矩形 9"/>
          <p:cNvSpPr/>
          <p:nvPr/>
        </p:nvSpPr>
        <p:spPr>
          <a:xfrm>
            <a:off x="4860032" y="2708920"/>
            <a:ext cx="4176464" cy="2952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4882108" y="2708920"/>
            <a:ext cx="1415772"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電力控制系統</a:t>
            </a:r>
          </a:p>
        </p:txBody>
      </p:sp>
      <p:sp>
        <p:nvSpPr>
          <p:cNvPr id="14" name="矩形 13"/>
          <p:cNvSpPr/>
          <p:nvPr/>
        </p:nvSpPr>
        <p:spPr>
          <a:xfrm>
            <a:off x="4882109" y="6068664"/>
            <a:ext cx="1584176"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商用電力系統</a:t>
            </a:r>
          </a:p>
        </p:txBody>
      </p:sp>
      <p:sp>
        <p:nvSpPr>
          <p:cNvPr id="29" name="圓角矩形 28"/>
          <p:cNvSpPr/>
          <p:nvPr/>
        </p:nvSpPr>
        <p:spPr>
          <a:xfrm>
            <a:off x="6796329" y="5832048"/>
            <a:ext cx="914400" cy="29624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蓄電池</a:t>
            </a:r>
          </a:p>
        </p:txBody>
      </p:sp>
      <p:sp>
        <p:nvSpPr>
          <p:cNvPr id="30" name="矩形 29"/>
          <p:cNvSpPr/>
          <p:nvPr/>
        </p:nvSpPr>
        <p:spPr>
          <a:xfrm>
            <a:off x="7884369" y="5837162"/>
            <a:ext cx="1080120" cy="639862"/>
          </a:xfrm>
          <a:prstGeom prst="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電氣設備</a:t>
            </a:r>
            <a:endParaRPr lang="zh-TW" altLang="en-US" sz="1600" dirty="0">
              <a:solidFill>
                <a:schemeClr val="tx1"/>
              </a:solidFill>
            </a:endParaRPr>
          </a:p>
        </p:txBody>
      </p:sp>
      <p:cxnSp>
        <p:nvCxnSpPr>
          <p:cNvPr id="32" name="肘形接點 31"/>
          <p:cNvCxnSpPr>
            <a:stCxn id="29" idx="2"/>
          </p:cNvCxnSpPr>
          <p:nvPr/>
        </p:nvCxnSpPr>
        <p:spPr>
          <a:xfrm rot="16200000" flipH="1">
            <a:off x="7513768" y="5868052"/>
            <a:ext cx="127595" cy="648072"/>
          </a:xfrm>
          <a:prstGeom prst="bentConnector2">
            <a:avLst/>
          </a:prstGeom>
        </p:spPr>
        <p:style>
          <a:lnRef idx="1">
            <a:schemeClr val="accent1"/>
          </a:lnRef>
          <a:fillRef idx="0">
            <a:schemeClr val="accent1"/>
          </a:fillRef>
          <a:effectRef idx="0">
            <a:schemeClr val="accent1"/>
          </a:effectRef>
          <a:fontRef idx="minor">
            <a:schemeClr val="tx1"/>
          </a:fontRef>
        </p:style>
      </p:cxnSp>
      <p:grpSp>
        <p:nvGrpSpPr>
          <p:cNvPr id="4119" name="群組 4118"/>
          <p:cNvGrpSpPr/>
          <p:nvPr/>
        </p:nvGrpSpPr>
        <p:grpSpPr>
          <a:xfrm>
            <a:off x="5339122" y="3047474"/>
            <a:ext cx="3553357" cy="813574"/>
            <a:chOff x="5004048" y="3047474"/>
            <a:chExt cx="3888432" cy="813574"/>
          </a:xfrm>
        </p:grpSpPr>
        <p:sp>
          <p:nvSpPr>
            <p:cNvPr id="33" name="矩形 32"/>
            <p:cNvSpPr/>
            <p:nvPr/>
          </p:nvSpPr>
          <p:spPr>
            <a:xfrm>
              <a:off x="5004048" y="3047474"/>
              <a:ext cx="3888432" cy="81357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dirty="0"/>
            </a:p>
          </p:txBody>
        </p:sp>
        <p:sp>
          <p:nvSpPr>
            <p:cNvPr id="38" name="文字方塊 37"/>
            <p:cNvSpPr txBox="1"/>
            <p:nvPr/>
          </p:nvSpPr>
          <p:spPr>
            <a:xfrm>
              <a:off x="5034508" y="3075523"/>
              <a:ext cx="800219"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伺服器</a:t>
              </a:r>
            </a:p>
          </p:txBody>
        </p:sp>
        <p:sp>
          <p:nvSpPr>
            <p:cNvPr id="34" name="矩形 33"/>
            <p:cNvSpPr/>
            <p:nvPr/>
          </p:nvSpPr>
          <p:spPr>
            <a:xfrm>
              <a:off x="5063051" y="3453462"/>
              <a:ext cx="2035927" cy="33855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TW" altLang="en-US" sz="1600" dirty="0">
                  <a:latin typeface="微軟正黑體" panose="020B0604030504040204" pitchFamily="34" charset="-120"/>
                  <a:ea typeface="微軟正黑體" panose="020B0604030504040204" pitchFamily="34" charset="-120"/>
                </a:rPr>
                <a:t>電力價值計算模組</a:t>
              </a:r>
            </a:p>
          </p:txBody>
        </p:sp>
      </p:grpSp>
      <p:grpSp>
        <p:nvGrpSpPr>
          <p:cNvPr id="4120" name="群組 4119"/>
          <p:cNvGrpSpPr/>
          <p:nvPr/>
        </p:nvGrpSpPr>
        <p:grpSpPr>
          <a:xfrm>
            <a:off x="5339123" y="4065340"/>
            <a:ext cx="3558784" cy="776915"/>
            <a:chOff x="5009475" y="4065340"/>
            <a:chExt cx="3888432" cy="776915"/>
          </a:xfrm>
        </p:grpSpPr>
        <p:sp>
          <p:nvSpPr>
            <p:cNvPr id="40" name="矩形 39"/>
            <p:cNvSpPr/>
            <p:nvPr/>
          </p:nvSpPr>
          <p:spPr>
            <a:xfrm>
              <a:off x="5009475" y="4065340"/>
              <a:ext cx="3888432" cy="77691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dirty="0"/>
            </a:p>
          </p:txBody>
        </p:sp>
        <p:sp>
          <p:nvSpPr>
            <p:cNvPr id="41" name="文字方塊 40"/>
            <p:cNvSpPr txBox="1"/>
            <p:nvPr/>
          </p:nvSpPr>
          <p:spPr>
            <a:xfrm>
              <a:off x="5009475" y="4107423"/>
              <a:ext cx="1415772"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電力控制裝置</a:t>
              </a:r>
            </a:p>
          </p:txBody>
        </p:sp>
        <p:sp>
          <p:nvSpPr>
            <p:cNvPr id="42" name="矩形 41"/>
            <p:cNvSpPr/>
            <p:nvPr/>
          </p:nvSpPr>
          <p:spPr>
            <a:xfrm>
              <a:off x="5063053" y="4445977"/>
              <a:ext cx="1358300" cy="33855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zh-TW" altLang="en-US" sz="1600" dirty="0">
                  <a:latin typeface="微軟正黑體" panose="020B0604030504040204" pitchFamily="34" charset="-120"/>
                  <a:ea typeface="微軟正黑體" panose="020B0604030504040204" pitchFamily="34" charset="-120"/>
                </a:rPr>
                <a:t>電力控制部</a:t>
              </a:r>
            </a:p>
          </p:txBody>
        </p:sp>
      </p:grpSp>
      <p:sp>
        <p:nvSpPr>
          <p:cNvPr id="35" name="圓角矩形 34"/>
          <p:cNvSpPr/>
          <p:nvPr/>
        </p:nvSpPr>
        <p:spPr>
          <a:xfrm>
            <a:off x="6677465" y="5027581"/>
            <a:ext cx="1152128" cy="43204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發電裝置</a:t>
            </a:r>
          </a:p>
        </p:txBody>
      </p:sp>
      <p:cxnSp>
        <p:nvCxnSpPr>
          <p:cNvPr id="37" name="直線接點 36"/>
          <p:cNvCxnSpPr>
            <a:stCxn id="35" idx="2"/>
            <a:endCxn id="29" idx="0"/>
          </p:cNvCxnSpPr>
          <p:nvPr/>
        </p:nvCxnSpPr>
        <p:spPr>
          <a:xfrm>
            <a:off x="7253529" y="5459629"/>
            <a:ext cx="0" cy="372419"/>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線接點 42"/>
          <p:cNvCxnSpPr>
            <a:stCxn id="33" idx="2"/>
            <a:endCxn id="40" idx="0"/>
          </p:cNvCxnSpPr>
          <p:nvPr/>
        </p:nvCxnSpPr>
        <p:spPr>
          <a:xfrm>
            <a:off x="7115801" y="3861048"/>
            <a:ext cx="2714" cy="20429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肘形接點 44"/>
          <p:cNvCxnSpPr>
            <a:endCxn id="35" idx="1"/>
          </p:cNvCxnSpPr>
          <p:nvPr/>
        </p:nvCxnSpPr>
        <p:spPr>
          <a:xfrm>
            <a:off x="5734594" y="4842255"/>
            <a:ext cx="942871" cy="401350"/>
          </a:xfrm>
          <a:prstGeom prst="bentConnector3">
            <a:avLst>
              <a:gd name="adj1" fmla="val -511"/>
            </a:avLst>
          </a:prstGeom>
        </p:spPr>
        <p:style>
          <a:lnRef idx="1">
            <a:schemeClr val="accent1"/>
          </a:lnRef>
          <a:fillRef idx="0">
            <a:schemeClr val="accent1"/>
          </a:fillRef>
          <a:effectRef idx="0">
            <a:schemeClr val="accent1"/>
          </a:effectRef>
          <a:fontRef idx="minor">
            <a:schemeClr val="tx1"/>
          </a:fontRef>
        </p:style>
      </p:cxnSp>
      <p:cxnSp>
        <p:nvCxnSpPr>
          <p:cNvPr id="47" name="肘形接點 46"/>
          <p:cNvCxnSpPr>
            <a:stCxn id="14" idx="0"/>
            <a:endCxn id="33" idx="1"/>
          </p:cNvCxnSpPr>
          <p:nvPr/>
        </p:nvCxnSpPr>
        <p:spPr>
          <a:xfrm rot="16200000" flipV="1">
            <a:off x="4199459" y="4593925"/>
            <a:ext cx="2614403" cy="335075"/>
          </a:xfrm>
          <a:prstGeom prst="bentConnector4">
            <a:avLst>
              <a:gd name="adj1" fmla="val 23275"/>
              <a:gd name="adj2" fmla="val 182381"/>
            </a:avLst>
          </a:prstGeom>
        </p:spPr>
        <p:style>
          <a:lnRef idx="1">
            <a:schemeClr val="accent1"/>
          </a:lnRef>
          <a:fillRef idx="0">
            <a:schemeClr val="accent1"/>
          </a:fillRef>
          <a:effectRef idx="0">
            <a:schemeClr val="accent1"/>
          </a:effectRef>
          <a:fontRef idx="minor">
            <a:schemeClr val="tx1"/>
          </a:fontRef>
        </p:style>
      </p:cxnSp>
      <p:cxnSp>
        <p:nvCxnSpPr>
          <p:cNvPr id="51" name="肘形接點 50"/>
          <p:cNvCxnSpPr>
            <a:stCxn id="14" idx="3"/>
            <a:endCxn id="29" idx="1"/>
          </p:cNvCxnSpPr>
          <p:nvPr/>
        </p:nvCxnSpPr>
        <p:spPr>
          <a:xfrm flipV="1">
            <a:off x="6466285" y="5980170"/>
            <a:ext cx="330044" cy="30451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55" name="肘形接點 54"/>
          <p:cNvCxnSpPr>
            <a:endCxn id="30" idx="2"/>
          </p:cNvCxnSpPr>
          <p:nvPr/>
        </p:nvCxnSpPr>
        <p:spPr>
          <a:xfrm>
            <a:off x="6631307" y="6284688"/>
            <a:ext cx="1793122" cy="192336"/>
          </a:xfrm>
          <a:prstGeom prst="bentConnector4">
            <a:avLst>
              <a:gd name="adj1" fmla="val 413"/>
              <a:gd name="adj2" fmla="val 218855"/>
            </a:avLst>
          </a:prstGeom>
        </p:spPr>
        <p:style>
          <a:lnRef idx="1">
            <a:schemeClr val="accent1"/>
          </a:lnRef>
          <a:fillRef idx="0">
            <a:schemeClr val="accent1"/>
          </a:fillRef>
          <a:effectRef idx="0">
            <a:schemeClr val="accent1"/>
          </a:effectRef>
          <a:fontRef idx="minor">
            <a:schemeClr val="tx1"/>
          </a:fontRef>
        </p:style>
      </p:cxnSp>
      <p:sp>
        <p:nvSpPr>
          <p:cNvPr id="4124" name="矩形 4123"/>
          <p:cNvSpPr/>
          <p:nvPr/>
        </p:nvSpPr>
        <p:spPr>
          <a:xfrm>
            <a:off x="8293985" y="1532387"/>
            <a:ext cx="742511" cy="369332"/>
          </a:xfrm>
          <a:prstGeom prst="rect">
            <a:avLst/>
          </a:prstGeom>
        </p:spPr>
        <p:txBody>
          <a:bodyPr wrap="none">
            <a:spAutoFit/>
          </a:bodyPr>
          <a:lstStyle/>
          <a:p>
            <a:r>
              <a:rPr lang="zh-TW" altLang="en-US" dirty="0">
                <a:latin typeface="微軟正黑體" panose="020B0604030504040204" pitchFamily="34" charset="-120"/>
                <a:ea typeface="微軟正黑體" panose="020B0604030504040204" pitchFamily="34" charset="-120"/>
              </a:rPr>
              <a:t>②</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③</a:t>
            </a:r>
          </a:p>
        </p:txBody>
      </p:sp>
    </p:spTree>
    <p:extLst>
      <p:ext uri="{BB962C8B-B14F-4D97-AF65-F5344CB8AC3E}">
        <p14:creationId xmlns:p14="http://schemas.microsoft.com/office/powerpoint/2010/main" val="19783905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立方體 12"/>
          <p:cNvSpPr/>
          <p:nvPr/>
        </p:nvSpPr>
        <p:spPr>
          <a:xfrm>
            <a:off x="5068269" y="4904237"/>
            <a:ext cx="773760" cy="1008112"/>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122" name="Picture 2" descr="卡车, 货车, 运输, 马达, 车辆, 路, 蓝色的, 汽车, 商业的"/>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004048" y="4994182"/>
            <a:ext cx="2992083" cy="1863818"/>
          </a:xfrm>
          <a:prstGeom prst="rect">
            <a:avLst/>
          </a:prstGeom>
          <a:noFill/>
          <a:extLst>
            <a:ext uri="{909E8E84-426E-40DD-AFC4-6F175D3DCCD1}">
              <a14:hiddenFill xmlns:a14="http://schemas.microsoft.com/office/drawing/2010/main">
                <a:solidFill>
                  <a:srgbClr val="FFFFFF"/>
                </a:solidFill>
              </a14:hiddenFill>
            </a:ext>
          </a:extLst>
        </p:spPr>
      </p:pic>
      <p:sp>
        <p:nvSpPr>
          <p:cNvPr id="5" name="標題 1"/>
          <p:cNvSpPr>
            <a:spLocks noGrp="1"/>
          </p:cNvSpPr>
          <p:nvPr>
            <p:ph type="title"/>
          </p:nvPr>
        </p:nvSpPr>
        <p:spPr/>
        <p:txBody>
          <a:bodyPr/>
          <a:lstStyle/>
          <a:p>
            <a:r>
              <a:rPr lang="zh-TW" altLang="en-US" dirty="0"/>
              <a:t>電腦軟體發明定義</a:t>
            </a:r>
          </a:p>
        </p:txBody>
      </p:sp>
      <p:sp>
        <p:nvSpPr>
          <p:cNvPr id="3" name="內容版面配置區 2"/>
          <p:cNvSpPr>
            <a:spLocks noGrp="1"/>
          </p:cNvSpPr>
          <p:nvPr>
            <p:ph idx="1"/>
          </p:nvPr>
        </p:nvSpPr>
        <p:spPr>
          <a:xfrm>
            <a:off x="107504" y="836712"/>
            <a:ext cx="3826768" cy="360040"/>
          </a:xfrm>
        </p:spPr>
        <p:style>
          <a:lnRef idx="0">
            <a:schemeClr val="accent3"/>
          </a:lnRef>
          <a:fillRef idx="3">
            <a:schemeClr val="accent3"/>
          </a:fillRef>
          <a:effectRef idx="3">
            <a:schemeClr val="accent3"/>
          </a:effectRef>
          <a:fontRef idx="minor">
            <a:schemeClr val="lt1"/>
          </a:fontRef>
        </p:style>
        <p:txBody>
          <a:bodyPr>
            <a:normAutofit fontScale="92500" lnSpcReduction="10000"/>
          </a:bodyPr>
          <a:lstStyle/>
          <a:p>
            <a:pPr marL="0" indent="0">
              <a:buNone/>
            </a:pPr>
            <a:r>
              <a:rPr lang="zh-TW" altLang="en-US" sz="2000" dirty="0"/>
              <a:t>明顯符合發明定義之態樣</a:t>
            </a:r>
            <a:endParaRPr lang="en-US" altLang="zh-TW" sz="2000" dirty="0"/>
          </a:p>
        </p:txBody>
      </p:sp>
      <p:sp>
        <p:nvSpPr>
          <p:cNvPr id="4" name="投影片編號版面配置區 3"/>
          <p:cNvSpPr>
            <a:spLocks noGrp="1"/>
          </p:cNvSpPr>
          <p:nvPr>
            <p:ph type="sldNum" sz="quarter" idx="12"/>
          </p:nvPr>
        </p:nvSpPr>
        <p:spPr>
          <a:xfrm>
            <a:off x="6848475" y="6480175"/>
            <a:ext cx="2133600" cy="365125"/>
          </a:xfrm>
        </p:spPr>
        <p:txBody>
          <a:bodyPr/>
          <a:lstStyle/>
          <a:p>
            <a:fld id="{51D2D507-09EA-4C6F-96ED-053C801F8797}" type="slidenum">
              <a:rPr lang="zh-TW" altLang="en-US" smtClean="0"/>
              <a:t>30</a:t>
            </a:fld>
            <a:endParaRPr lang="zh-TW" altLang="en-US" dirty="0"/>
          </a:p>
        </p:txBody>
      </p:sp>
      <p:sp>
        <p:nvSpPr>
          <p:cNvPr id="2" name="矩形 1"/>
          <p:cNvSpPr/>
          <p:nvPr/>
        </p:nvSpPr>
        <p:spPr>
          <a:xfrm>
            <a:off x="117848" y="1225327"/>
            <a:ext cx="5112568"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具體執行對於</a:t>
            </a:r>
            <a:r>
              <a:rPr lang="zh-TW" altLang="en-US" u="sng" dirty="0">
                <a:latin typeface="微軟正黑體" panose="020B0604030504040204" pitchFamily="34" charset="-120"/>
                <a:ea typeface="微軟正黑體" panose="020B0604030504040204" pitchFamily="34" charset="-120"/>
              </a:rPr>
              <a:t>機器等之控制</a:t>
            </a:r>
            <a:r>
              <a:rPr lang="zh-TW" altLang="en-US" dirty="0">
                <a:latin typeface="微軟正黑體" panose="020B0604030504040204" pitchFamily="34" charset="-120"/>
                <a:ea typeface="微軟正黑體" panose="020B0604030504040204" pitchFamily="34" charset="-120"/>
              </a:rPr>
              <a:t>或</a:t>
            </a:r>
            <a:r>
              <a:rPr lang="zh-TW" altLang="en-US" u="sng" dirty="0">
                <a:latin typeface="微軟正黑體" panose="020B0604030504040204" pitchFamily="34" charset="-120"/>
                <a:ea typeface="微軟正黑體" panose="020B0604030504040204" pitchFamily="34" charset="-120"/>
              </a:rPr>
              <a:t>伴隨控制之處理</a:t>
            </a:r>
            <a:r>
              <a:rPr lang="zh-TW" altLang="en-US" dirty="0">
                <a:latin typeface="微軟正黑體" panose="020B0604030504040204" pitchFamily="34" charset="-120"/>
                <a:ea typeface="微軟正黑體" panose="020B0604030504040204" pitchFamily="34" charset="-120"/>
              </a:rPr>
              <a:t>者</a:t>
            </a:r>
          </a:p>
        </p:txBody>
      </p:sp>
      <p:grpSp>
        <p:nvGrpSpPr>
          <p:cNvPr id="8" name="群組 7"/>
          <p:cNvGrpSpPr/>
          <p:nvPr/>
        </p:nvGrpSpPr>
        <p:grpSpPr>
          <a:xfrm>
            <a:off x="101452" y="1747478"/>
            <a:ext cx="8791028" cy="815685"/>
            <a:chOff x="101452" y="1747478"/>
            <a:chExt cx="8791028" cy="815685"/>
          </a:xfrm>
        </p:grpSpPr>
        <p:sp>
          <p:nvSpPr>
            <p:cNvPr id="6" name="矩形 5"/>
            <p:cNvSpPr/>
            <p:nvPr/>
          </p:nvSpPr>
          <p:spPr>
            <a:xfrm>
              <a:off x="101452" y="1916832"/>
              <a:ext cx="8791028" cy="646331"/>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對於包含有</a:t>
              </a:r>
              <a:r>
                <a:rPr lang="zh-TW" altLang="en-US" b="1" dirty="0">
                  <a:latin typeface="微軟正黑體" panose="020B0604030504040204" pitchFamily="34" charset="-120"/>
                  <a:ea typeface="微軟正黑體" panose="020B0604030504040204" pitchFamily="34" charset="-120"/>
                </a:rPr>
                <a:t>複數個相關連機器之系統</a:t>
              </a:r>
              <a:r>
                <a:rPr lang="zh-TW" altLang="en-US" dirty="0">
                  <a:latin typeface="微軟正黑體" panose="020B0604030504040204" pitchFamily="34" charset="-120"/>
                  <a:ea typeface="微軟正黑體" panose="020B0604030504040204" pitchFamily="34" charset="-120"/>
                </a:rPr>
                <a:t>進行</a:t>
              </a:r>
              <a:r>
                <a:rPr lang="zh-TW" altLang="en-US" b="1" dirty="0">
                  <a:latin typeface="微軟正黑體" panose="020B0604030504040204" pitchFamily="34" charset="-120"/>
                  <a:ea typeface="微軟正黑體" panose="020B0604030504040204" pitchFamily="34" charset="-120"/>
                </a:rPr>
                <a:t>整合式控制</a:t>
              </a:r>
              <a:r>
                <a:rPr lang="zh-TW" altLang="en-US" dirty="0">
                  <a:latin typeface="微軟正黑體" panose="020B0604030504040204" pitchFamily="34" charset="-120"/>
                  <a:ea typeface="微軟正黑體" panose="020B0604030504040204" pitchFamily="34" charset="-120"/>
                </a:rPr>
                <a:t>者</a:t>
              </a:r>
            </a:p>
          </p:txBody>
        </p:sp>
        <p:sp>
          <p:nvSpPr>
            <p:cNvPr id="7" name="圓角矩形 6"/>
            <p:cNvSpPr/>
            <p:nvPr/>
          </p:nvSpPr>
          <p:spPr>
            <a:xfrm>
              <a:off x="101452" y="1747478"/>
              <a:ext cx="1789856" cy="36004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控制機器</a:t>
              </a:r>
            </a:p>
          </p:txBody>
        </p:sp>
      </p:grpSp>
      <p:sp>
        <p:nvSpPr>
          <p:cNvPr id="9" name="矩形 8"/>
          <p:cNvSpPr/>
          <p:nvPr/>
        </p:nvSpPr>
        <p:spPr>
          <a:xfrm>
            <a:off x="117848" y="2708920"/>
            <a:ext cx="4670176" cy="3960440"/>
          </a:xfrm>
          <a:prstGeom prst="rect">
            <a:avLst/>
          </a:prstGeom>
        </p:spPr>
        <p:style>
          <a:lnRef idx="1">
            <a:schemeClr val="accent5"/>
          </a:lnRef>
          <a:fillRef idx="2">
            <a:schemeClr val="accent5"/>
          </a:fillRef>
          <a:effectRef idx="1">
            <a:schemeClr val="accent5"/>
          </a:effectRef>
          <a:fontRef idx="minor">
            <a:schemeClr val="dk1"/>
          </a:fontRef>
        </p:style>
        <p:txBody>
          <a:bodyPr lIns="72000" tIns="36000" rIns="72000" bIns="36000">
            <a:noAutofit/>
          </a:bodyPr>
          <a:lstStyle/>
          <a:p>
            <a:r>
              <a:rPr lang="zh-TW" altLang="en-US" dirty="0">
                <a:latin typeface="微軟正黑體" panose="020B0604030504040204" pitchFamily="34" charset="-120"/>
                <a:ea typeface="微軟正黑體" panose="020B0604030504040204" pitchFamily="34" charset="-120"/>
              </a:rPr>
              <a:t>一種貨物配送方法，係用於一貨物配送系統，該貨物配送系統包含</a:t>
            </a:r>
            <a:r>
              <a:rPr lang="zh-TW" altLang="en-US" b="1" u="sng" dirty="0">
                <a:latin typeface="微軟正黑體" panose="020B0604030504040204" pitchFamily="34" charset="-120"/>
                <a:ea typeface="微軟正黑體" panose="020B0604030504040204" pitchFamily="34" charset="-120"/>
              </a:rPr>
              <a:t>一物流車</a:t>
            </a:r>
            <a:r>
              <a:rPr lang="zh-TW" altLang="en-US" dirty="0">
                <a:latin typeface="微軟正黑體" panose="020B0604030504040204" pitchFamily="34" charset="-120"/>
                <a:ea typeface="微軟正黑體" panose="020B0604030504040204" pitchFamily="34" charset="-120"/>
              </a:rPr>
              <a:t>及</a:t>
            </a:r>
            <a:r>
              <a:rPr lang="zh-TW" altLang="en-US" b="1" u="sng" dirty="0">
                <a:latin typeface="微軟正黑體" panose="020B0604030504040204" pitchFamily="34" charset="-120"/>
                <a:ea typeface="微軟正黑體" panose="020B0604030504040204" pitchFamily="34" charset="-120"/>
              </a:rPr>
              <a:t>一無人機</a:t>
            </a:r>
            <a:r>
              <a:rPr lang="zh-TW" altLang="en-US" dirty="0">
                <a:latin typeface="微軟正黑體" panose="020B0604030504040204" pitchFamily="34" charset="-120"/>
                <a:ea typeface="微軟正黑體" panose="020B0604030504040204" pitchFamily="34" charset="-120"/>
              </a:rPr>
              <a:t>，該物流車具有</a:t>
            </a:r>
            <a:r>
              <a:rPr lang="zh-TW" altLang="en-US" b="1" u="sng" dirty="0">
                <a:latin typeface="微軟正黑體" panose="020B0604030504040204" pitchFamily="34" charset="-120"/>
                <a:ea typeface="微軟正黑體" panose="020B0604030504040204" pitchFamily="34" charset="-120"/>
              </a:rPr>
              <a:t>一貨物配送裝置</a:t>
            </a:r>
            <a:r>
              <a:rPr lang="zh-TW" altLang="en-US" dirty="0">
                <a:latin typeface="微軟正黑體" panose="020B0604030504040204" pitchFamily="34" charset="-120"/>
                <a:ea typeface="微軟正黑體" panose="020B0604030504040204" pitchFamily="34" charset="-120"/>
              </a:rPr>
              <a:t>，用於自動將貨物裝載至該無人機上，該物流車並具有供該無人機</a:t>
            </a:r>
            <a:r>
              <a:rPr lang="zh-TW" altLang="en-US" u="sng" dirty="0">
                <a:latin typeface="微軟正黑體" panose="020B0604030504040204" pitchFamily="34" charset="-120"/>
                <a:ea typeface="微軟正黑體" panose="020B0604030504040204" pitchFamily="34" charset="-120"/>
              </a:rPr>
              <a:t>起降之空間</a:t>
            </a:r>
            <a:r>
              <a:rPr lang="zh-TW" altLang="en-US" dirty="0">
                <a:latin typeface="微軟正黑體" panose="020B0604030504040204" pitchFamily="34" charset="-120"/>
                <a:ea typeface="微軟正黑體" panose="020B0604030504040204" pitchFamily="34" charset="-120"/>
              </a:rPr>
              <a:t>，且該</a:t>
            </a:r>
            <a:r>
              <a:rPr lang="zh-TW" altLang="en-US" u="sng" dirty="0">
                <a:latin typeface="微軟正黑體" panose="020B0604030504040204" pitchFamily="34" charset="-120"/>
                <a:ea typeface="微軟正黑體" panose="020B0604030504040204" pitchFamily="34" charset="-120"/>
              </a:rPr>
              <a:t>貨物配送裝置及該無人機可與</a:t>
            </a:r>
            <a:r>
              <a:rPr lang="zh-TW" altLang="en-US" b="1" u="sng" dirty="0">
                <a:latin typeface="微軟正黑體" panose="020B0604030504040204" pitchFamily="34" charset="-120"/>
                <a:ea typeface="微軟正黑體" panose="020B0604030504040204" pitchFamily="34" charset="-120"/>
              </a:rPr>
              <a:t>一管理伺服器</a:t>
            </a:r>
            <a:r>
              <a:rPr lang="zh-TW" altLang="en-US" u="sng" dirty="0">
                <a:latin typeface="微軟正黑體" panose="020B0604030504040204" pitchFamily="34" charset="-120"/>
                <a:ea typeface="微軟正黑體" panose="020B0604030504040204" pitchFamily="34" charset="-120"/>
              </a:rPr>
              <a:t>相互通訊</a:t>
            </a:r>
            <a:r>
              <a:rPr lang="zh-TW" altLang="en-US" dirty="0">
                <a:latin typeface="微軟正黑體" panose="020B0604030504040204" pitchFamily="34" charset="-120"/>
                <a:ea typeface="微軟正黑體" panose="020B0604030504040204" pitchFamily="34" charset="-120"/>
              </a:rPr>
              <a:t>，該貨物配送方法係依據該管理伺服器之指令至少執行一次下列步驟：</a:t>
            </a:r>
          </a:p>
          <a:p>
            <a:pPr indent="266700"/>
            <a:r>
              <a:rPr lang="en-US" altLang="zh-TW" dirty="0">
                <a:latin typeface="微軟正黑體" panose="020B0604030504040204" pitchFamily="34" charset="-120"/>
                <a:ea typeface="微軟正黑體" panose="020B0604030504040204" pitchFamily="34" charset="-120"/>
              </a:rPr>
              <a:t>(a)</a:t>
            </a:r>
            <a:r>
              <a:rPr lang="zh-TW" altLang="en-US" dirty="0">
                <a:latin typeface="微軟正黑體" panose="020B0604030504040204" pitchFamily="34" charset="-120"/>
                <a:ea typeface="微軟正黑體" panose="020B0604030504040204" pitchFamily="34" charset="-120"/>
              </a:rPr>
              <a:t>該貨物配送裝置裝載貨物至位於該空間內之該無人機上；</a:t>
            </a:r>
          </a:p>
          <a:p>
            <a:pPr indent="266700"/>
            <a:r>
              <a:rPr lang="en-US" altLang="zh-TW" dirty="0">
                <a:latin typeface="微軟正黑體" panose="020B0604030504040204" pitchFamily="34" charset="-120"/>
                <a:ea typeface="微軟正黑體" panose="020B0604030504040204" pitchFamily="34" charset="-120"/>
              </a:rPr>
              <a:t>(b)</a:t>
            </a:r>
            <a:r>
              <a:rPr lang="zh-TW" altLang="en-US" dirty="0">
                <a:latin typeface="微軟正黑體" panose="020B0604030504040204" pitchFamily="34" charset="-120"/>
                <a:ea typeface="微軟正黑體" panose="020B0604030504040204" pitchFamily="34" charset="-120"/>
              </a:rPr>
              <a:t>該無人機飛行至貨物配送地並卸載該貨物；</a:t>
            </a:r>
          </a:p>
          <a:p>
            <a:pPr indent="266700"/>
            <a:r>
              <a:rPr lang="en-US" altLang="zh-TW" dirty="0">
                <a:latin typeface="微軟正黑體" panose="020B0604030504040204" pitchFamily="34" charset="-120"/>
                <a:ea typeface="微軟正黑體" panose="020B0604030504040204" pitchFamily="34" charset="-120"/>
              </a:rPr>
              <a:t>(c)</a:t>
            </a:r>
            <a:r>
              <a:rPr lang="zh-TW" altLang="en-US" dirty="0">
                <a:latin typeface="微軟正黑體" panose="020B0604030504040204" pitchFamily="34" charset="-120"/>
                <a:ea typeface="微軟正黑體" panose="020B0604030504040204" pitchFamily="34" charset="-120"/>
              </a:rPr>
              <a:t>該無人機飛行回到該物流車並降落於該空間內。</a:t>
            </a:r>
          </a:p>
        </p:txBody>
      </p:sp>
      <p:pic>
        <p:nvPicPr>
          <p:cNvPr id="5124" name="Picture 4" descr="无人机, 直升机, 航班, 技术"/>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flipV="1">
            <a:off x="5661576" y="2780927"/>
            <a:ext cx="638615" cy="637730"/>
          </a:xfrm>
          <a:prstGeom prst="rect">
            <a:avLst/>
          </a:prstGeom>
          <a:noFill/>
          <a:extLst>
            <a:ext uri="{909E8E84-426E-40DD-AFC4-6F175D3DCCD1}">
              <a14:hiddenFill xmlns:a14="http://schemas.microsoft.com/office/drawing/2010/main">
                <a:solidFill>
                  <a:srgbClr val="FFFFFF"/>
                </a:solidFill>
              </a14:hiddenFill>
            </a:ext>
          </a:extLst>
        </p:spPr>
      </p:pic>
      <p:sp>
        <p:nvSpPr>
          <p:cNvPr id="15" name="server"/>
          <p:cNvSpPr>
            <a:spLocks noEditPoints="1" noChangeArrowheads="1"/>
          </p:cNvSpPr>
          <p:nvPr/>
        </p:nvSpPr>
        <p:spPr bwMode="auto">
          <a:xfrm>
            <a:off x="7884368" y="2996952"/>
            <a:ext cx="1089670" cy="1296144"/>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761 w 21600"/>
              <a:gd name="T17" fmla="*/ 22454 h 21600"/>
              <a:gd name="T18" fmla="*/ 21069 w 21600"/>
              <a:gd name="T19" fmla="*/ 28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0" y="0"/>
                </a:moveTo>
                <a:lnTo>
                  <a:pt x="21600" y="0"/>
                </a:lnTo>
                <a:lnTo>
                  <a:pt x="21600" y="21600"/>
                </a:lnTo>
                <a:lnTo>
                  <a:pt x="0" y="21600"/>
                </a:lnTo>
                <a:lnTo>
                  <a:pt x="0" y="0"/>
                </a:lnTo>
                <a:close/>
              </a:path>
              <a:path w="21600" h="21600" extrusionOk="0">
                <a:moveTo>
                  <a:pt x="1662" y="1709"/>
                </a:moveTo>
                <a:lnTo>
                  <a:pt x="9046" y="1709"/>
                </a:lnTo>
                <a:lnTo>
                  <a:pt x="9046" y="2331"/>
                </a:lnTo>
                <a:lnTo>
                  <a:pt x="1662" y="2331"/>
                </a:lnTo>
                <a:lnTo>
                  <a:pt x="1662" y="1709"/>
                </a:lnTo>
                <a:moveTo>
                  <a:pt x="0" y="4351"/>
                </a:moveTo>
                <a:lnTo>
                  <a:pt x="10892" y="4351"/>
                </a:lnTo>
                <a:lnTo>
                  <a:pt x="10892" y="14141"/>
                </a:lnTo>
                <a:lnTo>
                  <a:pt x="21600" y="14141"/>
                </a:lnTo>
                <a:moveTo>
                  <a:pt x="11631" y="1243"/>
                </a:moveTo>
                <a:lnTo>
                  <a:pt x="20492" y="1243"/>
                </a:lnTo>
                <a:lnTo>
                  <a:pt x="20492" y="1554"/>
                </a:lnTo>
                <a:lnTo>
                  <a:pt x="11631" y="1554"/>
                </a:lnTo>
                <a:lnTo>
                  <a:pt x="11631" y="1243"/>
                </a:lnTo>
                <a:moveTo>
                  <a:pt x="11631" y="3263"/>
                </a:moveTo>
                <a:lnTo>
                  <a:pt x="20492" y="3263"/>
                </a:lnTo>
                <a:lnTo>
                  <a:pt x="20492" y="3574"/>
                </a:lnTo>
                <a:lnTo>
                  <a:pt x="11631" y="3574"/>
                </a:lnTo>
                <a:lnTo>
                  <a:pt x="11631" y="3263"/>
                </a:lnTo>
                <a:moveTo>
                  <a:pt x="11631" y="6060"/>
                </a:moveTo>
                <a:lnTo>
                  <a:pt x="20492" y="6060"/>
                </a:lnTo>
                <a:lnTo>
                  <a:pt x="20492" y="6371"/>
                </a:lnTo>
                <a:lnTo>
                  <a:pt x="11631" y="6371"/>
                </a:lnTo>
                <a:lnTo>
                  <a:pt x="11631" y="6060"/>
                </a:lnTo>
                <a:moveTo>
                  <a:pt x="11631" y="8081"/>
                </a:moveTo>
                <a:lnTo>
                  <a:pt x="20308" y="8081"/>
                </a:lnTo>
                <a:lnTo>
                  <a:pt x="20308" y="8391"/>
                </a:lnTo>
                <a:lnTo>
                  <a:pt x="11631" y="8391"/>
                </a:lnTo>
                <a:lnTo>
                  <a:pt x="11631" y="8081"/>
                </a:lnTo>
                <a:moveTo>
                  <a:pt x="11631" y="4196"/>
                </a:moveTo>
                <a:lnTo>
                  <a:pt x="12369" y="4196"/>
                </a:lnTo>
                <a:lnTo>
                  <a:pt x="12369" y="4817"/>
                </a:lnTo>
                <a:lnTo>
                  <a:pt x="11631" y="4817"/>
                </a:lnTo>
                <a:lnTo>
                  <a:pt x="11631" y="4196"/>
                </a:lnTo>
                <a:moveTo>
                  <a:pt x="14400" y="4196"/>
                </a:moveTo>
                <a:lnTo>
                  <a:pt x="15138" y="4196"/>
                </a:lnTo>
                <a:lnTo>
                  <a:pt x="15138" y="4817"/>
                </a:lnTo>
                <a:lnTo>
                  <a:pt x="14400" y="4817"/>
                </a:lnTo>
                <a:lnTo>
                  <a:pt x="14400" y="4196"/>
                </a:lnTo>
                <a:moveTo>
                  <a:pt x="16985" y="4196"/>
                </a:moveTo>
                <a:lnTo>
                  <a:pt x="17723" y="4196"/>
                </a:lnTo>
                <a:lnTo>
                  <a:pt x="17723" y="4817"/>
                </a:lnTo>
                <a:lnTo>
                  <a:pt x="16985" y="4817"/>
                </a:lnTo>
                <a:lnTo>
                  <a:pt x="16985" y="4196"/>
                </a:lnTo>
                <a:moveTo>
                  <a:pt x="19754" y="4196"/>
                </a:moveTo>
                <a:lnTo>
                  <a:pt x="20492" y="4196"/>
                </a:lnTo>
                <a:lnTo>
                  <a:pt x="20492" y="4817"/>
                </a:lnTo>
                <a:lnTo>
                  <a:pt x="19754" y="4817"/>
                </a:lnTo>
                <a:lnTo>
                  <a:pt x="19754" y="4196"/>
                </a:lnTo>
                <a:moveTo>
                  <a:pt x="11631" y="9635"/>
                </a:moveTo>
                <a:lnTo>
                  <a:pt x="12369" y="9635"/>
                </a:lnTo>
                <a:lnTo>
                  <a:pt x="12369" y="10256"/>
                </a:lnTo>
                <a:lnTo>
                  <a:pt x="11631" y="10256"/>
                </a:lnTo>
                <a:lnTo>
                  <a:pt x="11631" y="9635"/>
                </a:lnTo>
                <a:moveTo>
                  <a:pt x="14400" y="9635"/>
                </a:moveTo>
                <a:lnTo>
                  <a:pt x="15138" y="9635"/>
                </a:lnTo>
                <a:lnTo>
                  <a:pt x="15138" y="10256"/>
                </a:lnTo>
                <a:lnTo>
                  <a:pt x="14400" y="10256"/>
                </a:lnTo>
                <a:lnTo>
                  <a:pt x="14400" y="9635"/>
                </a:lnTo>
                <a:moveTo>
                  <a:pt x="16985" y="9635"/>
                </a:moveTo>
                <a:lnTo>
                  <a:pt x="17723" y="9635"/>
                </a:lnTo>
                <a:lnTo>
                  <a:pt x="17723" y="10256"/>
                </a:lnTo>
                <a:lnTo>
                  <a:pt x="16985" y="10256"/>
                </a:lnTo>
                <a:lnTo>
                  <a:pt x="16985" y="9635"/>
                </a:lnTo>
                <a:moveTo>
                  <a:pt x="19754" y="9635"/>
                </a:moveTo>
                <a:lnTo>
                  <a:pt x="20492" y="9635"/>
                </a:lnTo>
                <a:lnTo>
                  <a:pt x="20492" y="10256"/>
                </a:lnTo>
                <a:lnTo>
                  <a:pt x="19754" y="10256"/>
                </a:lnTo>
                <a:lnTo>
                  <a:pt x="19754" y="9635"/>
                </a:lnTo>
                <a:moveTo>
                  <a:pt x="10892" y="14141"/>
                </a:moveTo>
                <a:lnTo>
                  <a:pt x="10892" y="15384"/>
                </a:lnTo>
                <a:lnTo>
                  <a:pt x="10892" y="20046"/>
                </a:lnTo>
                <a:lnTo>
                  <a:pt x="10892" y="21600"/>
                </a:lnTo>
                <a:lnTo>
                  <a:pt x="10892" y="14141"/>
                </a:lnTo>
                <a:moveTo>
                  <a:pt x="10892" y="4351"/>
                </a:moveTo>
                <a:lnTo>
                  <a:pt x="10892" y="3574"/>
                </a:lnTo>
                <a:lnTo>
                  <a:pt x="10892" y="932"/>
                </a:lnTo>
                <a:lnTo>
                  <a:pt x="10892" y="0"/>
                </a:lnTo>
                <a:lnTo>
                  <a:pt x="10892" y="4351"/>
                </a:lnTo>
              </a:path>
            </a:pathLst>
          </a:custGeom>
          <a:solidFill>
            <a:srgbClr val="FFFFCC"/>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TW" altLang="en-US"/>
          </a:p>
        </p:txBody>
      </p:sp>
      <p:sp>
        <p:nvSpPr>
          <p:cNvPr id="16" name="閃電 15"/>
          <p:cNvSpPr/>
          <p:nvPr/>
        </p:nvSpPr>
        <p:spPr>
          <a:xfrm>
            <a:off x="6588224" y="3099792"/>
            <a:ext cx="1152128" cy="185192"/>
          </a:xfrm>
          <a:prstGeom prst="lightningBol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39" name="閃電 38"/>
          <p:cNvSpPr/>
          <p:nvPr/>
        </p:nvSpPr>
        <p:spPr>
          <a:xfrm flipV="1">
            <a:off x="5947322" y="4077072"/>
            <a:ext cx="1504998" cy="627090"/>
          </a:xfrm>
          <a:prstGeom prst="lightningBol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44" name="文字方塊 43"/>
          <p:cNvSpPr txBox="1"/>
          <p:nvPr/>
        </p:nvSpPr>
        <p:spPr>
          <a:xfrm>
            <a:off x="8209083" y="1529701"/>
            <a:ext cx="742511"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③</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③</a:t>
            </a:r>
          </a:p>
        </p:txBody>
      </p:sp>
    </p:spTree>
    <p:extLst>
      <p:ext uri="{BB962C8B-B14F-4D97-AF65-F5344CB8AC3E}">
        <p14:creationId xmlns:p14="http://schemas.microsoft.com/office/powerpoint/2010/main" val="4106678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a:spLocks noGrp="1"/>
          </p:cNvSpPr>
          <p:nvPr>
            <p:ph type="title"/>
          </p:nvPr>
        </p:nvSpPr>
        <p:spPr/>
        <p:txBody>
          <a:bodyPr/>
          <a:lstStyle/>
          <a:p>
            <a:r>
              <a:rPr lang="zh-TW" altLang="en-US" dirty="0"/>
              <a:t>電腦軟體發明定義</a:t>
            </a:r>
          </a:p>
        </p:txBody>
      </p:sp>
      <p:sp>
        <p:nvSpPr>
          <p:cNvPr id="3" name="內容版面配置區 2"/>
          <p:cNvSpPr>
            <a:spLocks noGrp="1"/>
          </p:cNvSpPr>
          <p:nvPr>
            <p:ph idx="1"/>
          </p:nvPr>
        </p:nvSpPr>
        <p:spPr>
          <a:xfrm>
            <a:off x="107504" y="836712"/>
            <a:ext cx="3826768" cy="360040"/>
          </a:xfrm>
        </p:spPr>
        <p:style>
          <a:lnRef idx="0">
            <a:schemeClr val="accent3"/>
          </a:lnRef>
          <a:fillRef idx="3">
            <a:schemeClr val="accent3"/>
          </a:fillRef>
          <a:effectRef idx="3">
            <a:schemeClr val="accent3"/>
          </a:effectRef>
          <a:fontRef idx="minor">
            <a:schemeClr val="lt1"/>
          </a:fontRef>
        </p:style>
        <p:txBody>
          <a:bodyPr>
            <a:normAutofit fontScale="92500" lnSpcReduction="10000"/>
          </a:bodyPr>
          <a:lstStyle/>
          <a:p>
            <a:pPr marL="0" indent="0">
              <a:buNone/>
            </a:pPr>
            <a:r>
              <a:rPr lang="zh-TW" altLang="en-US" sz="2000" dirty="0"/>
              <a:t>明顯符合發明定義之態樣</a:t>
            </a:r>
            <a:endParaRPr lang="en-US" altLang="zh-TW" sz="2000"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31</a:t>
            </a:fld>
            <a:endParaRPr lang="zh-TW" altLang="en-US"/>
          </a:p>
        </p:txBody>
      </p:sp>
      <p:sp>
        <p:nvSpPr>
          <p:cNvPr id="2" name="矩形 1"/>
          <p:cNvSpPr/>
          <p:nvPr/>
        </p:nvSpPr>
        <p:spPr>
          <a:xfrm>
            <a:off x="117848" y="1225327"/>
            <a:ext cx="5112568"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具體執行依據</a:t>
            </a:r>
            <a:r>
              <a:rPr lang="zh-TW" altLang="en-US" b="1" u="sng" dirty="0">
                <a:latin typeface="微軟正黑體" panose="020B0604030504040204" pitchFamily="34" charset="-120"/>
                <a:ea typeface="微軟正黑體" panose="020B0604030504040204" pitchFamily="34" charset="-120"/>
              </a:rPr>
              <a:t>物體之技術性質</a:t>
            </a:r>
            <a:r>
              <a:rPr lang="zh-TW" altLang="en-US" u="sng" dirty="0">
                <a:latin typeface="微軟正黑體" panose="020B0604030504040204" pitchFamily="34" charset="-120"/>
                <a:ea typeface="微軟正黑體" panose="020B0604030504040204" pitchFamily="34" charset="-120"/>
              </a:rPr>
              <a:t>的資訊處理</a:t>
            </a:r>
            <a:r>
              <a:rPr lang="zh-TW" altLang="en-US" dirty="0">
                <a:latin typeface="微軟正黑體" panose="020B0604030504040204" pitchFamily="34" charset="-120"/>
                <a:ea typeface="微軟正黑體" panose="020B0604030504040204" pitchFamily="34" charset="-120"/>
              </a:rPr>
              <a:t>者</a:t>
            </a:r>
          </a:p>
        </p:txBody>
      </p:sp>
      <p:sp>
        <p:nvSpPr>
          <p:cNvPr id="10" name="矩形 9"/>
          <p:cNvSpPr/>
          <p:nvPr/>
        </p:nvSpPr>
        <p:spPr>
          <a:xfrm>
            <a:off x="117848" y="1732166"/>
            <a:ext cx="1107996" cy="369332"/>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r>
              <a:rPr lang="zh-TW" altLang="en-US" dirty="0">
                <a:latin typeface="微軟正黑體" panose="020B0604030504040204" pitchFamily="34" charset="-120"/>
                <a:ea typeface="微軟正黑體" panose="020B0604030504040204" pitchFamily="34" charset="-120"/>
              </a:rPr>
              <a:t>技術性質</a:t>
            </a:r>
            <a:endParaRPr lang="zh-TW" altLang="en-US" dirty="0"/>
          </a:p>
        </p:txBody>
      </p:sp>
      <p:sp>
        <p:nvSpPr>
          <p:cNvPr id="11" name="矩形 10"/>
          <p:cNvSpPr/>
          <p:nvPr/>
        </p:nvSpPr>
        <p:spPr>
          <a:xfrm>
            <a:off x="1225844" y="1732166"/>
            <a:ext cx="7738644"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技術性質係指</a:t>
            </a:r>
            <a:r>
              <a:rPr lang="zh-TW" altLang="en-US" dirty="0">
                <a:solidFill>
                  <a:srgbClr val="FF0000"/>
                </a:solidFill>
                <a:latin typeface="微軟正黑體" panose="020B0604030504040204" pitchFamily="34" charset="-120"/>
                <a:ea typeface="微軟正黑體" panose="020B0604030504040204" pitchFamily="34" charset="-120"/>
              </a:rPr>
              <a:t>物體</a:t>
            </a:r>
            <a:r>
              <a:rPr lang="zh-TW" altLang="en-US" dirty="0">
                <a:latin typeface="微軟正黑體" panose="020B0604030504040204" pitchFamily="34" charset="-120"/>
                <a:ea typeface="微軟正黑體" panose="020B0604030504040204" pitchFamily="34" charset="-120"/>
              </a:rPr>
              <a:t>之</a:t>
            </a:r>
            <a:r>
              <a:rPr lang="zh-TW" altLang="en-US" b="1" u="sng" dirty="0">
                <a:latin typeface="微軟正黑體" panose="020B0604030504040204" pitchFamily="34" charset="-120"/>
                <a:ea typeface="微軟正黑體" panose="020B0604030504040204" pitchFamily="34" charset="-120"/>
              </a:rPr>
              <a:t>物理性質</a:t>
            </a:r>
            <a:r>
              <a:rPr lang="zh-TW" altLang="en-US" dirty="0">
                <a:latin typeface="微軟正黑體" panose="020B0604030504040204" pitchFamily="34" charset="-120"/>
                <a:ea typeface="微軟正黑體" panose="020B0604030504040204" pitchFamily="34" charset="-120"/>
              </a:rPr>
              <a:t>、</a:t>
            </a:r>
            <a:r>
              <a:rPr lang="zh-TW" altLang="en-US" b="1" u="sng" dirty="0">
                <a:latin typeface="微軟正黑體" panose="020B0604030504040204" pitchFamily="34" charset="-120"/>
                <a:ea typeface="微軟正黑體" panose="020B0604030504040204" pitchFamily="34" charset="-120"/>
              </a:rPr>
              <a:t>化學性質</a:t>
            </a:r>
            <a:r>
              <a:rPr lang="zh-TW" altLang="en-US" dirty="0">
                <a:latin typeface="微軟正黑體" panose="020B0604030504040204" pitchFamily="34" charset="-120"/>
                <a:ea typeface="微軟正黑體" panose="020B0604030504040204" pitchFamily="34" charset="-120"/>
              </a:rPr>
              <a:t>、</a:t>
            </a:r>
            <a:r>
              <a:rPr lang="zh-TW" altLang="en-US" b="1" u="sng" dirty="0">
                <a:latin typeface="微軟正黑體" panose="020B0604030504040204" pitchFamily="34" charset="-120"/>
                <a:ea typeface="微軟正黑體" panose="020B0604030504040204" pitchFamily="34" charset="-120"/>
              </a:rPr>
              <a:t>生物學性質</a:t>
            </a:r>
            <a:r>
              <a:rPr lang="zh-TW" altLang="en-US" dirty="0">
                <a:latin typeface="微軟正黑體" panose="020B0604030504040204" pitchFamily="34" charset="-120"/>
                <a:ea typeface="微軟正黑體" panose="020B0604030504040204" pitchFamily="34" charset="-120"/>
              </a:rPr>
              <a:t>、</a:t>
            </a:r>
            <a:r>
              <a:rPr lang="zh-TW" altLang="en-US" b="1" u="sng" dirty="0">
                <a:latin typeface="微軟正黑體" panose="020B0604030504040204" pitchFamily="34" charset="-120"/>
                <a:ea typeface="微軟正黑體" panose="020B0604030504040204" pitchFamily="34" charset="-120"/>
              </a:rPr>
              <a:t>電性</a:t>
            </a:r>
            <a:r>
              <a:rPr lang="zh-TW" altLang="en-US" dirty="0">
                <a:latin typeface="微軟正黑體" panose="020B0604030504040204" pitchFamily="34" charset="-120"/>
                <a:ea typeface="微軟正黑體" panose="020B0604030504040204" pitchFamily="34" charset="-120"/>
              </a:rPr>
              <a:t>等性質，例如引擎轉速、壓延溫度、基因序列與性狀表現的關係、元素間的物理或化學結合關係等。</a:t>
            </a:r>
          </a:p>
        </p:txBody>
      </p:sp>
      <p:sp>
        <p:nvSpPr>
          <p:cNvPr id="12" name="矩形 11"/>
          <p:cNvSpPr/>
          <p:nvPr/>
        </p:nvSpPr>
        <p:spPr>
          <a:xfrm>
            <a:off x="117849" y="2780928"/>
            <a:ext cx="8846640" cy="1200329"/>
          </a:xfrm>
          <a:prstGeom prst="rect">
            <a:avLst/>
          </a:prstGeom>
        </p:spPr>
        <p:txBody>
          <a:bodyPr wrap="square">
            <a:spAutoFit/>
          </a:bodyPr>
          <a:lstStyle/>
          <a:p>
            <a:r>
              <a:rPr lang="zh-TW" altLang="en-US" dirty="0">
                <a:latin typeface="微軟正黑體" panose="020B0604030504040204" pitchFamily="34" charset="-120"/>
                <a:ea typeface="微軟正黑體" panose="020B0604030504040204" pitchFamily="34" charset="-120"/>
              </a:rPr>
              <a:t>具體執行依據物體之技術性質的資訊處理者：</a:t>
            </a:r>
            <a:endParaRPr lang="en-US" altLang="zh-TW" dirty="0">
              <a:latin typeface="微軟正黑體" panose="020B0604030504040204" pitchFamily="34" charset="-120"/>
              <a:ea typeface="微軟正黑體" panose="020B0604030504040204" pitchFamily="34" charset="-120"/>
            </a:endParaRPr>
          </a:p>
          <a:p>
            <a:r>
              <a:rPr lang="en-US" altLang="zh-TW" dirty="0"/>
              <a:t>(1)</a:t>
            </a:r>
            <a:r>
              <a:rPr lang="zh-TW" altLang="en-US" dirty="0"/>
              <a:t>對於表現出物體技術性質的</a:t>
            </a:r>
            <a:r>
              <a:rPr lang="zh-TW" altLang="en-US" u="sng" dirty="0"/>
              <a:t>數值、圖像</a:t>
            </a:r>
            <a:r>
              <a:rPr lang="zh-TW" altLang="en-US" dirty="0"/>
              <a:t>等資訊，</a:t>
            </a:r>
            <a:r>
              <a:rPr lang="zh-TW" altLang="en-US" b="1" u="sng" dirty="0"/>
              <a:t>基於其技術性質執行計算或處理</a:t>
            </a:r>
            <a:r>
              <a:rPr lang="zh-TW" altLang="en-US" dirty="0"/>
              <a:t>，以獲得</a:t>
            </a:r>
            <a:r>
              <a:rPr lang="zh-TW" altLang="en-US" u="sng" dirty="0"/>
              <a:t>數值、圖像</a:t>
            </a:r>
            <a:r>
              <a:rPr lang="zh-TW" altLang="en-US" dirty="0"/>
              <a:t>等資訊者；</a:t>
            </a:r>
          </a:p>
          <a:p>
            <a:r>
              <a:rPr lang="en-US" altLang="zh-TW" dirty="0"/>
              <a:t>(2)</a:t>
            </a:r>
            <a:r>
              <a:rPr lang="zh-TW" altLang="en-US" dirty="0"/>
              <a:t>利用</a:t>
            </a:r>
            <a:r>
              <a:rPr lang="zh-TW" altLang="en-US" b="1" u="sng" dirty="0"/>
              <a:t>物體狀態與其相對應現象間</a:t>
            </a:r>
            <a:r>
              <a:rPr lang="zh-TW" altLang="en-US" dirty="0"/>
              <a:t>的技術上</a:t>
            </a:r>
            <a:r>
              <a:rPr lang="zh-TW" altLang="en-US" b="1" u="sng" dirty="0"/>
              <a:t>相關關係</a:t>
            </a:r>
            <a:r>
              <a:rPr lang="zh-TW" altLang="en-US" dirty="0"/>
              <a:t>進行資訊處理者。</a:t>
            </a:r>
          </a:p>
        </p:txBody>
      </p:sp>
      <p:pic>
        <p:nvPicPr>
          <p:cNvPr id="1026" name="Picture 2" descr="物理车轮方向- 免费矢量图形Pixabay"/>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20964" y="4149080"/>
            <a:ext cx="1809760" cy="22427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化学分子复合- 免费矢量图形Pixabay"/>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674132" y="4153223"/>
            <a:ext cx="2257908" cy="12794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脱氧核糖核酸双螺旋螺旋- 免费矢量图形Pixabay"/>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6588224" y="4149080"/>
            <a:ext cx="1872003" cy="180192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插头插座墙- 免费矢量图形Pixabay"/>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2915816" y="5903885"/>
            <a:ext cx="1584176" cy="90143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指纹矢量图- 下载免费图片- Pixabay"/>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250582" y="5023363"/>
            <a:ext cx="1465994" cy="1483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518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a:spLocks noGrp="1"/>
          </p:cNvSpPr>
          <p:nvPr>
            <p:ph type="title"/>
          </p:nvPr>
        </p:nvSpPr>
        <p:spPr/>
        <p:txBody>
          <a:bodyPr/>
          <a:lstStyle/>
          <a:p>
            <a:r>
              <a:rPr lang="zh-TW" altLang="en-US" dirty="0"/>
              <a:t>電腦軟體發明定義</a:t>
            </a:r>
          </a:p>
        </p:txBody>
      </p:sp>
      <p:sp>
        <p:nvSpPr>
          <p:cNvPr id="3" name="內容版面配置區 2"/>
          <p:cNvSpPr>
            <a:spLocks noGrp="1"/>
          </p:cNvSpPr>
          <p:nvPr>
            <p:ph idx="1"/>
          </p:nvPr>
        </p:nvSpPr>
        <p:spPr>
          <a:xfrm>
            <a:off x="107504" y="836712"/>
            <a:ext cx="3826768" cy="360040"/>
          </a:xfrm>
        </p:spPr>
        <p:style>
          <a:lnRef idx="0">
            <a:schemeClr val="accent3"/>
          </a:lnRef>
          <a:fillRef idx="3">
            <a:schemeClr val="accent3"/>
          </a:fillRef>
          <a:effectRef idx="3">
            <a:schemeClr val="accent3"/>
          </a:effectRef>
          <a:fontRef idx="minor">
            <a:schemeClr val="lt1"/>
          </a:fontRef>
        </p:style>
        <p:txBody>
          <a:bodyPr>
            <a:normAutofit fontScale="92500" lnSpcReduction="10000"/>
          </a:bodyPr>
          <a:lstStyle/>
          <a:p>
            <a:pPr marL="0" indent="0">
              <a:buNone/>
            </a:pPr>
            <a:r>
              <a:rPr lang="zh-TW" altLang="en-US" sz="2000" dirty="0"/>
              <a:t>明顯符合發明定義之態樣</a:t>
            </a:r>
            <a:endParaRPr lang="en-US" altLang="zh-TW" sz="2000"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32</a:t>
            </a:fld>
            <a:endParaRPr lang="zh-TW" altLang="en-US" dirty="0"/>
          </a:p>
        </p:txBody>
      </p:sp>
      <p:sp>
        <p:nvSpPr>
          <p:cNvPr id="2" name="矩形 1"/>
          <p:cNvSpPr/>
          <p:nvPr/>
        </p:nvSpPr>
        <p:spPr>
          <a:xfrm>
            <a:off x="117848" y="1225327"/>
            <a:ext cx="5112568"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具體執行依據物體之</a:t>
            </a:r>
            <a:r>
              <a:rPr lang="zh-TW" altLang="en-US" u="sng" dirty="0">
                <a:latin typeface="微軟正黑體" panose="020B0604030504040204" pitchFamily="34" charset="-120"/>
                <a:ea typeface="微軟正黑體" panose="020B0604030504040204" pitchFamily="34" charset="-120"/>
              </a:rPr>
              <a:t>技術性質的資訊處理</a:t>
            </a:r>
            <a:r>
              <a:rPr lang="zh-TW" altLang="en-US" dirty="0">
                <a:latin typeface="微軟正黑體" panose="020B0604030504040204" pitchFamily="34" charset="-120"/>
                <a:ea typeface="微軟正黑體" panose="020B0604030504040204" pitchFamily="34" charset="-120"/>
              </a:rPr>
              <a:t>者</a:t>
            </a:r>
          </a:p>
        </p:txBody>
      </p:sp>
      <p:grpSp>
        <p:nvGrpSpPr>
          <p:cNvPr id="8" name="群組 7"/>
          <p:cNvGrpSpPr/>
          <p:nvPr/>
        </p:nvGrpSpPr>
        <p:grpSpPr>
          <a:xfrm>
            <a:off x="101452" y="1747478"/>
            <a:ext cx="8791028" cy="1092684"/>
            <a:chOff x="101452" y="1747478"/>
            <a:chExt cx="8791028" cy="1092684"/>
          </a:xfrm>
        </p:grpSpPr>
        <p:sp>
          <p:nvSpPr>
            <p:cNvPr id="6" name="矩形 5"/>
            <p:cNvSpPr/>
            <p:nvPr/>
          </p:nvSpPr>
          <p:spPr>
            <a:xfrm>
              <a:off x="101452" y="1916832"/>
              <a:ext cx="8791028" cy="92333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對於表現出物體技術性質的數值、圖像等資訊，基於其技術性質執行計算或處理，以獲得數值、圖像等資訊者</a:t>
              </a:r>
            </a:p>
          </p:txBody>
        </p:sp>
        <p:sp>
          <p:nvSpPr>
            <p:cNvPr id="7" name="圓角矩形 6"/>
            <p:cNvSpPr/>
            <p:nvPr/>
          </p:nvSpPr>
          <p:spPr>
            <a:xfrm>
              <a:off x="101452" y="1747478"/>
              <a:ext cx="2454324" cy="3600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技術性質之資訊處理</a:t>
              </a:r>
            </a:p>
          </p:txBody>
        </p:sp>
      </p:grpSp>
      <p:sp>
        <p:nvSpPr>
          <p:cNvPr id="9" name="矩形 8"/>
          <p:cNvSpPr/>
          <p:nvPr/>
        </p:nvSpPr>
        <p:spPr>
          <a:xfrm>
            <a:off x="117848" y="2924944"/>
            <a:ext cx="4572000" cy="3744416"/>
          </a:xfrm>
          <a:prstGeom prst="rect">
            <a:avLst/>
          </a:prstGeom>
        </p:spPr>
        <p:style>
          <a:lnRef idx="1">
            <a:schemeClr val="accent1"/>
          </a:lnRef>
          <a:fillRef idx="2">
            <a:schemeClr val="accent1"/>
          </a:fillRef>
          <a:effectRef idx="1">
            <a:schemeClr val="accent1"/>
          </a:effectRef>
          <a:fontRef idx="minor">
            <a:schemeClr val="dk1"/>
          </a:fontRef>
        </p:style>
        <p:txBody>
          <a:bodyPr>
            <a:noAutofit/>
          </a:bodyPr>
          <a:lstStyle/>
          <a:p>
            <a:r>
              <a:rPr lang="zh-TW" altLang="en-US" sz="2000" dirty="0">
                <a:latin typeface="微軟正黑體" panose="020B0604030504040204" pitchFamily="34" charset="-120"/>
                <a:ea typeface="微軟正黑體" panose="020B0604030504040204" pitchFamily="34" charset="-120"/>
              </a:rPr>
              <a:t>一種分析心電圖訊號之方法，包含下列步驟： </a:t>
            </a:r>
            <a:endParaRPr lang="en-US" altLang="zh-TW" sz="2000" dirty="0">
              <a:latin typeface="微軟正黑體" panose="020B0604030504040204" pitchFamily="34" charset="-120"/>
              <a:ea typeface="微軟正黑體" panose="020B0604030504040204" pitchFamily="34" charset="-120"/>
            </a:endParaRPr>
          </a:p>
          <a:p>
            <a:pPr indent="266700"/>
            <a:r>
              <a:rPr lang="zh-TW" altLang="en-US" sz="2000" dirty="0">
                <a:latin typeface="微軟正黑體" panose="020B0604030504040204" pitchFamily="34" charset="-120"/>
                <a:ea typeface="微軟正黑體" panose="020B0604030504040204" pitchFamily="34" charset="-120"/>
              </a:rPr>
              <a:t>將</a:t>
            </a:r>
            <a:r>
              <a:rPr lang="zh-TW" altLang="en-US" sz="2000" b="1" u="sng" dirty="0">
                <a:latin typeface="微軟正黑體" panose="020B0604030504040204" pitchFamily="34" charset="-120"/>
                <a:ea typeface="微軟正黑體" panose="020B0604030504040204" pitchFamily="34" charset="-120"/>
              </a:rPr>
              <a:t>心臟活動訊號</a:t>
            </a:r>
            <a:r>
              <a:rPr lang="zh-TW" altLang="en-US" sz="2000" dirty="0">
                <a:latin typeface="微軟正黑體" panose="020B0604030504040204" pitchFamily="34" charset="-120"/>
                <a:ea typeface="微軟正黑體" panose="020B0604030504040204" pitchFamily="34" charset="-120"/>
              </a:rPr>
              <a:t>轉換為時域上具有數位值之</a:t>
            </a:r>
            <a:r>
              <a:rPr lang="en-US" altLang="zh-TW" sz="2000" dirty="0">
                <a:latin typeface="微軟正黑體" panose="020B0604030504040204" pitchFamily="34" charset="-120"/>
                <a:ea typeface="微軟正黑體" panose="020B0604030504040204" pitchFamily="34" charset="-120"/>
              </a:rPr>
              <a:t>QRS</a:t>
            </a:r>
            <a:r>
              <a:rPr lang="zh-TW" altLang="en-US" sz="2000" dirty="0">
                <a:latin typeface="微軟正黑體" panose="020B0604030504040204" pitchFamily="34" charset="-120"/>
                <a:ea typeface="微軟正黑體" panose="020B0604030504040204" pitchFamily="34" charset="-120"/>
              </a:rPr>
              <a:t>複合波； </a:t>
            </a:r>
            <a:endParaRPr lang="en-US" altLang="zh-TW" sz="2000" dirty="0">
              <a:latin typeface="微軟正黑體" panose="020B0604030504040204" pitchFamily="34" charset="-120"/>
              <a:ea typeface="微軟正黑體" panose="020B0604030504040204" pitchFamily="34" charset="-120"/>
            </a:endParaRPr>
          </a:p>
          <a:p>
            <a:pPr indent="266700"/>
            <a:r>
              <a:rPr lang="zh-TW" altLang="en-US" sz="2000" dirty="0">
                <a:latin typeface="微軟正黑體" panose="020B0604030504040204" pitchFamily="34" charset="-120"/>
                <a:ea typeface="微軟正黑體" panose="020B0604030504040204" pitchFamily="34" charset="-120"/>
              </a:rPr>
              <a:t>將該</a:t>
            </a:r>
            <a:r>
              <a:rPr lang="en-US" altLang="zh-TW" sz="2000" dirty="0">
                <a:latin typeface="微軟正黑體" panose="020B0604030504040204" pitchFamily="34" charset="-120"/>
                <a:ea typeface="微軟正黑體" panose="020B0604030504040204" pitchFamily="34" charset="-120"/>
              </a:rPr>
              <a:t>QRS</a:t>
            </a:r>
            <a:r>
              <a:rPr lang="zh-TW" altLang="en-US" sz="2000" dirty="0">
                <a:latin typeface="微軟正黑體" panose="020B0604030504040204" pitchFamily="34" charset="-120"/>
                <a:ea typeface="微軟正黑體" panose="020B0604030504040204" pitchFamily="34" charset="-120"/>
              </a:rPr>
              <a:t>複合波以相反之時序通過一高通濾波器； </a:t>
            </a:r>
            <a:endParaRPr lang="en-US" altLang="zh-TW" sz="2000" dirty="0">
              <a:latin typeface="微軟正黑體" panose="020B0604030504040204" pitchFamily="34" charset="-120"/>
              <a:ea typeface="微軟正黑體" panose="020B0604030504040204" pitchFamily="34" charset="-120"/>
            </a:endParaRPr>
          </a:p>
          <a:p>
            <a:pPr indent="266700"/>
            <a:r>
              <a:rPr lang="zh-TW" altLang="en-US" sz="2000" dirty="0">
                <a:latin typeface="微軟正黑體" panose="020B0604030504040204" pitchFamily="34" charset="-120"/>
                <a:ea typeface="微軟正黑體" panose="020B0604030504040204" pitchFamily="34" charset="-120"/>
              </a:rPr>
              <a:t>取得通過該高通濾波器後輸出之數值；以及 </a:t>
            </a:r>
            <a:endParaRPr lang="en-US" altLang="zh-TW" sz="2000" dirty="0">
              <a:latin typeface="微軟正黑體" panose="020B0604030504040204" pitchFamily="34" charset="-120"/>
              <a:ea typeface="微軟正黑體" panose="020B0604030504040204" pitchFamily="34" charset="-120"/>
            </a:endParaRPr>
          </a:p>
          <a:p>
            <a:pPr indent="266700"/>
            <a:r>
              <a:rPr lang="zh-TW" altLang="en-US" sz="2000" dirty="0">
                <a:latin typeface="微軟正黑體" panose="020B0604030504040204" pitchFamily="34" charset="-120"/>
                <a:ea typeface="微軟正黑體" panose="020B0604030504040204" pitchFamily="34" charset="-120"/>
              </a:rPr>
              <a:t>比較該數值與一預設高頻值。</a:t>
            </a:r>
          </a:p>
        </p:txBody>
      </p:sp>
      <p:sp>
        <p:nvSpPr>
          <p:cNvPr id="25" name="矩形 24"/>
          <p:cNvSpPr/>
          <p:nvPr/>
        </p:nvSpPr>
        <p:spPr>
          <a:xfrm>
            <a:off x="8175389" y="1547500"/>
            <a:ext cx="811563" cy="369332"/>
          </a:xfrm>
          <a:prstGeom prst="rect">
            <a:avLst/>
          </a:prstGeom>
        </p:spPr>
        <p:txBody>
          <a:bodyPr wrap="square">
            <a:spAutoFit/>
          </a:bodyPr>
          <a:lstStyle/>
          <a:p>
            <a:r>
              <a:rPr lang="zh-TW" altLang="en-US" dirty="0">
                <a:latin typeface="微軟正黑體"/>
                <a:ea typeface="微軟正黑體"/>
              </a:rPr>
              <a:t>①</a:t>
            </a:r>
            <a:r>
              <a:rPr lang="en-US" altLang="zh-TW" dirty="0">
                <a:latin typeface="微軟正黑體"/>
                <a:ea typeface="微軟正黑體"/>
              </a:rPr>
              <a:t>/</a:t>
            </a:r>
            <a:r>
              <a:rPr lang="zh-TW" altLang="en-US" dirty="0">
                <a:latin typeface="微軟正黑體"/>
                <a:ea typeface="微軟正黑體"/>
              </a:rPr>
              <a:t>②</a:t>
            </a:r>
            <a:endParaRPr lang="zh-TW" altLang="en-US" dirty="0"/>
          </a:p>
        </p:txBody>
      </p:sp>
      <p:pic>
        <p:nvPicPr>
          <p:cNvPr id="2050" name="Picture 2" descr="控制台监测心跳- 免费矢量图形Pixabay"/>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244357" y="4181984"/>
            <a:ext cx="1230336" cy="123033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心跳心电图脉冲- 免费矢量图形Pixabay"/>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04048" y="4684842"/>
            <a:ext cx="1055167" cy="52758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心脏脉冲收缩- 免费矢量图形Pixabay"/>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689928" y="3035246"/>
            <a:ext cx="1683406" cy="112577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心跳心电图脉冲- 免费矢量图形Pixabay"/>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flipH="1">
            <a:off x="7638612" y="4684842"/>
            <a:ext cx="1073554" cy="527584"/>
          </a:xfrm>
          <a:prstGeom prst="rect">
            <a:avLst/>
          </a:prstGeom>
          <a:noFill/>
          <a:extLst>
            <a:ext uri="{909E8E84-426E-40DD-AFC4-6F175D3DCCD1}">
              <a14:hiddenFill xmlns:a14="http://schemas.microsoft.com/office/drawing/2010/main">
                <a:solidFill>
                  <a:srgbClr val="FFFFFF"/>
                </a:solidFill>
              </a14:hiddenFill>
            </a:ext>
          </a:extLst>
        </p:spPr>
      </p:pic>
      <p:sp>
        <p:nvSpPr>
          <p:cNvPr id="10" name="向下箭號 9"/>
          <p:cNvSpPr/>
          <p:nvPr/>
        </p:nvSpPr>
        <p:spPr>
          <a:xfrm>
            <a:off x="5178970" y="4199496"/>
            <a:ext cx="484632" cy="2880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弧形箭號 (上彎) 10"/>
          <p:cNvSpPr/>
          <p:nvPr/>
        </p:nvSpPr>
        <p:spPr>
          <a:xfrm>
            <a:off x="5421286" y="5301208"/>
            <a:ext cx="823071" cy="2160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 name="弧形箭號 (上彎) 17"/>
          <p:cNvSpPr/>
          <p:nvPr/>
        </p:nvSpPr>
        <p:spPr>
          <a:xfrm>
            <a:off x="7489700" y="5345596"/>
            <a:ext cx="823071" cy="2160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41525768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a:spLocks noGrp="1"/>
          </p:cNvSpPr>
          <p:nvPr>
            <p:ph type="title"/>
          </p:nvPr>
        </p:nvSpPr>
        <p:spPr/>
        <p:txBody>
          <a:bodyPr/>
          <a:lstStyle/>
          <a:p>
            <a:r>
              <a:rPr lang="zh-TW" altLang="en-US" dirty="0"/>
              <a:t>電腦軟體發明定義</a:t>
            </a:r>
          </a:p>
        </p:txBody>
      </p:sp>
      <p:sp>
        <p:nvSpPr>
          <p:cNvPr id="3" name="內容版面配置區 2"/>
          <p:cNvSpPr>
            <a:spLocks noGrp="1"/>
          </p:cNvSpPr>
          <p:nvPr>
            <p:ph idx="1"/>
          </p:nvPr>
        </p:nvSpPr>
        <p:spPr>
          <a:xfrm>
            <a:off x="107504" y="836712"/>
            <a:ext cx="3826768" cy="360040"/>
          </a:xfrm>
        </p:spPr>
        <p:style>
          <a:lnRef idx="0">
            <a:schemeClr val="accent3"/>
          </a:lnRef>
          <a:fillRef idx="3">
            <a:schemeClr val="accent3"/>
          </a:fillRef>
          <a:effectRef idx="3">
            <a:schemeClr val="accent3"/>
          </a:effectRef>
          <a:fontRef idx="minor">
            <a:schemeClr val="lt1"/>
          </a:fontRef>
        </p:style>
        <p:txBody>
          <a:bodyPr>
            <a:normAutofit fontScale="92500" lnSpcReduction="10000"/>
          </a:bodyPr>
          <a:lstStyle/>
          <a:p>
            <a:pPr marL="0" indent="0">
              <a:buNone/>
            </a:pPr>
            <a:r>
              <a:rPr lang="zh-TW" altLang="en-US" sz="2000" dirty="0"/>
              <a:t>明顯符合發明定義之態樣</a:t>
            </a:r>
            <a:endParaRPr lang="en-US" altLang="zh-TW" sz="2000"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33</a:t>
            </a:fld>
            <a:endParaRPr lang="zh-TW" altLang="en-US"/>
          </a:p>
        </p:txBody>
      </p:sp>
      <p:sp>
        <p:nvSpPr>
          <p:cNvPr id="2" name="矩形 1"/>
          <p:cNvSpPr/>
          <p:nvPr/>
        </p:nvSpPr>
        <p:spPr>
          <a:xfrm>
            <a:off x="117848" y="1225327"/>
            <a:ext cx="5112568"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具體執行依據物體之</a:t>
            </a:r>
            <a:r>
              <a:rPr lang="zh-TW" altLang="en-US" u="sng" dirty="0">
                <a:latin typeface="微軟正黑體" panose="020B0604030504040204" pitchFamily="34" charset="-120"/>
                <a:ea typeface="微軟正黑體" panose="020B0604030504040204" pitchFamily="34" charset="-120"/>
              </a:rPr>
              <a:t>技術性質的資訊處理</a:t>
            </a:r>
            <a:r>
              <a:rPr lang="zh-TW" altLang="en-US" dirty="0">
                <a:latin typeface="微軟正黑體" panose="020B0604030504040204" pitchFamily="34" charset="-120"/>
                <a:ea typeface="微軟正黑體" panose="020B0604030504040204" pitchFamily="34" charset="-120"/>
              </a:rPr>
              <a:t>者</a:t>
            </a:r>
          </a:p>
        </p:txBody>
      </p:sp>
      <p:grpSp>
        <p:nvGrpSpPr>
          <p:cNvPr id="8" name="群組 7"/>
          <p:cNvGrpSpPr/>
          <p:nvPr/>
        </p:nvGrpSpPr>
        <p:grpSpPr>
          <a:xfrm>
            <a:off x="101452" y="1747478"/>
            <a:ext cx="8791028" cy="815685"/>
            <a:chOff x="101452" y="1747478"/>
            <a:chExt cx="8791028" cy="815685"/>
          </a:xfrm>
        </p:grpSpPr>
        <p:sp>
          <p:nvSpPr>
            <p:cNvPr id="6" name="矩形 5"/>
            <p:cNvSpPr/>
            <p:nvPr/>
          </p:nvSpPr>
          <p:spPr>
            <a:xfrm>
              <a:off x="101452" y="1916832"/>
              <a:ext cx="879102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利用物體</a:t>
              </a:r>
              <a:r>
                <a:rPr lang="zh-TW" altLang="en-US" u="sng" dirty="0">
                  <a:latin typeface="微軟正黑體" panose="020B0604030504040204" pitchFamily="34" charset="-120"/>
                  <a:ea typeface="微軟正黑體" panose="020B0604030504040204" pitchFamily="34" charset="-120"/>
                </a:rPr>
                <a:t>狀態</a:t>
              </a:r>
              <a:r>
                <a:rPr lang="zh-TW" altLang="en-US" dirty="0">
                  <a:latin typeface="微軟正黑體" panose="020B0604030504040204" pitchFamily="34" charset="-120"/>
                  <a:ea typeface="微軟正黑體" panose="020B0604030504040204" pitchFamily="34" charset="-120"/>
                </a:rPr>
                <a:t>與其相對應</a:t>
              </a:r>
              <a:r>
                <a:rPr lang="zh-TW" altLang="en-US" u="sng" dirty="0">
                  <a:latin typeface="微軟正黑體" panose="020B0604030504040204" pitchFamily="34" charset="-120"/>
                  <a:ea typeface="微軟正黑體" panose="020B0604030504040204" pitchFamily="34" charset="-120"/>
                </a:rPr>
                <a:t>現象</a:t>
              </a:r>
              <a:r>
                <a:rPr lang="zh-TW" altLang="en-US" dirty="0">
                  <a:latin typeface="微軟正黑體" panose="020B0604030504040204" pitchFamily="34" charset="-120"/>
                  <a:ea typeface="微軟正黑體" panose="020B0604030504040204" pitchFamily="34" charset="-120"/>
                </a:rPr>
                <a:t>間的</a:t>
              </a:r>
              <a:r>
                <a:rPr lang="zh-TW" altLang="en-US" u="sng" dirty="0">
                  <a:latin typeface="微軟正黑體" panose="020B0604030504040204" pitchFamily="34" charset="-120"/>
                  <a:ea typeface="微軟正黑體" panose="020B0604030504040204" pitchFamily="34" charset="-120"/>
                </a:rPr>
                <a:t>技術上相關關係</a:t>
              </a:r>
              <a:r>
                <a:rPr lang="zh-TW" altLang="en-US" dirty="0">
                  <a:latin typeface="微軟正黑體" panose="020B0604030504040204" pitchFamily="34" charset="-120"/>
                  <a:ea typeface="微軟正黑體" panose="020B0604030504040204" pitchFamily="34" charset="-120"/>
                </a:rPr>
                <a:t>進行資訊處</a:t>
              </a:r>
              <a:r>
                <a:rPr lang="zh-TW" altLang="en-US" dirty="0"/>
                <a:t>理者</a:t>
              </a:r>
              <a:endParaRPr lang="zh-TW" altLang="en-US" dirty="0">
                <a:latin typeface="微軟正黑體" panose="020B0604030504040204" pitchFamily="34" charset="-120"/>
                <a:ea typeface="微軟正黑體" panose="020B0604030504040204" pitchFamily="34" charset="-120"/>
              </a:endParaRPr>
            </a:p>
          </p:txBody>
        </p:sp>
        <p:sp>
          <p:nvSpPr>
            <p:cNvPr id="7" name="圓角矩形 6"/>
            <p:cNvSpPr/>
            <p:nvPr/>
          </p:nvSpPr>
          <p:spPr>
            <a:xfrm>
              <a:off x="101452" y="1747478"/>
              <a:ext cx="2454324" cy="3600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技術性質之資訊處理</a:t>
              </a:r>
            </a:p>
          </p:txBody>
        </p:sp>
      </p:grpSp>
      <p:sp>
        <p:nvSpPr>
          <p:cNvPr id="9" name="矩形 8"/>
          <p:cNvSpPr/>
          <p:nvPr/>
        </p:nvSpPr>
        <p:spPr>
          <a:xfrm>
            <a:off x="117848" y="2708920"/>
            <a:ext cx="4572000" cy="3960440"/>
          </a:xfrm>
          <a:prstGeom prst="rect">
            <a:avLst/>
          </a:prstGeom>
        </p:spPr>
        <p:style>
          <a:lnRef idx="1">
            <a:schemeClr val="accent1"/>
          </a:lnRef>
          <a:fillRef idx="2">
            <a:schemeClr val="accent1"/>
          </a:fillRef>
          <a:effectRef idx="1">
            <a:schemeClr val="accent1"/>
          </a:effectRef>
          <a:fontRef idx="minor">
            <a:schemeClr val="dk1"/>
          </a:fontRef>
        </p:style>
        <p:txBody>
          <a:bodyPr>
            <a:noAutofit/>
          </a:bodyPr>
          <a:lstStyle/>
          <a:p>
            <a:r>
              <a:rPr lang="zh-TW" altLang="en-US" sz="2000" dirty="0">
                <a:latin typeface="微軟正黑體" panose="020B0604030504040204" pitchFamily="34" charset="-120"/>
                <a:ea typeface="微軟正黑體" panose="020B0604030504040204" pitchFamily="34" charset="-120"/>
              </a:rPr>
              <a:t>一種用於預防二次車禍發生之電腦程式產品，經電腦載入後可執行下列步驟：</a:t>
            </a:r>
          </a:p>
          <a:p>
            <a:pPr indent="266700"/>
            <a:r>
              <a:rPr lang="zh-TW" altLang="en-US" sz="2000" dirty="0">
                <a:latin typeface="微軟正黑體" panose="020B0604030504040204" pitchFamily="34" charset="-120"/>
                <a:ea typeface="微軟正黑體" panose="020B0604030504040204" pitchFamily="34" charset="-120"/>
              </a:rPr>
              <a:t>依據一車輛之終端機所傳送之該</a:t>
            </a:r>
            <a:r>
              <a:rPr lang="zh-TW" altLang="en-US" sz="2000" b="1" u="sng" dirty="0">
                <a:latin typeface="微軟正黑體" panose="020B0604030504040204" pitchFamily="34" charset="-120"/>
                <a:ea typeface="微軟正黑體" panose="020B0604030504040204" pitchFamily="34" charset="-120"/>
              </a:rPr>
              <a:t>車輛加速度及速度資料</a:t>
            </a:r>
            <a:r>
              <a:rPr lang="zh-TW" altLang="en-US" sz="2000" u="sng" dirty="0">
                <a:latin typeface="微軟正黑體" panose="020B0604030504040204" pitchFamily="34" charset="-120"/>
                <a:ea typeface="微軟正黑體" panose="020B0604030504040204" pitchFamily="34" charset="-120"/>
              </a:rPr>
              <a:t>，確認該車輛遭受撞擊且已停止</a:t>
            </a:r>
            <a:r>
              <a:rPr lang="zh-TW" altLang="en-US" sz="2000" dirty="0">
                <a:latin typeface="微軟正黑體" panose="020B0604030504040204" pitchFamily="34" charset="-120"/>
                <a:ea typeface="微軟正黑體" panose="020B0604030504040204" pitchFamily="34" charset="-120"/>
              </a:rPr>
              <a:t>；</a:t>
            </a:r>
          </a:p>
          <a:p>
            <a:pPr indent="266700"/>
            <a:r>
              <a:rPr lang="zh-TW" altLang="en-US" sz="2000" dirty="0">
                <a:latin typeface="微軟正黑體" panose="020B0604030504040204" pitchFamily="34" charset="-120"/>
                <a:ea typeface="微軟正黑體" panose="020B0604030504040204" pitchFamily="34" charset="-120"/>
              </a:rPr>
              <a:t>分析鄰近該車輛之</a:t>
            </a:r>
            <a:r>
              <a:rPr lang="zh-TW" altLang="en-US" sz="2000" u="sng" dirty="0">
                <a:latin typeface="微軟正黑體" panose="020B0604030504040204" pitchFamily="34" charset="-120"/>
                <a:ea typeface="微軟正黑體" panose="020B0604030504040204" pitchFamily="34" charset="-120"/>
              </a:rPr>
              <a:t>其他車輛的速度是否降低</a:t>
            </a:r>
            <a:r>
              <a:rPr lang="zh-TW" altLang="en-US" sz="2000" dirty="0">
                <a:latin typeface="微軟正黑體" panose="020B0604030504040204" pitchFamily="34" charset="-120"/>
                <a:ea typeface="微軟正黑體" panose="020B0604030504040204" pitchFamily="34" charset="-120"/>
              </a:rPr>
              <a:t>，</a:t>
            </a:r>
            <a:r>
              <a:rPr lang="zh-TW" altLang="en-US" sz="2000" u="sng" dirty="0">
                <a:latin typeface="微軟正黑體" panose="020B0604030504040204" pitchFamily="34" charset="-120"/>
                <a:ea typeface="微軟正黑體" panose="020B0604030504040204" pitchFamily="34" charset="-120"/>
              </a:rPr>
              <a:t>以判斷該車輛是否發生車禍</a:t>
            </a:r>
            <a:r>
              <a:rPr lang="zh-TW" altLang="en-US" sz="2000" dirty="0">
                <a:latin typeface="微軟正黑體" panose="020B0604030504040204" pitchFamily="34" charset="-120"/>
                <a:ea typeface="微軟正黑體" panose="020B0604030504040204" pitchFamily="34" charset="-120"/>
              </a:rPr>
              <a:t>；</a:t>
            </a:r>
          </a:p>
          <a:p>
            <a:pPr indent="266700"/>
            <a:r>
              <a:rPr lang="zh-TW" altLang="en-US" sz="2000" dirty="0">
                <a:latin typeface="微軟正黑體" panose="020B0604030504040204" pitchFamily="34" charset="-120"/>
                <a:ea typeface="微軟正黑體" panose="020B0604030504040204" pitchFamily="34" charset="-120"/>
              </a:rPr>
              <a:t>傳送發生車禍之資訊給鄰近該車輛之其他車輛。</a:t>
            </a:r>
          </a:p>
        </p:txBody>
      </p:sp>
      <p:sp>
        <p:nvSpPr>
          <p:cNvPr id="11" name="矩形 10"/>
          <p:cNvSpPr/>
          <p:nvPr/>
        </p:nvSpPr>
        <p:spPr>
          <a:xfrm>
            <a:off x="8149969" y="1532162"/>
            <a:ext cx="742511" cy="369332"/>
          </a:xfrm>
          <a:prstGeom prst="rect">
            <a:avLst/>
          </a:prstGeom>
        </p:spPr>
        <p:txBody>
          <a:bodyPr wrap="none">
            <a:spAutoFit/>
          </a:bodyPr>
          <a:lstStyle/>
          <a:p>
            <a:r>
              <a:rPr lang="zh-TW" altLang="en-US" dirty="0">
                <a:latin typeface="微軟正黑體"/>
                <a:ea typeface="微軟正黑體"/>
              </a:rPr>
              <a:t>②</a:t>
            </a:r>
            <a:r>
              <a:rPr lang="en-US" altLang="zh-TW" dirty="0">
                <a:latin typeface="微軟正黑體"/>
                <a:ea typeface="微軟正黑體"/>
              </a:rPr>
              <a:t>/</a:t>
            </a:r>
            <a:r>
              <a:rPr lang="zh-TW" altLang="en-US" dirty="0">
                <a:latin typeface="微軟正黑體"/>
                <a:ea typeface="微軟正黑體"/>
              </a:rPr>
              <a:t>②</a:t>
            </a:r>
            <a:endParaRPr lang="zh-TW" altLang="en-US" dirty="0"/>
          </a:p>
        </p:txBody>
      </p:sp>
      <p:grpSp>
        <p:nvGrpSpPr>
          <p:cNvPr id="15" name="群組 14"/>
          <p:cNvGrpSpPr/>
          <p:nvPr/>
        </p:nvGrpSpPr>
        <p:grpSpPr>
          <a:xfrm>
            <a:off x="5205709" y="3601741"/>
            <a:ext cx="3750087" cy="2491556"/>
            <a:chOff x="5205709" y="3601741"/>
            <a:chExt cx="3750087" cy="2491556"/>
          </a:xfrm>
        </p:grpSpPr>
        <p:pic>
          <p:nvPicPr>
            <p:cNvPr id="3074" name="Picture 2" descr="意外碰撞汽车- 免费矢量图形Pixabay"/>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882856" y="3601741"/>
              <a:ext cx="2151131" cy="209735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车粉色的车辆- 免费矢量图形Pixabay"/>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845684" y="3650514"/>
              <a:ext cx="1110112" cy="68314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图标沟通发件人- 免费矢量图形Pixabay"/>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rot="3308316">
              <a:off x="7508359" y="4222476"/>
              <a:ext cx="473822" cy="37366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绿色车车辆- 免费矢量图形Pixabay"/>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flipH="1">
              <a:off x="5458452" y="5517232"/>
              <a:ext cx="1152128" cy="576064"/>
            </a:xfrm>
            <a:prstGeom prst="rect">
              <a:avLst/>
            </a:prstGeom>
            <a:noFill/>
            <a:extLst>
              <a:ext uri="{909E8E84-426E-40DD-AFC4-6F175D3DCCD1}">
                <a14:hiddenFill xmlns:a14="http://schemas.microsoft.com/office/drawing/2010/main">
                  <a:solidFill>
                    <a:srgbClr val="FFFFFF"/>
                  </a:solidFill>
                </a14:hiddenFill>
              </a:ext>
            </a:extLst>
          </p:spPr>
        </p:pic>
        <p:sp>
          <p:nvSpPr>
            <p:cNvPr id="13" name="流程圖: 合併 12"/>
            <p:cNvSpPr/>
            <p:nvPr/>
          </p:nvSpPr>
          <p:spPr>
            <a:xfrm rot="16200000" flipH="1">
              <a:off x="5525749" y="5727538"/>
              <a:ext cx="45719" cy="685800"/>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流程圖: 合併 18"/>
            <p:cNvSpPr/>
            <p:nvPr/>
          </p:nvSpPr>
          <p:spPr>
            <a:xfrm rot="16200000" flipH="1">
              <a:off x="5367147" y="5815124"/>
              <a:ext cx="45721" cy="342901"/>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539182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a:spLocks noGrp="1"/>
          </p:cNvSpPr>
          <p:nvPr>
            <p:ph type="title"/>
          </p:nvPr>
        </p:nvSpPr>
        <p:spPr/>
        <p:txBody>
          <a:bodyPr/>
          <a:lstStyle/>
          <a:p>
            <a:r>
              <a:rPr lang="zh-TW" altLang="en-US" dirty="0"/>
              <a:t>電腦軟體發明定義</a:t>
            </a:r>
          </a:p>
        </p:txBody>
      </p:sp>
      <p:sp>
        <p:nvSpPr>
          <p:cNvPr id="3" name="內容版面配置區 2"/>
          <p:cNvSpPr>
            <a:spLocks noGrp="1"/>
          </p:cNvSpPr>
          <p:nvPr>
            <p:ph idx="1"/>
          </p:nvPr>
        </p:nvSpPr>
        <p:spPr>
          <a:xfrm>
            <a:off x="136079" y="836712"/>
            <a:ext cx="2851745" cy="360040"/>
          </a:xfrm>
        </p:spPr>
        <p:style>
          <a:lnRef idx="0">
            <a:schemeClr val="accent3"/>
          </a:lnRef>
          <a:fillRef idx="3">
            <a:schemeClr val="accent3"/>
          </a:fillRef>
          <a:effectRef idx="3">
            <a:schemeClr val="accent3"/>
          </a:effectRef>
          <a:fontRef idx="minor">
            <a:schemeClr val="lt1"/>
          </a:fontRef>
        </p:style>
        <p:txBody>
          <a:bodyPr>
            <a:normAutofit fontScale="92500" lnSpcReduction="10000"/>
          </a:bodyPr>
          <a:lstStyle/>
          <a:p>
            <a:pPr marL="0" indent="0">
              <a:buNone/>
            </a:pPr>
            <a:r>
              <a:rPr lang="zh-TW" altLang="en-US" sz="2000" dirty="0"/>
              <a:t>明顯不符發明定義之態樣</a:t>
            </a:r>
            <a:endParaRPr lang="en-US" altLang="zh-TW" sz="2000"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34</a:t>
            </a:fld>
            <a:endParaRPr lang="zh-TW" altLang="en-US"/>
          </a:p>
        </p:txBody>
      </p:sp>
      <p:sp>
        <p:nvSpPr>
          <p:cNvPr id="14" name="圓角矩形 13"/>
          <p:cNvSpPr/>
          <p:nvPr/>
        </p:nvSpPr>
        <p:spPr>
          <a:xfrm>
            <a:off x="179512" y="1772816"/>
            <a:ext cx="8784976" cy="70835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000" dirty="0">
                <a:latin typeface="微軟正黑體" panose="020B0604030504040204" pitchFamily="34" charset="-120"/>
                <a:ea typeface="微軟正黑體" panose="020B0604030504040204" pitchFamily="34" charset="-120"/>
              </a:rPr>
              <a:t>(1)</a:t>
            </a:r>
            <a:r>
              <a:rPr lang="zh-TW" altLang="en-US" sz="2000" dirty="0">
                <a:latin typeface="微軟正黑體" panose="020B0604030504040204" pitchFamily="34" charset="-120"/>
                <a:ea typeface="微軟正黑體" panose="020B0604030504040204" pitchFamily="34" charset="-120"/>
              </a:rPr>
              <a:t>人為安排（</a:t>
            </a:r>
            <a:r>
              <a:rPr lang="en-US" altLang="zh-TW" sz="2000" dirty="0">
                <a:latin typeface="微軟正黑體" panose="020B0604030504040204" pitchFamily="34" charset="-120"/>
                <a:ea typeface="微軟正黑體" panose="020B0604030504040204" pitchFamily="34" charset="-120"/>
              </a:rPr>
              <a:t>artificial arrangement</a:t>
            </a:r>
            <a:r>
              <a:rPr lang="zh-TW" altLang="en-US" sz="2000" dirty="0">
                <a:latin typeface="微軟正黑體" panose="020B0604030504040204" pitchFamily="34" charset="-120"/>
                <a:ea typeface="微軟正黑體" panose="020B0604030504040204" pitchFamily="34" charset="-120"/>
              </a:rPr>
              <a:t>），例如程式語言</a:t>
            </a:r>
          </a:p>
        </p:txBody>
      </p:sp>
      <p:sp>
        <p:nvSpPr>
          <p:cNvPr id="29" name="圓角矩形 28"/>
          <p:cNvSpPr/>
          <p:nvPr/>
        </p:nvSpPr>
        <p:spPr>
          <a:xfrm>
            <a:off x="179512" y="2652295"/>
            <a:ext cx="8784000" cy="709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000" dirty="0">
                <a:latin typeface="微軟正黑體" panose="020B0604030504040204" pitchFamily="34" charset="-120"/>
                <a:ea typeface="微軟正黑體" panose="020B0604030504040204" pitchFamily="34" charset="-120"/>
              </a:rPr>
              <a:t>(2)</a:t>
            </a:r>
            <a:r>
              <a:rPr lang="zh-TW" altLang="en-US" sz="2000" dirty="0">
                <a:latin typeface="微軟正黑體" panose="020B0604030504040204" pitchFamily="34" charset="-120"/>
                <a:ea typeface="微軟正黑體" panose="020B0604030504040204" pitchFamily="34" charset="-120"/>
              </a:rPr>
              <a:t>自然法則以外之規律或人為規則，例如遊戲或運動之規則或方法、經濟法則等</a:t>
            </a:r>
          </a:p>
        </p:txBody>
      </p:sp>
      <p:sp>
        <p:nvSpPr>
          <p:cNvPr id="30" name="圓角矩形 29"/>
          <p:cNvSpPr/>
          <p:nvPr/>
        </p:nvSpPr>
        <p:spPr>
          <a:xfrm>
            <a:off x="179512" y="3532623"/>
            <a:ext cx="8784000" cy="709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000" dirty="0">
                <a:latin typeface="微軟正黑體" panose="020B0604030504040204" pitchFamily="34" charset="-120"/>
                <a:ea typeface="微軟正黑體" panose="020B0604030504040204" pitchFamily="34" charset="-120"/>
              </a:rPr>
              <a:t>(3)</a:t>
            </a:r>
            <a:r>
              <a:rPr lang="zh-TW" altLang="en-US" sz="2000" dirty="0">
                <a:latin typeface="微軟正黑體" panose="020B0604030504040204" pitchFamily="34" charset="-120"/>
                <a:ea typeface="微軟正黑體" panose="020B0604030504040204" pitchFamily="34" charset="-120"/>
              </a:rPr>
              <a:t>數學公式或數學方法，例如快速傅立葉變換之方法</a:t>
            </a:r>
          </a:p>
        </p:txBody>
      </p:sp>
      <p:sp>
        <p:nvSpPr>
          <p:cNvPr id="31" name="圓角矩形 30"/>
          <p:cNvSpPr/>
          <p:nvPr/>
        </p:nvSpPr>
        <p:spPr>
          <a:xfrm>
            <a:off x="179512" y="4412951"/>
            <a:ext cx="8784000" cy="709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000" dirty="0">
                <a:latin typeface="微軟正黑體" panose="020B0604030504040204" pitchFamily="34" charset="-120"/>
                <a:ea typeface="微軟正黑體" panose="020B0604030504040204" pitchFamily="34" charset="-120"/>
              </a:rPr>
              <a:t>(4)</a:t>
            </a:r>
            <a:r>
              <a:rPr lang="zh-TW" altLang="en-US" sz="2000" dirty="0">
                <a:latin typeface="微軟正黑體" panose="020B0604030504040204" pitchFamily="34" charset="-120"/>
                <a:ea typeface="微軟正黑體" panose="020B0604030504040204" pitchFamily="34" charset="-120"/>
              </a:rPr>
              <a:t>人類的精神或心智活動，例如法律文件的撰寫</a:t>
            </a:r>
          </a:p>
        </p:txBody>
      </p:sp>
      <p:sp>
        <p:nvSpPr>
          <p:cNvPr id="32" name="圓角矩形 31"/>
          <p:cNvSpPr/>
          <p:nvPr/>
        </p:nvSpPr>
        <p:spPr>
          <a:xfrm>
            <a:off x="177974" y="5293278"/>
            <a:ext cx="8784000" cy="709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000" dirty="0">
                <a:latin typeface="微軟正黑體" panose="020B0604030504040204" pitchFamily="34" charset="-120"/>
                <a:ea typeface="微軟正黑體" panose="020B0604030504040204" pitchFamily="34" charset="-120"/>
              </a:rPr>
              <a:t>(5)</a:t>
            </a:r>
            <a:r>
              <a:rPr lang="zh-TW" altLang="en-US" sz="2000" dirty="0">
                <a:latin typeface="微軟正黑體" panose="020B0604030504040204" pitchFamily="34" charset="-120"/>
                <a:ea typeface="微軟正黑體" panose="020B0604030504040204" pitchFamily="34" charset="-120"/>
              </a:rPr>
              <a:t>僅利用前述</a:t>
            </a:r>
            <a:r>
              <a:rPr lang="en-US" altLang="zh-TW" sz="2000" dirty="0">
                <a:latin typeface="微軟正黑體" panose="020B0604030504040204" pitchFamily="34" charset="-120"/>
                <a:ea typeface="微軟正黑體" panose="020B0604030504040204" pitchFamily="34" charset="-120"/>
              </a:rPr>
              <a:t>(1)</a:t>
            </a:r>
            <a:r>
              <a:rPr lang="zh-TW" altLang="en-US" sz="2000" dirty="0">
                <a:latin typeface="微軟正黑體" panose="020B0604030504040204" pitchFamily="34" charset="-120"/>
                <a:ea typeface="微軟正黑體" panose="020B0604030504040204" pitchFamily="34" charset="-120"/>
              </a:rPr>
              <a:t>至</a:t>
            </a:r>
            <a:r>
              <a:rPr lang="en-US" altLang="zh-TW" sz="2000" dirty="0">
                <a:latin typeface="微軟正黑體" panose="020B0604030504040204" pitchFamily="34" charset="-120"/>
                <a:ea typeface="微軟正黑體" panose="020B0604030504040204" pitchFamily="34" charset="-120"/>
              </a:rPr>
              <a:t>(4)</a:t>
            </a:r>
            <a:r>
              <a:rPr lang="zh-TW" altLang="en-US" sz="2000" dirty="0">
                <a:latin typeface="微軟正黑體" panose="020B0604030504040204" pitchFamily="34" charset="-120"/>
                <a:ea typeface="微軟正黑體" panose="020B0604030504040204" pitchFamily="34" charset="-120"/>
              </a:rPr>
              <a:t>者，例如商業方法的實現</a:t>
            </a:r>
          </a:p>
        </p:txBody>
      </p:sp>
      <p:sp>
        <p:nvSpPr>
          <p:cNvPr id="22" name="矩形 21"/>
          <p:cNvSpPr/>
          <p:nvPr/>
        </p:nvSpPr>
        <p:spPr>
          <a:xfrm>
            <a:off x="195883" y="1365384"/>
            <a:ext cx="2835374" cy="369332"/>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zh-TW" altLang="en-US" b="1" dirty="0">
                <a:latin typeface="微軟正黑體" panose="020B0604030504040204" pitchFamily="34" charset="-120"/>
                <a:ea typeface="微軟正黑體" panose="020B0604030504040204" pitchFamily="34" charset="-120"/>
              </a:rPr>
              <a:t>非利用自然法則者</a:t>
            </a:r>
          </a:p>
        </p:txBody>
      </p:sp>
    </p:spTree>
    <p:extLst>
      <p:ext uri="{BB962C8B-B14F-4D97-AF65-F5344CB8AC3E}">
        <p14:creationId xmlns:p14="http://schemas.microsoft.com/office/powerpoint/2010/main" val="15103192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電腦軟體發明定義</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35</a:t>
            </a:fld>
            <a:endParaRPr lang="zh-TW" altLang="en-US"/>
          </a:p>
        </p:txBody>
      </p:sp>
      <p:sp>
        <p:nvSpPr>
          <p:cNvPr id="5" name="矩形 4"/>
          <p:cNvSpPr/>
          <p:nvPr/>
        </p:nvSpPr>
        <p:spPr>
          <a:xfrm>
            <a:off x="117847" y="836711"/>
            <a:ext cx="4310137" cy="2520627"/>
          </a:xfrm>
          <a:prstGeom prst="rect">
            <a:avLst/>
          </a:prstGeom>
        </p:spPr>
        <p:style>
          <a:lnRef idx="1">
            <a:schemeClr val="accent1"/>
          </a:lnRef>
          <a:fillRef idx="2">
            <a:schemeClr val="accent1"/>
          </a:fillRef>
          <a:effectRef idx="1">
            <a:schemeClr val="accent1"/>
          </a:effectRef>
          <a:fontRef idx="minor">
            <a:schemeClr val="dk1"/>
          </a:fontRef>
        </p:style>
        <p:txBody>
          <a:bodyPr>
            <a:noAutofit/>
          </a:bodyPr>
          <a:lstStyle/>
          <a:p>
            <a:r>
              <a:rPr lang="zh-TW" altLang="en-US" sz="2000" dirty="0">
                <a:latin typeface="微軟正黑體" panose="020B0604030504040204" pitchFamily="34" charset="-120"/>
                <a:ea typeface="微軟正黑體" panose="020B0604030504040204" pitchFamily="34" charset="-120"/>
              </a:rPr>
              <a:t>一種使對奕者遠距下棋的方法，係反覆進行下列步驟：</a:t>
            </a:r>
          </a:p>
          <a:p>
            <a:pPr indent="266700"/>
            <a:r>
              <a:rPr lang="zh-TW" altLang="en-US" sz="2000" dirty="0">
                <a:latin typeface="微軟正黑體" panose="020B0604030504040204" pitchFamily="34" charset="-120"/>
                <a:ea typeface="微軟正黑體" panose="020B0604030504040204" pitchFamily="34" charset="-120"/>
              </a:rPr>
              <a:t>輪到其中之一對奕者下棋時，利用</a:t>
            </a:r>
            <a:r>
              <a:rPr lang="zh-TW" altLang="en-US" sz="2000" b="1" u="sng" dirty="0">
                <a:latin typeface="微軟正黑體" panose="020B0604030504040204" pitchFamily="34" charset="-120"/>
                <a:ea typeface="微軟正黑體" panose="020B0604030504040204" pitchFamily="34" charset="-120"/>
              </a:rPr>
              <a:t>聊天系統</a:t>
            </a:r>
            <a:r>
              <a:rPr lang="zh-TW" altLang="en-US" sz="2000" u="sng" dirty="0">
                <a:latin typeface="微軟正黑體" panose="020B0604030504040204" pitchFamily="34" charset="-120"/>
                <a:ea typeface="微軟正黑體" panose="020B0604030504040204" pitchFamily="34" charset="-120"/>
              </a:rPr>
              <a:t>傳送</a:t>
            </a:r>
            <a:r>
              <a:rPr lang="zh-TW" altLang="en-US" sz="2000" dirty="0">
                <a:latin typeface="微軟正黑體" panose="020B0604030504040204" pitchFamily="34" charset="-120"/>
                <a:ea typeface="微軟正黑體" panose="020B0604030504040204" pitchFamily="34" charset="-120"/>
              </a:rPr>
              <a:t>該對奕者之棋步給另一對奕者；</a:t>
            </a:r>
          </a:p>
          <a:p>
            <a:pPr indent="266700"/>
            <a:r>
              <a:rPr lang="zh-TW" altLang="en-US" sz="2000" dirty="0">
                <a:latin typeface="微軟正黑體" panose="020B0604030504040204" pitchFamily="34" charset="-120"/>
                <a:ea typeface="微軟正黑體" panose="020B0604030504040204" pitchFamily="34" charset="-120"/>
              </a:rPr>
              <a:t>輪到另一對奕者下棋時，利用該</a:t>
            </a:r>
            <a:r>
              <a:rPr lang="zh-TW" altLang="en-US" sz="2000" b="1" dirty="0">
                <a:latin typeface="微軟正黑體" panose="020B0604030504040204" pitchFamily="34" charset="-120"/>
                <a:ea typeface="微軟正黑體" panose="020B0604030504040204" pitchFamily="34" charset="-120"/>
              </a:rPr>
              <a:t>聊天系統</a:t>
            </a:r>
            <a:r>
              <a:rPr lang="zh-TW" altLang="en-US" sz="2000" u="sng" dirty="0">
                <a:latin typeface="微軟正黑體" panose="020B0604030504040204" pitchFamily="34" charset="-120"/>
                <a:ea typeface="微軟正黑體" panose="020B0604030504040204" pitchFamily="34" charset="-120"/>
              </a:rPr>
              <a:t>接收</a:t>
            </a:r>
            <a:r>
              <a:rPr lang="zh-TW" altLang="en-US" sz="2000" dirty="0">
                <a:latin typeface="微軟正黑體" panose="020B0604030504040204" pitchFamily="34" charset="-120"/>
                <a:ea typeface="微軟正黑體" panose="020B0604030504040204" pitchFamily="34" charset="-120"/>
              </a:rPr>
              <a:t>該另一對奕者之棋步。</a:t>
            </a:r>
          </a:p>
        </p:txBody>
      </p:sp>
      <p:pic>
        <p:nvPicPr>
          <p:cNvPr id="4098" name="Picture 2" descr="Thank You Message Thanks - Free vector graphic on Pixabay"/>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flipH="1">
            <a:off x="2267744" y="5157192"/>
            <a:ext cx="1972542" cy="154610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Thank You Message Thanks - Free vector graphic on Pixabay"/>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11560" y="4557668"/>
            <a:ext cx="2091058" cy="142554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119732" y="3357339"/>
            <a:ext cx="4572000" cy="1200329"/>
          </a:xfrm>
          <a:prstGeom prst="rect">
            <a:avLst/>
          </a:prstGeom>
        </p:spPr>
        <p:txBody>
          <a:bodyPr>
            <a:spAutoFit/>
          </a:bodyPr>
          <a:lstStyle/>
          <a:p>
            <a:r>
              <a:rPr lang="zh-TW" altLang="en-US" dirty="0">
                <a:latin typeface="微軟正黑體" panose="020B0604030504040204" pitchFamily="34" charset="-120"/>
                <a:ea typeface="微軟正黑體" panose="020B0604030504040204" pitchFamily="34" charset="-120"/>
              </a:rPr>
              <a:t>請求項所載之發明，雖然有運用聊天系統作為技術手段，但就請求項整體而言，其僅是進行讓相隔兩地對奕者交互下棋之</a:t>
            </a:r>
            <a:r>
              <a:rPr lang="zh-TW" altLang="en-US" u="sng" dirty="0">
                <a:latin typeface="微軟正黑體" panose="020B0604030504040204" pitchFamily="34" charset="-120"/>
                <a:ea typeface="微軟正黑體" panose="020B0604030504040204" pitchFamily="34" charset="-120"/>
              </a:rPr>
              <a:t>人為安排的方法</a:t>
            </a:r>
            <a:r>
              <a:rPr lang="zh-TW" altLang="en-US" dirty="0">
                <a:latin typeface="微軟正黑體" panose="020B0604030504040204" pitchFamily="34" charset="-120"/>
                <a:ea typeface="微軟正黑體" panose="020B0604030504040204" pitchFamily="34" charset="-120"/>
              </a:rPr>
              <a:t>，不符發明之定義。</a:t>
            </a:r>
          </a:p>
        </p:txBody>
      </p:sp>
      <p:sp>
        <p:nvSpPr>
          <p:cNvPr id="9" name="矩形 8"/>
          <p:cNvSpPr/>
          <p:nvPr/>
        </p:nvSpPr>
        <p:spPr>
          <a:xfrm>
            <a:off x="4625057" y="836711"/>
            <a:ext cx="4452268" cy="2520627"/>
          </a:xfrm>
          <a:prstGeom prst="rect">
            <a:avLst/>
          </a:prstGeom>
        </p:spPr>
        <p:style>
          <a:lnRef idx="1">
            <a:schemeClr val="accent6"/>
          </a:lnRef>
          <a:fillRef idx="2">
            <a:schemeClr val="accent6"/>
          </a:fillRef>
          <a:effectRef idx="1">
            <a:schemeClr val="accent6"/>
          </a:effectRef>
          <a:fontRef idx="minor">
            <a:schemeClr val="dk1"/>
          </a:fontRef>
        </p:style>
        <p:txBody>
          <a:bodyPr>
            <a:noAutofit/>
          </a:bodyPr>
          <a:lstStyle/>
          <a:p>
            <a:r>
              <a:rPr lang="zh-TW" altLang="en-US" sz="2000" dirty="0">
                <a:latin typeface="微軟正黑體" panose="020B0604030504040204" pitchFamily="34" charset="-120"/>
                <a:ea typeface="微軟正黑體" panose="020B0604030504040204" pitchFamily="34" charset="-120"/>
              </a:rPr>
              <a:t>一種網路抽獎方法，包含下列步驟；</a:t>
            </a:r>
          </a:p>
          <a:p>
            <a:pPr indent="266700"/>
            <a:r>
              <a:rPr lang="zh-TW" altLang="en-US" sz="2000" dirty="0">
                <a:latin typeface="微軟正黑體" panose="020B0604030504040204" pitchFamily="34" charset="-120"/>
                <a:ea typeface="微軟正黑體" panose="020B0604030504040204" pitchFamily="34" charset="-120"/>
              </a:rPr>
              <a:t>將複數抽獎券發送給複數參加者，且該些抽獎券均具有一條碼，該條碼係對應於一抽獎網頁之網址；</a:t>
            </a:r>
          </a:p>
          <a:p>
            <a:pPr indent="266700"/>
            <a:r>
              <a:rPr lang="zh-TW" altLang="en-US" sz="2000" dirty="0">
                <a:latin typeface="微軟正黑體" panose="020B0604030504040204" pitchFamily="34" charset="-120"/>
                <a:ea typeface="微軟正黑體" panose="020B0604030504040204" pitchFamily="34" charset="-120"/>
              </a:rPr>
              <a:t>由該些參加者至該抽獎</a:t>
            </a:r>
            <a:r>
              <a:rPr lang="zh-TW" altLang="en-US" sz="2000" u="sng" dirty="0">
                <a:latin typeface="微軟正黑體" panose="020B0604030504040204" pitchFamily="34" charset="-120"/>
                <a:ea typeface="微軟正黑體" panose="020B0604030504040204" pitchFamily="34" charset="-120"/>
              </a:rPr>
              <a:t>網頁</a:t>
            </a:r>
            <a:r>
              <a:rPr lang="zh-TW" altLang="en-US" sz="2000" dirty="0">
                <a:latin typeface="微軟正黑體" panose="020B0604030504040204" pitchFamily="34" charset="-120"/>
                <a:ea typeface="微軟正黑體" panose="020B0604030504040204" pitchFamily="34" charset="-120"/>
              </a:rPr>
              <a:t>進行登錄；以及</a:t>
            </a:r>
          </a:p>
          <a:p>
            <a:pPr indent="266700"/>
            <a:r>
              <a:rPr lang="zh-TW" altLang="en-US" sz="2000" dirty="0">
                <a:latin typeface="微軟正黑體" panose="020B0604030504040204" pitchFamily="34" charset="-120"/>
                <a:ea typeface="微軟正黑體" panose="020B0604030504040204" pitchFamily="34" charset="-120"/>
              </a:rPr>
              <a:t>由一</a:t>
            </a:r>
            <a:r>
              <a:rPr lang="zh-TW" altLang="en-US" sz="2000" u="sng" dirty="0">
                <a:latin typeface="微軟正黑體" panose="020B0604030504040204" pitchFamily="34" charset="-120"/>
                <a:ea typeface="微軟正黑體" panose="020B0604030504040204" pitchFamily="34" charset="-120"/>
              </a:rPr>
              <a:t>伺服器</a:t>
            </a:r>
            <a:r>
              <a:rPr lang="zh-TW" altLang="en-US" sz="2000" dirty="0">
                <a:latin typeface="微軟正黑體" panose="020B0604030504040204" pitchFamily="34" charset="-120"/>
                <a:ea typeface="微軟正黑體" panose="020B0604030504040204" pitchFamily="34" charset="-120"/>
              </a:rPr>
              <a:t>於已登錄之參加者中隨機選取特定數量得獎者。</a:t>
            </a:r>
          </a:p>
        </p:txBody>
      </p:sp>
      <p:sp>
        <p:nvSpPr>
          <p:cNvPr id="8" name="矩形 7"/>
          <p:cNvSpPr/>
          <p:nvPr/>
        </p:nvSpPr>
        <p:spPr>
          <a:xfrm>
            <a:off x="4691731" y="3357339"/>
            <a:ext cx="4385593" cy="1477328"/>
          </a:xfrm>
          <a:prstGeom prst="rect">
            <a:avLst/>
          </a:prstGeom>
        </p:spPr>
        <p:txBody>
          <a:bodyPr wrap="square">
            <a:spAutoFit/>
          </a:bodyPr>
          <a:lstStyle/>
          <a:p>
            <a:r>
              <a:rPr lang="zh-TW" altLang="en-US" dirty="0">
                <a:latin typeface="微軟正黑體" panose="020B0604030504040204" pitchFamily="34" charset="-120"/>
                <a:ea typeface="微軟正黑體" panose="020B0604030504040204" pitchFamily="34" charset="-120"/>
              </a:rPr>
              <a:t>請求項所載之發明，雖有使用網頁、伺服器作為技術手段，但就請求項整體而言，屬於抽獎流程的</a:t>
            </a:r>
            <a:r>
              <a:rPr lang="zh-TW" altLang="en-US" b="1" u="sng" dirty="0">
                <a:latin typeface="微軟正黑體" panose="020B0604030504040204" pitchFamily="34" charset="-120"/>
                <a:ea typeface="微軟正黑體" panose="020B0604030504040204" pitchFamily="34" charset="-120"/>
              </a:rPr>
              <a:t>人為安排</a:t>
            </a:r>
            <a:r>
              <a:rPr lang="zh-TW" altLang="en-US" dirty="0">
                <a:latin typeface="微軟正黑體" panose="020B0604030504040204" pitchFamily="34" charset="-120"/>
                <a:ea typeface="微軟正黑體" panose="020B0604030504040204" pitchFamily="34" charset="-120"/>
              </a:rPr>
              <a:t>，前述技術手段僅是作為</a:t>
            </a:r>
            <a:r>
              <a:rPr lang="zh-TW" altLang="en-US" b="1" u="sng" dirty="0">
                <a:latin typeface="微軟正黑體" panose="020B0604030504040204" pitchFamily="34" charset="-120"/>
                <a:ea typeface="微軟正黑體" panose="020B0604030504040204" pitchFamily="34" charset="-120"/>
              </a:rPr>
              <a:t>人為安排之工具使用</a:t>
            </a:r>
            <a:r>
              <a:rPr lang="zh-TW" altLang="en-US" dirty="0">
                <a:latin typeface="微軟正黑體" panose="020B0604030504040204" pitchFamily="34" charset="-120"/>
                <a:ea typeface="微軟正黑體" panose="020B0604030504040204" pitchFamily="34" charset="-120"/>
              </a:rPr>
              <a:t>，不符發明之定義。</a:t>
            </a:r>
          </a:p>
        </p:txBody>
      </p:sp>
      <p:sp>
        <p:nvSpPr>
          <p:cNvPr id="10" name="矩形 9"/>
          <p:cNvSpPr/>
          <p:nvPr/>
        </p:nvSpPr>
        <p:spPr>
          <a:xfrm>
            <a:off x="4860032" y="5013176"/>
            <a:ext cx="1296144" cy="50405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pic>
        <p:nvPicPr>
          <p:cNvPr id="4100" name="Picture 4" descr="条码激光代码- 免费矢量图形Pixabay"/>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724128" y="5287929"/>
            <a:ext cx="362917" cy="1988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扫描器手持式条码- 免费矢量图形Pixabay"/>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flipH="1">
            <a:off x="5270121" y="5287929"/>
            <a:ext cx="454007" cy="609998"/>
          </a:xfrm>
          <a:prstGeom prst="rect">
            <a:avLst/>
          </a:prstGeom>
          <a:noFill/>
          <a:extLst>
            <a:ext uri="{909E8E84-426E-40DD-AFC4-6F175D3DCCD1}">
              <a14:hiddenFill xmlns:a14="http://schemas.microsoft.com/office/drawing/2010/main">
                <a:solidFill>
                  <a:srgbClr val="FFFFFF"/>
                </a:solidFill>
              </a14:hiddenFill>
            </a:ext>
          </a:extLst>
        </p:spPr>
      </p:pic>
      <p:pic>
        <p:nvPicPr>
          <p:cNvPr id="4105" name="Picture 9" descr="移动设备笔记本电脑网站- 免费矢量图形Pixabay"/>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020272" y="5144073"/>
            <a:ext cx="2057052" cy="1199947"/>
          </a:xfrm>
          <a:prstGeom prst="rect">
            <a:avLst/>
          </a:prstGeom>
          <a:noFill/>
          <a:extLst>
            <a:ext uri="{909E8E84-426E-40DD-AFC4-6F175D3DCCD1}">
              <a14:hiddenFill xmlns:a14="http://schemas.microsoft.com/office/drawing/2010/main">
                <a:solidFill>
                  <a:srgbClr val="FFFFFF"/>
                </a:solidFill>
              </a14:hiddenFill>
            </a:ext>
          </a:extLst>
        </p:spPr>
      </p:pic>
      <p:sp>
        <p:nvSpPr>
          <p:cNvPr id="12" name="向右箭號 11"/>
          <p:cNvSpPr/>
          <p:nvPr/>
        </p:nvSpPr>
        <p:spPr>
          <a:xfrm>
            <a:off x="6395323" y="5158945"/>
            <a:ext cx="489204" cy="484632"/>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0" name="文字方塊 19"/>
          <p:cNvSpPr txBox="1"/>
          <p:nvPr/>
        </p:nvSpPr>
        <p:spPr>
          <a:xfrm>
            <a:off x="4465414" y="678979"/>
            <a:ext cx="389850" cy="369332"/>
          </a:xfrm>
          <a:prstGeom prst="rect">
            <a:avLst/>
          </a:prstGeom>
          <a:noFill/>
        </p:spPr>
        <p:txBody>
          <a:bodyPr wrap="none" rtlCol="0">
            <a:spAutoFit/>
          </a:bodyPr>
          <a:lstStyle/>
          <a:p>
            <a:r>
              <a:rPr lang="zh-TW" altLang="en-US" dirty="0">
                <a:solidFill>
                  <a:srgbClr val="FF0000"/>
                </a:solidFill>
                <a:sym typeface="Wingdings 2"/>
              </a:rPr>
              <a:t></a:t>
            </a:r>
            <a:endParaRPr lang="zh-TW" altLang="en-US" dirty="0">
              <a:solidFill>
                <a:srgbClr val="FF0000"/>
              </a:solidFill>
            </a:endParaRPr>
          </a:p>
        </p:txBody>
      </p:sp>
      <p:sp>
        <p:nvSpPr>
          <p:cNvPr id="21" name="文字方塊 20"/>
          <p:cNvSpPr txBox="1"/>
          <p:nvPr/>
        </p:nvSpPr>
        <p:spPr>
          <a:xfrm>
            <a:off x="-66675" y="671095"/>
            <a:ext cx="389850" cy="369332"/>
          </a:xfrm>
          <a:prstGeom prst="rect">
            <a:avLst/>
          </a:prstGeom>
          <a:noFill/>
        </p:spPr>
        <p:txBody>
          <a:bodyPr wrap="none" rtlCol="0">
            <a:spAutoFit/>
          </a:bodyPr>
          <a:lstStyle/>
          <a:p>
            <a:r>
              <a:rPr lang="zh-TW" altLang="en-US" dirty="0">
                <a:solidFill>
                  <a:srgbClr val="FF0000"/>
                </a:solidFill>
                <a:sym typeface="Wingdings 2"/>
              </a:rPr>
              <a:t></a:t>
            </a:r>
            <a:endParaRPr lang="zh-TW" altLang="en-US" dirty="0">
              <a:solidFill>
                <a:srgbClr val="FF0000"/>
              </a:solidFill>
            </a:endParaRPr>
          </a:p>
        </p:txBody>
      </p:sp>
    </p:spTree>
    <p:extLst>
      <p:ext uri="{BB962C8B-B14F-4D97-AF65-F5344CB8AC3E}">
        <p14:creationId xmlns:p14="http://schemas.microsoft.com/office/powerpoint/2010/main" val="26837330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a:spLocks noGrp="1"/>
          </p:cNvSpPr>
          <p:nvPr>
            <p:ph type="title"/>
          </p:nvPr>
        </p:nvSpPr>
        <p:spPr/>
        <p:txBody>
          <a:bodyPr/>
          <a:lstStyle/>
          <a:p>
            <a:r>
              <a:rPr lang="zh-TW" altLang="en-US" dirty="0"/>
              <a:t>電腦軟體發明定義</a:t>
            </a:r>
          </a:p>
        </p:txBody>
      </p:sp>
      <p:sp>
        <p:nvSpPr>
          <p:cNvPr id="3" name="內容版面配置區 2"/>
          <p:cNvSpPr>
            <a:spLocks noGrp="1"/>
          </p:cNvSpPr>
          <p:nvPr>
            <p:ph idx="1"/>
          </p:nvPr>
        </p:nvSpPr>
        <p:spPr>
          <a:xfrm>
            <a:off x="136079" y="836712"/>
            <a:ext cx="2851745" cy="360040"/>
          </a:xfrm>
        </p:spPr>
        <p:style>
          <a:lnRef idx="0">
            <a:schemeClr val="accent3"/>
          </a:lnRef>
          <a:fillRef idx="3">
            <a:schemeClr val="accent3"/>
          </a:fillRef>
          <a:effectRef idx="3">
            <a:schemeClr val="accent3"/>
          </a:effectRef>
          <a:fontRef idx="minor">
            <a:schemeClr val="lt1"/>
          </a:fontRef>
        </p:style>
        <p:txBody>
          <a:bodyPr>
            <a:normAutofit fontScale="92500" lnSpcReduction="10000"/>
          </a:bodyPr>
          <a:lstStyle/>
          <a:p>
            <a:pPr marL="0" indent="0">
              <a:buNone/>
            </a:pPr>
            <a:r>
              <a:rPr lang="zh-TW" altLang="en-US" sz="2000" dirty="0"/>
              <a:t>明顯不符發明定義之態樣</a:t>
            </a:r>
            <a:endParaRPr lang="en-US" altLang="zh-TW" sz="2000"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36</a:t>
            </a:fld>
            <a:endParaRPr lang="zh-TW" altLang="en-US"/>
          </a:p>
        </p:txBody>
      </p:sp>
      <p:sp>
        <p:nvSpPr>
          <p:cNvPr id="14" name="圓角矩形 13"/>
          <p:cNvSpPr/>
          <p:nvPr/>
        </p:nvSpPr>
        <p:spPr>
          <a:xfrm>
            <a:off x="179512" y="1700808"/>
            <a:ext cx="8784976" cy="115212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zh-TW" altLang="en-US" sz="2000" dirty="0">
                <a:latin typeface="微軟正黑體" panose="020B0604030504040204" pitchFamily="34" charset="-120"/>
                <a:ea typeface="微軟正黑體" panose="020B0604030504040204" pitchFamily="34" charset="-120"/>
              </a:rPr>
              <a:t>申請專利之發明僅為單純之資訊揭示時，其本身並非技術思想之創作，不符合發明之定義。單純之資訊揭示，係指僅以</a:t>
            </a:r>
            <a:r>
              <a:rPr lang="zh-TW" altLang="en-US" sz="2000" b="1" u="sng" dirty="0">
                <a:latin typeface="微軟正黑體" panose="020B0604030504040204" pitchFamily="34" charset="-120"/>
                <a:ea typeface="微軟正黑體" panose="020B0604030504040204" pitchFamily="34" charset="-120"/>
              </a:rPr>
              <a:t>所揭示之資訊內容為特徵</a:t>
            </a:r>
            <a:r>
              <a:rPr lang="zh-TW" altLang="en-US" sz="2000" dirty="0">
                <a:latin typeface="微軟正黑體" panose="020B0604030504040204" pitchFamily="34" charset="-120"/>
                <a:ea typeface="微軟正黑體" panose="020B0604030504040204" pitchFamily="34" charset="-120"/>
              </a:rPr>
              <a:t>，並以資訊揭示為主要目的者。</a:t>
            </a:r>
          </a:p>
        </p:txBody>
      </p:sp>
      <p:sp>
        <p:nvSpPr>
          <p:cNvPr id="22" name="矩形 21"/>
          <p:cNvSpPr/>
          <p:nvPr/>
        </p:nvSpPr>
        <p:spPr>
          <a:xfrm>
            <a:off x="137245" y="1219786"/>
            <a:ext cx="2835374"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非技術思想者</a:t>
            </a:r>
          </a:p>
        </p:txBody>
      </p:sp>
      <p:sp>
        <p:nvSpPr>
          <p:cNvPr id="11" name="矩形 10"/>
          <p:cNvSpPr/>
          <p:nvPr/>
        </p:nvSpPr>
        <p:spPr>
          <a:xfrm>
            <a:off x="117848" y="2996952"/>
            <a:ext cx="4572000" cy="3672408"/>
          </a:xfrm>
          <a:prstGeom prst="rect">
            <a:avLst/>
          </a:prstGeom>
        </p:spPr>
        <p:style>
          <a:lnRef idx="1">
            <a:schemeClr val="accent1"/>
          </a:lnRef>
          <a:fillRef idx="2">
            <a:schemeClr val="accent1"/>
          </a:fillRef>
          <a:effectRef idx="1">
            <a:schemeClr val="accent1"/>
          </a:effectRef>
          <a:fontRef idx="minor">
            <a:schemeClr val="dk1"/>
          </a:fontRef>
        </p:style>
        <p:txBody>
          <a:bodyPr>
            <a:noAutofit/>
          </a:bodyPr>
          <a:lstStyle/>
          <a:p>
            <a:r>
              <a:rPr lang="zh-TW" altLang="en-US" sz="2000" dirty="0">
                <a:latin typeface="微軟正黑體" panose="020B0604030504040204" pitchFamily="34" charset="-120"/>
                <a:ea typeface="微軟正黑體" panose="020B0604030504040204" pitchFamily="34" charset="-120"/>
              </a:rPr>
              <a:t>一種具有訊息提示功能的影音播放裝置，包含：</a:t>
            </a:r>
          </a:p>
          <a:p>
            <a:pPr indent="266700"/>
            <a:r>
              <a:rPr lang="zh-TW" altLang="en-US" sz="2000" dirty="0">
                <a:latin typeface="微軟正黑體" panose="020B0604030504040204" pitchFamily="34" charset="-120"/>
                <a:ea typeface="微軟正黑體" panose="020B0604030504040204" pitchFamily="34" charset="-120"/>
              </a:rPr>
              <a:t>一儲存構件，存放複數可執行功能的詳細說明；</a:t>
            </a:r>
          </a:p>
          <a:p>
            <a:pPr indent="266700"/>
            <a:r>
              <a:rPr lang="zh-TW" altLang="en-US" sz="2000" dirty="0">
                <a:latin typeface="微軟正黑體" panose="020B0604030504040204" pitchFamily="34" charset="-120"/>
                <a:ea typeface="微軟正黑體" panose="020B0604030504040204" pitchFamily="34" charset="-120"/>
              </a:rPr>
              <a:t>一顯示構件，在外接顯示器上</a:t>
            </a:r>
            <a:r>
              <a:rPr lang="zh-TW" altLang="en-US" sz="2000" u="sng" dirty="0">
                <a:latin typeface="微軟正黑體" panose="020B0604030504040204" pitchFamily="34" charset="-120"/>
                <a:ea typeface="微軟正黑體" panose="020B0604030504040204" pitchFamily="34" charset="-120"/>
              </a:rPr>
              <a:t>顯示該些可執行功能</a:t>
            </a:r>
            <a:r>
              <a:rPr lang="zh-TW" altLang="en-US" sz="2000" dirty="0">
                <a:latin typeface="微軟正黑體" panose="020B0604030504040204" pitchFamily="34" charset="-120"/>
                <a:ea typeface="微軟正黑體" panose="020B0604030504040204" pitchFamily="34" charset="-120"/>
              </a:rPr>
              <a:t>，及該些可執行功能的詳細說明。</a:t>
            </a:r>
          </a:p>
        </p:txBody>
      </p:sp>
      <p:pic>
        <p:nvPicPr>
          <p:cNvPr id="5122" name="Picture 2" descr="音乐播放器收音机声音的- 免费矢量图形Pixabay"/>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860032" y="4077072"/>
            <a:ext cx="3888432" cy="208823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文字方塊 7"/>
          <p:cNvSpPr txBox="1"/>
          <p:nvPr/>
        </p:nvSpPr>
        <p:spPr>
          <a:xfrm>
            <a:off x="6224133" y="4942785"/>
            <a:ext cx="1035861" cy="369332"/>
          </a:xfrm>
          <a:prstGeom prst="rect">
            <a:avLst/>
          </a:prstGeom>
          <a:noFill/>
        </p:spPr>
        <p:txBody>
          <a:bodyPr wrap="none" rtlCol="0">
            <a:spAutoFit/>
          </a:bodyPr>
          <a:lstStyle/>
          <a:p>
            <a:r>
              <a:rPr lang="en-US" altLang="zh-TW" dirty="0"/>
              <a:t>…………….</a:t>
            </a:r>
            <a:endParaRPr lang="zh-TW" altLang="en-US" dirty="0"/>
          </a:p>
        </p:txBody>
      </p:sp>
    </p:spTree>
    <p:extLst>
      <p:ext uri="{BB962C8B-B14F-4D97-AF65-F5344CB8AC3E}">
        <p14:creationId xmlns:p14="http://schemas.microsoft.com/office/powerpoint/2010/main" val="3077155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a:spLocks noGrp="1"/>
          </p:cNvSpPr>
          <p:nvPr>
            <p:ph type="title"/>
          </p:nvPr>
        </p:nvSpPr>
        <p:spPr/>
        <p:txBody>
          <a:bodyPr/>
          <a:lstStyle/>
          <a:p>
            <a:r>
              <a:rPr lang="zh-TW" altLang="en-US" dirty="0"/>
              <a:t>電腦軟體發明定義</a:t>
            </a:r>
          </a:p>
        </p:txBody>
      </p:sp>
      <p:sp>
        <p:nvSpPr>
          <p:cNvPr id="3" name="內容版面配置區 2"/>
          <p:cNvSpPr>
            <a:spLocks noGrp="1"/>
          </p:cNvSpPr>
          <p:nvPr>
            <p:ph idx="1"/>
          </p:nvPr>
        </p:nvSpPr>
        <p:spPr>
          <a:xfrm>
            <a:off x="136079" y="836712"/>
            <a:ext cx="5948089" cy="360040"/>
          </a:xfrm>
        </p:spPr>
        <p:style>
          <a:lnRef idx="0">
            <a:schemeClr val="accent3"/>
          </a:lnRef>
          <a:fillRef idx="3">
            <a:schemeClr val="accent3"/>
          </a:fillRef>
          <a:effectRef idx="3">
            <a:schemeClr val="accent3"/>
          </a:effectRef>
          <a:fontRef idx="minor">
            <a:schemeClr val="lt1"/>
          </a:fontRef>
        </p:style>
        <p:txBody>
          <a:bodyPr anchor="ctr" anchorCtr="0">
            <a:noAutofit/>
          </a:bodyPr>
          <a:lstStyle/>
          <a:p>
            <a:pPr marL="0" indent="0" algn="ctr">
              <a:buNone/>
            </a:pPr>
            <a:r>
              <a:rPr lang="zh-TW" altLang="en-US" sz="2000" dirty="0"/>
              <a:t>藉助電腦軟體之資訊處理係利用硬體資源具體實現</a:t>
            </a:r>
            <a:endParaRPr lang="en-US" altLang="zh-TW" sz="2000"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37</a:t>
            </a:fld>
            <a:endParaRPr lang="zh-TW" altLang="en-US"/>
          </a:p>
        </p:txBody>
      </p:sp>
      <p:sp>
        <p:nvSpPr>
          <p:cNvPr id="10" name="文字方塊 9">
            <a:extLst>
              <a:ext uri="{FF2B5EF4-FFF2-40B4-BE49-F238E27FC236}">
                <a16:creationId xmlns:a16="http://schemas.microsoft.com/office/drawing/2014/main" id="{7B48CD0A-1A7E-4FFF-A195-DC1B7B65CE18}"/>
              </a:ext>
            </a:extLst>
          </p:cNvPr>
          <p:cNvSpPr txBox="1"/>
          <p:nvPr/>
        </p:nvSpPr>
        <p:spPr>
          <a:xfrm>
            <a:off x="160809" y="1412776"/>
            <a:ext cx="8608343" cy="3043443"/>
          </a:xfrm>
          <a:prstGeom prst="rect">
            <a:avLst/>
          </a:prstGeom>
          <a:noFill/>
        </p:spPr>
        <p:txBody>
          <a:bodyPr wrap="square">
            <a:spAutoFit/>
          </a:bodyPr>
          <a:lstStyle/>
          <a:p>
            <a:r>
              <a:rPr lang="zh-TW" altLang="en-US" sz="2400" dirty="0">
                <a:latin typeface="微軟正黑體" panose="020B0604030504040204" pitchFamily="34" charset="-120"/>
                <a:ea typeface="微軟正黑體" panose="020B0604030504040204" pitchFamily="34" charset="-120"/>
              </a:rPr>
              <a:t>「藉助電腦軟體之資訊處理係利用硬體資源具體實現」要件，係指</a:t>
            </a:r>
            <a:r>
              <a:rPr lang="zh-TW" altLang="en-US" sz="2400" u="sng" dirty="0">
                <a:latin typeface="微軟正黑體" panose="020B0604030504040204" pitchFamily="34" charset="-120"/>
                <a:ea typeface="微軟正黑體" panose="020B0604030504040204" pitchFamily="34" charset="-120"/>
              </a:rPr>
              <a:t>藉由電腦軟體與硬體資源之協同運作，依據資訊處理之目的建構出特定的資訊處理裝置或方法</a:t>
            </a:r>
            <a:r>
              <a:rPr lang="zh-TW" altLang="en-US" sz="2400" dirty="0">
                <a:latin typeface="微軟正黑體" panose="020B0604030504040204" pitchFamily="34" charset="-120"/>
                <a:ea typeface="微軟正黑體" panose="020B0604030504040204" pitchFamily="34" charset="-120"/>
              </a:rPr>
              <a:t>。判斷時，審查人員應參酌申請時之通常知識，針對請求項所載</a:t>
            </a:r>
            <a:r>
              <a:rPr lang="zh-TW" altLang="en-US" sz="2400" dirty="0">
                <a:solidFill>
                  <a:srgbClr val="FF0000"/>
                </a:solidFill>
                <a:latin typeface="微軟正黑體" panose="020B0604030504040204" pitchFamily="34" charset="-120"/>
                <a:ea typeface="微軟正黑體" panose="020B0604030504040204" pitchFamily="34" charset="-120"/>
              </a:rPr>
              <a:t>電腦軟體與硬體資源協同運作的</a:t>
            </a:r>
            <a:r>
              <a:rPr lang="zh-TW" altLang="en-US" sz="2400" b="1" u="sng" dirty="0">
                <a:solidFill>
                  <a:srgbClr val="FF0000"/>
                </a:solidFill>
                <a:latin typeface="微軟正黑體" panose="020B0604030504040204" pitchFamily="34" charset="-120"/>
                <a:ea typeface="微軟正黑體" panose="020B0604030504040204" pitchFamily="34" charset="-120"/>
              </a:rPr>
              <a:t>具體技術手段或步驟</a:t>
            </a:r>
            <a:r>
              <a:rPr lang="zh-TW" altLang="en-US" sz="2400" dirty="0">
                <a:solidFill>
                  <a:srgbClr val="FF0000"/>
                </a:solidFill>
                <a:latin typeface="微軟正黑體" panose="020B0604030504040204" pitchFamily="34" charset="-120"/>
                <a:ea typeface="微軟正黑體" panose="020B0604030504040204" pitchFamily="34" charset="-120"/>
              </a:rPr>
              <a:t>，判斷是否依據</a:t>
            </a:r>
            <a:r>
              <a:rPr lang="zh-TW" altLang="en-US" sz="2400" b="1" u="sng" dirty="0">
                <a:solidFill>
                  <a:srgbClr val="FF0000"/>
                </a:solidFill>
                <a:latin typeface="微軟正黑體" panose="020B0604030504040204" pitchFamily="34" charset="-120"/>
                <a:ea typeface="微軟正黑體" panose="020B0604030504040204" pitchFamily="34" charset="-120"/>
              </a:rPr>
              <a:t>資訊處理之目的</a:t>
            </a:r>
            <a:r>
              <a:rPr lang="zh-TW" altLang="en-US" sz="2400" dirty="0">
                <a:solidFill>
                  <a:srgbClr val="FF0000"/>
                </a:solidFill>
                <a:latin typeface="微軟正黑體" panose="020B0604030504040204" pitchFamily="34" charset="-120"/>
                <a:ea typeface="微軟正黑體" panose="020B0604030504040204" pitchFamily="34" charset="-120"/>
              </a:rPr>
              <a:t>實現</a:t>
            </a:r>
            <a:r>
              <a:rPr lang="zh-TW" altLang="en-US" sz="2400" b="1" u="sng" dirty="0">
                <a:solidFill>
                  <a:srgbClr val="FF0000"/>
                </a:solidFill>
                <a:latin typeface="微軟正黑體" panose="020B0604030504040204" pitchFamily="34" charset="-120"/>
                <a:ea typeface="微軟正黑體" panose="020B0604030504040204" pitchFamily="34" charset="-120"/>
              </a:rPr>
              <a:t>特定的資訊處理或計算</a:t>
            </a:r>
            <a:r>
              <a:rPr lang="zh-TW" altLang="en-US" sz="2400" dirty="0">
                <a:latin typeface="微軟正黑體" panose="020B0604030504040204" pitchFamily="34" charset="-120"/>
                <a:ea typeface="微軟正黑體" panose="020B0604030504040204" pitchFamily="34" charset="-120"/>
              </a:rPr>
              <a:t>，據以認定電腦軟體相關發明是否符合前述要件，而為「利用自然法則之技術思想之創作」以符合發明之定義。</a:t>
            </a:r>
          </a:p>
        </p:txBody>
      </p:sp>
      <p:sp>
        <p:nvSpPr>
          <p:cNvPr id="2" name="文字方塊 1">
            <a:extLst>
              <a:ext uri="{FF2B5EF4-FFF2-40B4-BE49-F238E27FC236}">
                <a16:creationId xmlns:a16="http://schemas.microsoft.com/office/drawing/2014/main" id="{AD3A5475-7792-409F-8AB1-29241195D9F9}"/>
              </a:ext>
            </a:extLst>
          </p:cNvPr>
          <p:cNvSpPr txBox="1"/>
          <p:nvPr/>
        </p:nvSpPr>
        <p:spPr>
          <a:xfrm>
            <a:off x="6156176" y="835822"/>
            <a:ext cx="1887055" cy="400110"/>
          </a:xfrm>
          <a:prstGeom prst="rect">
            <a:avLst/>
          </a:prstGeom>
          <a:noFill/>
        </p:spPr>
        <p:txBody>
          <a:bodyPr wrap="none" rtlCol="0">
            <a:spAutoFit/>
          </a:bodyPr>
          <a:lstStyle/>
          <a:p>
            <a:r>
              <a:rPr lang="en-US" altLang="zh-TW" sz="2000" dirty="0">
                <a:solidFill>
                  <a:srgbClr val="FF0000"/>
                </a:solidFill>
                <a:latin typeface="微軟正黑體" panose="020B0604030504040204" pitchFamily="34" charset="-120"/>
                <a:ea typeface="微軟正黑體" panose="020B0604030504040204" pitchFamily="34" charset="-120"/>
              </a:rPr>
              <a:t>(</a:t>
            </a:r>
            <a:r>
              <a:rPr lang="zh-TW" altLang="en-US" sz="2000" dirty="0">
                <a:solidFill>
                  <a:srgbClr val="FF0000"/>
                </a:solidFill>
                <a:latin typeface="微軟正黑體" panose="020B0604030504040204" pitchFamily="34" charset="-120"/>
                <a:ea typeface="微軟正黑體" panose="020B0604030504040204" pitchFamily="34" charset="-120"/>
              </a:rPr>
              <a:t>簡稱軟體觀點</a:t>
            </a:r>
            <a:r>
              <a:rPr lang="en-US" altLang="zh-TW" sz="2000" dirty="0">
                <a:solidFill>
                  <a:srgbClr val="FF0000"/>
                </a:solidFill>
                <a:latin typeface="微軟正黑體" panose="020B0604030504040204" pitchFamily="34" charset="-120"/>
                <a:ea typeface="微軟正黑體" panose="020B0604030504040204" pitchFamily="34" charset="-120"/>
              </a:rPr>
              <a:t>)</a:t>
            </a:r>
            <a:endParaRPr lang="zh-TW" altLang="en-US" sz="2000" dirty="0">
              <a:solidFill>
                <a:srgbClr val="FF0000"/>
              </a:solidFill>
              <a:latin typeface="微軟正黑體" panose="020B0604030504040204" pitchFamily="34" charset="-120"/>
              <a:ea typeface="微軟正黑體" panose="020B0604030504040204" pitchFamily="34" charset="-120"/>
            </a:endParaRPr>
          </a:p>
        </p:txBody>
      </p:sp>
      <p:grpSp>
        <p:nvGrpSpPr>
          <p:cNvPr id="11" name="群組 10"/>
          <p:cNvGrpSpPr/>
          <p:nvPr/>
        </p:nvGrpSpPr>
        <p:grpSpPr>
          <a:xfrm>
            <a:off x="217641" y="4653136"/>
            <a:ext cx="8517632" cy="1728192"/>
            <a:chOff x="217641" y="4653136"/>
            <a:chExt cx="8517632" cy="1728192"/>
          </a:xfrm>
        </p:grpSpPr>
        <p:grpSp>
          <p:nvGrpSpPr>
            <p:cNvPr id="8" name="群組 7"/>
            <p:cNvGrpSpPr/>
            <p:nvPr/>
          </p:nvGrpSpPr>
          <p:grpSpPr>
            <a:xfrm>
              <a:off x="217641" y="4653136"/>
              <a:ext cx="8517632" cy="1728192"/>
              <a:chOff x="217641" y="4653136"/>
              <a:chExt cx="8517632" cy="1728192"/>
            </a:xfrm>
          </p:grpSpPr>
          <p:sp>
            <p:nvSpPr>
              <p:cNvPr id="12" name="文字方塊 11">
                <a:extLst>
                  <a:ext uri="{FF2B5EF4-FFF2-40B4-BE49-F238E27FC236}">
                    <a16:creationId xmlns:a16="http://schemas.microsoft.com/office/drawing/2014/main" id="{F5E1C7A2-A1FD-4020-A7B0-9DC88242219A}"/>
                  </a:ext>
                </a:extLst>
              </p:cNvPr>
              <p:cNvSpPr txBox="1"/>
              <p:nvPr/>
            </p:nvSpPr>
            <p:spPr>
              <a:xfrm>
                <a:off x="217641" y="4653136"/>
                <a:ext cx="8517632" cy="17281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noAutofit/>
              </a:bodyPr>
              <a:lstStyle/>
              <a:p>
                <a:pPr marL="342900" indent="-342900">
                  <a:buFont typeface="Arial" panose="020B0604020202020204" pitchFamily="34" charset="0"/>
                  <a:buChar char="•"/>
                </a:pPr>
                <a:r>
                  <a:rPr lang="zh-TW" altLang="en-US" sz="2000" b="1" dirty="0">
                    <a:latin typeface="微軟正黑體" panose="020B0604030504040204" pitchFamily="34" charset="-120"/>
                    <a:ea typeface="微軟正黑體" panose="020B0604030504040204" pitchFamily="34" charset="-120"/>
                  </a:rPr>
                  <a:t>是否藉助電腦軟硬體協同運作的</a:t>
                </a:r>
                <a:r>
                  <a:rPr lang="zh-TW" altLang="en-US" sz="2000" b="1" u="sng" dirty="0">
                    <a:solidFill>
                      <a:srgbClr val="FF0000"/>
                    </a:solidFill>
                    <a:latin typeface="微軟正黑體" panose="020B0604030504040204" pitchFamily="34" charset="-120"/>
                    <a:ea typeface="微軟正黑體" panose="020B0604030504040204" pitchFamily="34" charset="-120"/>
                  </a:rPr>
                  <a:t>具體</a:t>
                </a:r>
                <a:r>
                  <a:rPr lang="zh-TW" altLang="en-US" sz="2000" b="1" dirty="0">
                    <a:latin typeface="微軟正黑體" panose="020B0604030504040204" pitchFamily="34" charset="-120"/>
                    <a:ea typeface="微軟正黑體" panose="020B0604030504040204" pitchFamily="34" charset="-120"/>
                  </a:rPr>
                  <a:t>手段</a:t>
                </a:r>
                <a:r>
                  <a:rPr lang="en-US" altLang="zh-TW" sz="2000" b="1" dirty="0">
                    <a:latin typeface="微軟正黑體" panose="020B0604030504040204" pitchFamily="34" charset="-120"/>
                    <a:ea typeface="微軟正黑體" panose="020B0604030504040204" pitchFamily="34" charset="-120"/>
                  </a:rPr>
                  <a:t>(</a:t>
                </a:r>
                <a:r>
                  <a:rPr lang="zh-TW" altLang="en-US" sz="2000" b="1" dirty="0">
                    <a:latin typeface="微軟正黑體" panose="020B0604030504040204" pitchFamily="34" charset="-120"/>
                    <a:ea typeface="微軟正黑體" panose="020B0604030504040204" pitchFamily="34" charset="-120"/>
                  </a:rPr>
                  <a:t>去實現</a:t>
                </a:r>
                <a:r>
                  <a:rPr lang="en-US" altLang="zh-TW" sz="2000" b="1" dirty="0">
                    <a:latin typeface="微軟正黑體" panose="020B0604030504040204" pitchFamily="34" charset="-120"/>
                    <a:ea typeface="微軟正黑體" panose="020B0604030504040204" pitchFamily="34" charset="-120"/>
                  </a:rPr>
                  <a:t>…)</a:t>
                </a:r>
              </a:p>
              <a:p>
                <a:pPr marL="342900" indent="-342900">
                  <a:buFont typeface="Arial" panose="020B0604020202020204" pitchFamily="34" charset="0"/>
                  <a:buChar char="•"/>
                </a:pPr>
                <a:r>
                  <a:rPr lang="zh-TW" altLang="en-US" sz="2000" b="1" dirty="0">
                    <a:latin typeface="微軟正黑體" panose="020B0604030504040204" pitchFamily="34" charset="-120"/>
                    <a:ea typeface="微軟正黑體" panose="020B0604030504040204" pitchFamily="34" charset="-120"/>
                  </a:rPr>
                  <a:t>是否依據</a:t>
                </a:r>
                <a:r>
                  <a:rPr lang="zh-TW" altLang="en-US" sz="2000" b="1" u="sng" dirty="0">
                    <a:latin typeface="微軟正黑體" panose="020B0604030504040204" pitchFamily="34" charset="-120"/>
                    <a:ea typeface="微軟正黑體" panose="020B0604030504040204" pitchFamily="34" charset="-120"/>
                  </a:rPr>
                  <a:t>資訊處理目的</a:t>
                </a:r>
                <a:endParaRPr lang="en-US" altLang="zh-TW" sz="2000" b="1"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endParaRPr lang="en-US" altLang="zh-TW" sz="2000" b="1"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sz="2000" b="1" dirty="0">
                    <a:latin typeface="微軟正黑體" panose="020B0604030504040204" pitchFamily="34" charset="-120"/>
                    <a:ea typeface="微軟正黑體" panose="020B0604030504040204" pitchFamily="34" charset="-120"/>
                  </a:rPr>
                  <a:t>是否實現</a:t>
                </a:r>
                <a:r>
                  <a:rPr lang="zh-TW" altLang="en-US" sz="2000" b="1" u="sng" dirty="0">
                    <a:solidFill>
                      <a:srgbClr val="FF0000"/>
                    </a:solidFill>
                    <a:latin typeface="微軟正黑體" panose="020B0604030504040204" pitchFamily="34" charset="-120"/>
                    <a:ea typeface="微軟正黑體" panose="020B0604030504040204" pitchFamily="34" charset="-120"/>
                  </a:rPr>
                  <a:t>特定的資訊處理</a:t>
                </a:r>
                <a:endParaRPr lang="en-US" altLang="zh-TW" sz="2000" b="1" u="sng" dirty="0">
                  <a:solidFill>
                    <a:srgbClr val="FF0000"/>
                  </a:solidFill>
                  <a:latin typeface="微軟正黑體" panose="020B0604030504040204" pitchFamily="34" charset="-120"/>
                  <a:ea typeface="微軟正黑體" panose="020B0604030504040204" pitchFamily="34" charset="-120"/>
                </a:endParaRPr>
              </a:p>
            </p:txBody>
          </p:sp>
          <p:sp>
            <p:nvSpPr>
              <p:cNvPr id="6" name="五邊形 5"/>
              <p:cNvSpPr/>
              <p:nvPr/>
            </p:nvSpPr>
            <p:spPr>
              <a:xfrm>
                <a:off x="3582730" y="5557415"/>
                <a:ext cx="893727" cy="484632"/>
              </a:xfrm>
              <a:prstGeom prst="homePlat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a:t>2W</a:t>
                </a:r>
                <a:endParaRPr lang="zh-TW" altLang="en-US" dirty="0"/>
              </a:p>
            </p:txBody>
          </p:sp>
          <p:sp>
            <p:nvSpPr>
              <p:cNvPr id="7" name="左大括弧 6"/>
              <p:cNvSpPr/>
              <p:nvPr/>
            </p:nvSpPr>
            <p:spPr>
              <a:xfrm>
                <a:off x="4538998" y="5449973"/>
                <a:ext cx="235061" cy="6995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sp>
          <p:nvSpPr>
            <p:cNvPr id="9" name="文字方塊 8"/>
            <p:cNvSpPr txBox="1"/>
            <p:nvPr/>
          </p:nvSpPr>
          <p:spPr>
            <a:xfrm>
              <a:off x="4780730" y="5285955"/>
              <a:ext cx="1838965" cy="369332"/>
            </a:xfrm>
            <a:prstGeom prst="rect">
              <a:avLst/>
            </a:prstGeom>
            <a:noFill/>
          </p:spPr>
          <p:txBody>
            <a:bodyPr wrap="none" rtlCol="0">
              <a:spAutoFit/>
            </a:bodyPr>
            <a:lstStyle/>
            <a:p>
              <a:r>
                <a:rPr lang="en-US" altLang="zh-TW" dirty="0">
                  <a:latin typeface="微軟正黑體" panose="020B0604030504040204" pitchFamily="34" charset="-120"/>
                  <a:ea typeface="微軟正黑體" panose="020B0604030504040204" pitchFamily="34" charset="-120"/>
                </a:rPr>
                <a:t>(What)</a:t>
              </a:r>
              <a:r>
                <a:rPr lang="zh-TW" altLang="en-US" dirty="0">
                  <a:latin typeface="微軟正黑體" panose="020B0604030504040204" pitchFamily="34" charset="-120"/>
                  <a:ea typeface="微軟正黑體" panose="020B0604030504040204" pitchFamily="34" charset="-120"/>
                </a:rPr>
                <a:t>處理什麼</a:t>
              </a:r>
            </a:p>
          </p:txBody>
        </p:sp>
        <p:sp>
          <p:nvSpPr>
            <p:cNvPr id="13" name="文字方塊 12"/>
            <p:cNvSpPr txBox="1"/>
            <p:nvPr/>
          </p:nvSpPr>
          <p:spPr>
            <a:xfrm>
              <a:off x="4812703" y="5985471"/>
              <a:ext cx="1721946" cy="369332"/>
            </a:xfrm>
            <a:prstGeom prst="rect">
              <a:avLst/>
            </a:prstGeom>
            <a:noFill/>
          </p:spPr>
          <p:txBody>
            <a:bodyPr wrap="none" rtlCol="0">
              <a:spAutoFit/>
            </a:bodyPr>
            <a:lstStyle/>
            <a:p>
              <a:r>
                <a:rPr lang="en-US" altLang="zh-TW" dirty="0">
                  <a:latin typeface="微軟正黑體" panose="020B0604030504040204" pitchFamily="34" charset="-120"/>
                  <a:ea typeface="微軟正黑體" panose="020B0604030504040204" pitchFamily="34" charset="-120"/>
                </a:rPr>
                <a:t>(how)</a:t>
              </a:r>
              <a:r>
                <a:rPr lang="zh-TW" altLang="en-US" dirty="0">
                  <a:latin typeface="微軟正黑體" panose="020B0604030504040204" pitchFamily="34" charset="-120"/>
                  <a:ea typeface="微軟正黑體" panose="020B0604030504040204" pitchFamily="34" charset="-120"/>
                </a:rPr>
                <a:t>如何處理</a:t>
              </a:r>
            </a:p>
          </p:txBody>
        </p:sp>
        <p:sp>
          <p:nvSpPr>
            <p:cNvPr id="14" name="左大括弧 13"/>
            <p:cNvSpPr/>
            <p:nvPr/>
          </p:nvSpPr>
          <p:spPr>
            <a:xfrm flipH="1">
              <a:off x="6631862" y="5454343"/>
              <a:ext cx="293613" cy="6995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5" name="文字方塊 14"/>
            <p:cNvSpPr txBox="1"/>
            <p:nvPr/>
          </p:nvSpPr>
          <p:spPr>
            <a:xfrm>
              <a:off x="7001186" y="5332566"/>
              <a:ext cx="1107996"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處理模組</a:t>
              </a:r>
            </a:p>
          </p:txBody>
        </p:sp>
        <p:sp>
          <p:nvSpPr>
            <p:cNvPr id="16" name="文字方塊 15"/>
            <p:cNvSpPr txBox="1"/>
            <p:nvPr/>
          </p:nvSpPr>
          <p:spPr>
            <a:xfrm>
              <a:off x="7001186" y="5857381"/>
              <a:ext cx="1107996"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處理架構</a:t>
              </a:r>
            </a:p>
          </p:txBody>
        </p:sp>
      </p:grpSp>
    </p:spTree>
    <p:extLst>
      <p:ext uri="{BB962C8B-B14F-4D97-AF65-F5344CB8AC3E}">
        <p14:creationId xmlns:p14="http://schemas.microsoft.com/office/powerpoint/2010/main" val="5034269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FD3397-F895-4DDF-B640-6B3C68627610}"/>
              </a:ext>
            </a:extLst>
          </p:cNvPr>
          <p:cNvSpPr>
            <a:spLocks noGrp="1"/>
          </p:cNvSpPr>
          <p:nvPr>
            <p:ph type="title"/>
          </p:nvPr>
        </p:nvSpPr>
        <p:spPr/>
        <p:txBody>
          <a:bodyPr/>
          <a:lstStyle/>
          <a:p>
            <a:r>
              <a:rPr lang="zh-TW" altLang="en-US" dirty="0"/>
              <a:t>電腦軟體發明定義</a:t>
            </a:r>
          </a:p>
        </p:txBody>
      </p:sp>
      <p:sp>
        <p:nvSpPr>
          <p:cNvPr id="4" name="投影片編號版面配置區 3">
            <a:extLst>
              <a:ext uri="{FF2B5EF4-FFF2-40B4-BE49-F238E27FC236}">
                <a16:creationId xmlns:a16="http://schemas.microsoft.com/office/drawing/2014/main" id="{877F34BE-8DB6-41D3-A591-F2C939AA7ABD}"/>
              </a:ext>
            </a:extLst>
          </p:cNvPr>
          <p:cNvSpPr>
            <a:spLocks noGrp="1"/>
          </p:cNvSpPr>
          <p:nvPr>
            <p:ph type="sldNum" sz="quarter" idx="12"/>
          </p:nvPr>
        </p:nvSpPr>
        <p:spPr/>
        <p:txBody>
          <a:bodyPr/>
          <a:lstStyle/>
          <a:p>
            <a:fld id="{51D2D507-09EA-4C6F-96ED-053C801F8797}" type="slidenum">
              <a:rPr lang="zh-TW" altLang="en-US" smtClean="0"/>
              <a:t>38</a:t>
            </a:fld>
            <a:endParaRPr lang="zh-TW" altLang="en-US"/>
          </a:p>
        </p:txBody>
      </p:sp>
      <p:sp>
        <p:nvSpPr>
          <p:cNvPr id="5" name="文字方塊 4">
            <a:extLst>
              <a:ext uri="{FF2B5EF4-FFF2-40B4-BE49-F238E27FC236}">
                <a16:creationId xmlns:a16="http://schemas.microsoft.com/office/drawing/2014/main" id="{E56F4CB8-654E-410F-AD7F-F296B17F8ED2}"/>
              </a:ext>
            </a:extLst>
          </p:cNvPr>
          <p:cNvSpPr txBox="1"/>
          <p:nvPr/>
        </p:nvSpPr>
        <p:spPr>
          <a:xfrm>
            <a:off x="215206" y="1008262"/>
            <a:ext cx="8605266" cy="1477328"/>
          </a:xfrm>
          <a:prstGeom prst="rect">
            <a:avLst/>
          </a:prstGeom>
          <a:noFill/>
        </p:spPr>
        <p:txBody>
          <a:bodyPr wrap="square">
            <a:spAutoFit/>
          </a:bodyPr>
          <a:lstStyle/>
          <a:p>
            <a:r>
              <a:rPr lang="zh-TW" altLang="en-US" sz="2000" b="1" u="sng" dirty="0">
                <a:latin typeface="微軟正黑體" panose="020B0604030504040204" pitchFamily="34" charset="-120"/>
                <a:ea typeface="微軟正黑體" panose="020B0604030504040204" pitchFamily="34" charset="-120"/>
              </a:rPr>
              <a:t>處理模組</a:t>
            </a:r>
            <a:r>
              <a:rPr lang="zh-TW" altLang="en-US" sz="2000" dirty="0">
                <a:latin typeface="微軟正黑體" panose="020B0604030504040204" pitchFamily="34" charset="-120"/>
                <a:ea typeface="微軟正黑體" panose="020B0604030504040204" pitchFamily="34" charset="-120"/>
              </a:rPr>
              <a:t>：</a:t>
            </a:r>
            <a:endParaRPr lang="en-US" altLang="zh-TW" sz="2000" dirty="0">
              <a:latin typeface="微軟正黑體" panose="020B0604030504040204" pitchFamily="34" charset="-120"/>
              <a:ea typeface="微軟正黑體" panose="020B0604030504040204" pitchFamily="34" charset="-120"/>
            </a:endParaRPr>
          </a:p>
          <a:p>
            <a:endParaRPr lang="zh-TW" altLang="en-US" sz="1000" dirty="0">
              <a:latin typeface="微軟正黑體" panose="020B0604030504040204" pitchFamily="34" charset="-120"/>
              <a:ea typeface="微軟正黑體" panose="020B0604030504040204" pitchFamily="34" charset="-120"/>
            </a:endParaRPr>
          </a:p>
          <a:p>
            <a:pPr marL="539750" indent="-276225">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是否</a:t>
            </a:r>
            <a:r>
              <a:rPr lang="zh-TW" altLang="en-US" sz="2000" dirty="0">
                <a:solidFill>
                  <a:srgbClr val="FF0000"/>
                </a:solidFill>
                <a:latin typeface="微軟正黑體" panose="020B0604030504040204" pitchFamily="34" charset="-120"/>
                <a:ea typeface="微軟正黑體" panose="020B0604030504040204" pitchFamily="34" charset="-120"/>
              </a:rPr>
              <a:t>有</a:t>
            </a:r>
            <a:r>
              <a:rPr lang="zh-TW" altLang="en-US" sz="2000" dirty="0">
                <a:latin typeface="微軟正黑體" panose="020B0604030504040204" pitchFamily="34" charset="-120"/>
                <a:ea typeface="微軟正黑體" panose="020B0604030504040204" pitchFamily="34" charset="-120"/>
              </a:rPr>
              <a:t>處理</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模組</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，若無則不符合</a:t>
            </a:r>
          </a:p>
          <a:p>
            <a:pPr marL="539750" indent="-276225">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處理模組是否</a:t>
            </a:r>
            <a:r>
              <a:rPr lang="zh-TW" altLang="en-US" sz="2000" dirty="0">
                <a:solidFill>
                  <a:srgbClr val="FF0000"/>
                </a:solidFill>
                <a:latin typeface="微軟正黑體" panose="020B0604030504040204" pitchFamily="34" charset="-120"/>
                <a:ea typeface="微軟正黑體" panose="020B0604030504040204" pitchFamily="34" charset="-120"/>
              </a:rPr>
              <a:t>有</a:t>
            </a:r>
            <a:r>
              <a:rPr lang="zh-TW" altLang="en-US" sz="2000" dirty="0">
                <a:latin typeface="微軟正黑體" panose="020B0604030504040204" pitchFamily="34" charset="-120"/>
                <a:ea typeface="微軟正黑體" panose="020B0604030504040204" pitchFamily="34" charset="-120"/>
              </a:rPr>
              <a:t>揭露如何處理。若籠統以「處理」、「計算」來描述，則不符合</a:t>
            </a:r>
          </a:p>
        </p:txBody>
      </p:sp>
      <p:grpSp>
        <p:nvGrpSpPr>
          <p:cNvPr id="6" name="群組 5">
            <a:extLst>
              <a:ext uri="{FF2B5EF4-FFF2-40B4-BE49-F238E27FC236}">
                <a16:creationId xmlns:a16="http://schemas.microsoft.com/office/drawing/2014/main" id="{A111D4D8-88B2-4C67-96A0-CE33BF2870E3}"/>
              </a:ext>
            </a:extLst>
          </p:cNvPr>
          <p:cNvGrpSpPr/>
          <p:nvPr/>
        </p:nvGrpSpPr>
        <p:grpSpPr>
          <a:xfrm>
            <a:off x="1232982" y="3650552"/>
            <a:ext cx="3809998" cy="498764"/>
            <a:chOff x="7467600" y="498763"/>
            <a:chExt cx="3809998" cy="498764"/>
          </a:xfrm>
        </p:grpSpPr>
        <p:sp>
          <p:nvSpPr>
            <p:cNvPr id="7" name="矩形: 圓角 6">
              <a:extLst>
                <a:ext uri="{FF2B5EF4-FFF2-40B4-BE49-F238E27FC236}">
                  <a16:creationId xmlns:a16="http://schemas.microsoft.com/office/drawing/2014/main" id="{196BBB5E-5F94-44B6-B5E6-27387D42EE85}"/>
                </a:ext>
              </a:extLst>
            </p:cNvPr>
            <p:cNvSpPr/>
            <p:nvPr/>
          </p:nvSpPr>
          <p:spPr>
            <a:xfrm>
              <a:off x="7467600" y="498763"/>
              <a:ext cx="817418" cy="4987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輸入</a:t>
              </a:r>
            </a:p>
          </p:txBody>
        </p:sp>
        <p:sp>
          <p:nvSpPr>
            <p:cNvPr id="8" name="矩形: 圓角 7">
              <a:extLst>
                <a:ext uri="{FF2B5EF4-FFF2-40B4-BE49-F238E27FC236}">
                  <a16:creationId xmlns:a16="http://schemas.microsoft.com/office/drawing/2014/main" id="{AC6E8597-CD17-4347-9E6C-BDA74ECE1F47}"/>
                </a:ext>
              </a:extLst>
            </p:cNvPr>
            <p:cNvSpPr/>
            <p:nvPr/>
          </p:nvSpPr>
          <p:spPr>
            <a:xfrm>
              <a:off x="8963890" y="498763"/>
              <a:ext cx="817418" cy="498764"/>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處理</a:t>
              </a:r>
            </a:p>
          </p:txBody>
        </p:sp>
        <p:sp>
          <p:nvSpPr>
            <p:cNvPr id="9" name="矩形: 圓角 8">
              <a:extLst>
                <a:ext uri="{FF2B5EF4-FFF2-40B4-BE49-F238E27FC236}">
                  <a16:creationId xmlns:a16="http://schemas.microsoft.com/office/drawing/2014/main" id="{716C31B1-A37A-4A74-9693-C5F968F8CABC}"/>
                </a:ext>
              </a:extLst>
            </p:cNvPr>
            <p:cNvSpPr/>
            <p:nvPr/>
          </p:nvSpPr>
          <p:spPr>
            <a:xfrm>
              <a:off x="10460180" y="498763"/>
              <a:ext cx="817418" cy="4987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輸出</a:t>
              </a:r>
            </a:p>
          </p:txBody>
        </p:sp>
        <p:cxnSp>
          <p:nvCxnSpPr>
            <p:cNvPr id="10" name="直線單箭頭接點 9">
              <a:extLst>
                <a:ext uri="{FF2B5EF4-FFF2-40B4-BE49-F238E27FC236}">
                  <a16:creationId xmlns:a16="http://schemas.microsoft.com/office/drawing/2014/main" id="{B3B3AC72-9AE7-424E-B4CD-9E36E5BD9085}"/>
                </a:ext>
              </a:extLst>
            </p:cNvPr>
            <p:cNvCxnSpPr>
              <a:stCxn id="7" idx="3"/>
              <a:endCxn id="8" idx="1"/>
            </p:cNvCxnSpPr>
            <p:nvPr/>
          </p:nvCxnSpPr>
          <p:spPr>
            <a:xfrm>
              <a:off x="8285018" y="748145"/>
              <a:ext cx="67887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ABEF3F91-ADB4-4166-9C3E-62B9C836BA57}"/>
                </a:ext>
              </a:extLst>
            </p:cNvPr>
            <p:cNvCxnSpPr>
              <a:stCxn id="8" idx="3"/>
              <a:endCxn id="9" idx="1"/>
            </p:cNvCxnSpPr>
            <p:nvPr/>
          </p:nvCxnSpPr>
          <p:spPr>
            <a:xfrm>
              <a:off x="9781308" y="748145"/>
              <a:ext cx="67887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grpSp>
        <p:nvGrpSpPr>
          <p:cNvPr id="12" name="群組 11">
            <a:extLst>
              <a:ext uri="{FF2B5EF4-FFF2-40B4-BE49-F238E27FC236}">
                <a16:creationId xmlns:a16="http://schemas.microsoft.com/office/drawing/2014/main" id="{31CE79F4-8D67-406B-836D-FBF8FD43FD5A}"/>
              </a:ext>
            </a:extLst>
          </p:cNvPr>
          <p:cNvGrpSpPr/>
          <p:nvPr/>
        </p:nvGrpSpPr>
        <p:grpSpPr>
          <a:xfrm>
            <a:off x="939752" y="4215901"/>
            <a:ext cx="4812094" cy="734287"/>
            <a:chOff x="7102814" y="1136073"/>
            <a:chExt cx="4812094" cy="734287"/>
          </a:xfrm>
        </p:grpSpPr>
        <p:grpSp>
          <p:nvGrpSpPr>
            <p:cNvPr id="13" name="群組 12">
              <a:extLst>
                <a:ext uri="{FF2B5EF4-FFF2-40B4-BE49-F238E27FC236}">
                  <a16:creationId xmlns:a16="http://schemas.microsoft.com/office/drawing/2014/main" id="{7435CFF2-0093-443A-A50B-06042E92DFCA}"/>
                </a:ext>
              </a:extLst>
            </p:cNvPr>
            <p:cNvGrpSpPr/>
            <p:nvPr/>
          </p:nvGrpSpPr>
          <p:grpSpPr>
            <a:xfrm>
              <a:off x="10081196" y="1246909"/>
              <a:ext cx="1833712" cy="498764"/>
              <a:chOff x="8285018" y="498763"/>
              <a:chExt cx="2992580" cy="498764"/>
            </a:xfrm>
          </p:grpSpPr>
          <p:sp>
            <p:nvSpPr>
              <p:cNvPr id="21" name="矩形: 圓角 20">
                <a:extLst>
                  <a:ext uri="{FF2B5EF4-FFF2-40B4-BE49-F238E27FC236}">
                    <a16:creationId xmlns:a16="http://schemas.microsoft.com/office/drawing/2014/main" id="{987D17DB-39DB-4CD9-BCE8-C2CCDEEAFA02}"/>
                  </a:ext>
                </a:extLst>
              </p:cNvPr>
              <p:cNvSpPr/>
              <p:nvPr/>
            </p:nvSpPr>
            <p:spPr>
              <a:xfrm>
                <a:off x="8963890" y="498763"/>
                <a:ext cx="817418" cy="498764"/>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處理</a:t>
                </a:r>
              </a:p>
            </p:txBody>
          </p:sp>
          <p:sp>
            <p:nvSpPr>
              <p:cNvPr id="22" name="矩形: 圓角 21">
                <a:extLst>
                  <a:ext uri="{FF2B5EF4-FFF2-40B4-BE49-F238E27FC236}">
                    <a16:creationId xmlns:a16="http://schemas.microsoft.com/office/drawing/2014/main" id="{4BFA9008-C04E-4EC7-87FD-DCCC4CA1D903}"/>
                  </a:ext>
                </a:extLst>
              </p:cNvPr>
              <p:cNvSpPr/>
              <p:nvPr/>
            </p:nvSpPr>
            <p:spPr>
              <a:xfrm>
                <a:off x="10460180" y="498763"/>
                <a:ext cx="817418" cy="4987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輸出</a:t>
                </a:r>
              </a:p>
            </p:txBody>
          </p:sp>
          <p:cxnSp>
            <p:nvCxnSpPr>
              <p:cNvPr id="23" name="直線單箭頭接點 22">
                <a:extLst>
                  <a:ext uri="{FF2B5EF4-FFF2-40B4-BE49-F238E27FC236}">
                    <a16:creationId xmlns:a16="http://schemas.microsoft.com/office/drawing/2014/main" id="{C0A0DDA0-AA2E-44FF-AAD8-B4E5475F8F6A}"/>
                  </a:ext>
                </a:extLst>
              </p:cNvPr>
              <p:cNvCxnSpPr>
                <a:cxnSpLocks/>
                <a:endCxn id="21" idx="1"/>
              </p:cNvCxnSpPr>
              <p:nvPr/>
            </p:nvCxnSpPr>
            <p:spPr>
              <a:xfrm>
                <a:off x="8285018" y="748145"/>
                <a:ext cx="67887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0E8A133F-75BA-473D-BAF5-CDB632C42707}"/>
                  </a:ext>
                </a:extLst>
              </p:cNvPr>
              <p:cNvCxnSpPr>
                <a:stCxn id="21" idx="3"/>
                <a:endCxn id="22" idx="1"/>
              </p:cNvCxnSpPr>
              <p:nvPr/>
            </p:nvCxnSpPr>
            <p:spPr>
              <a:xfrm>
                <a:off x="9781308" y="748145"/>
                <a:ext cx="67887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grpSp>
          <p:nvGrpSpPr>
            <p:cNvPr id="14" name="群組 13">
              <a:extLst>
                <a:ext uri="{FF2B5EF4-FFF2-40B4-BE49-F238E27FC236}">
                  <a16:creationId xmlns:a16="http://schemas.microsoft.com/office/drawing/2014/main" id="{6D951E74-1ECE-4F2C-A8F9-1A8DC7B9C286}"/>
                </a:ext>
              </a:extLst>
            </p:cNvPr>
            <p:cNvGrpSpPr/>
            <p:nvPr/>
          </p:nvGrpSpPr>
          <p:grpSpPr>
            <a:xfrm>
              <a:off x="7227160" y="1274623"/>
              <a:ext cx="2835141" cy="498759"/>
              <a:chOff x="7467600" y="498763"/>
              <a:chExt cx="3809998" cy="498764"/>
            </a:xfrm>
          </p:grpSpPr>
          <p:sp>
            <p:nvSpPr>
              <p:cNvPr id="16" name="矩形: 圓角 15">
                <a:extLst>
                  <a:ext uri="{FF2B5EF4-FFF2-40B4-BE49-F238E27FC236}">
                    <a16:creationId xmlns:a16="http://schemas.microsoft.com/office/drawing/2014/main" id="{A15C8D32-5267-4C00-A92B-146B7B82A3C9}"/>
                  </a:ext>
                </a:extLst>
              </p:cNvPr>
              <p:cNvSpPr/>
              <p:nvPr/>
            </p:nvSpPr>
            <p:spPr>
              <a:xfrm>
                <a:off x="7467600" y="498763"/>
                <a:ext cx="817418" cy="4987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輸入</a:t>
                </a:r>
              </a:p>
            </p:txBody>
          </p:sp>
          <p:sp>
            <p:nvSpPr>
              <p:cNvPr id="17" name="矩形: 圓角 16">
                <a:extLst>
                  <a:ext uri="{FF2B5EF4-FFF2-40B4-BE49-F238E27FC236}">
                    <a16:creationId xmlns:a16="http://schemas.microsoft.com/office/drawing/2014/main" id="{F1BC9A3C-1C2D-4AAD-B84B-35AE5FFA0DFD}"/>
                  </a:ext>
                </a:extLst>
              </p:cNvPr>
              <p:cNvSpPr/>
              <p:nvPr/>
            </p:nvSpPr>
            <p:spPr>
              <a:xfrm>
                <a:off x="8963890" y="498763"/>
                <a:ext cx="817418" cy="498764"/>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處理</a:t>
                </a:r>
              </a:p>
            </p:txBody>
          </p:sp>
          <p:sp>
            <p:nvSpPr>
              <p:cNvPr id="18" name="矩形: 圓角 17">
                <a:extLst>
                  <a:ext uri="{FF2B5EF4-FFF2-40B4-BE49-F238E27FC236}">
                    <a16:creationId xmlns:a16="http://schemas.microsoft.com/office/drawing/2014/main" id="{133551BD-FAC1-4B97-824D-2BE33B7CFBDA}"/>
                  </a:ext>
                </a:extLst>
              </p:cNvPr>
              <p:cNvSpPr/>
              <p:nvPr/>
            </p:nvSpPr>
            <p:spPr>
              <a:xfrm>
                <a:off x="10460180" y="498763"/>
                <a:ext cx="817418" cy="4987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輸出</a:t>
                </a:r>
              </a:p>
            </p:txBody>
          </p:sp>
          <p:cxnSp>
            <p:nvCxnSpPr>
              <p:cNvPr id="19" name="直線單箭頭接點 18">
                <a:extLst>
                  <a:ext uri="{FF2B5EF4-FFF2-40B4-BE49-F238E27FC236}">
                    <a16:creationId xmlns:a16="http://schemas.microsoft.com/office/drawing/2014/main" id="{99815BA2-90A2-4327-98EF-23B4D54CD029}"/>
                  </a:ext>
                </a:extLst>
              </p:cNvPr>
              <p:cNvCxnSpPr>
                <a:stCxn id="16" idx="3"/>
                <a:endCxn id="17" idx="1"/>
              </p:cNvCxnSpPr>
              <p:nvPr/>
            </p:nvCxnSpPr>
            <p:spPr>
              <a:xfrm>
                <a:off x="8285018" y="748145"/>
                <a:ext cx="67887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661EFAA5-687A-44E5-9DCB-C1E981DDB531}"/>
                  </a:ext>
                </a:extLst>
              </p:cNvPr>
              <p:cNvCxnSpPr>
                <a:stCxn id="17" idx="3"/>
                <a:endCxn id="18" idx="1"/>
              </p:cNvCxnSpPr>
              <p:nvPr/>
            </p:nvCxnSpPr>
            <p:spPr>
              <a:xfrm>
                <a:off x="9781308" y="748145"/>
                <a:ext cx="67887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sp>
          <p:nvSpPr>
            <p:cNvPr id="15" name="矩形: 圓角 14">
              <a:extLst>
                <a:ext uri="{FF2B5EF4-FFF2-40B4-BE49-F238E27FC236}">
                  <a16:creationId xmlns:a16="http://schemas.microsoft.com/office/drawing/2014/main" id="{3B0C15E4-2F90-40B3-B896-4ECE5CABC6D7}"/>
                </a:ext>
              </a:extLst>
            </p:cNvPr>
            <p:cNvSpPr/>
            <p:nvPr/>
          </p:nvSpPr>
          <p:spPr>
            <a:xfrm>
              <a:off x="7102814" y="1136073"/>
              <a:ext cx="3080277" cy="73428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 name="群組 28">
            <a:extLst>
              <a:ext uri="{FF2B5EF4-FFF2-40B4-BE49-F238E27FC236}">
                <a16:creationId xmlns:a16="http://schemas.microsoft.com/office/drawing/2014/main" id="{1276F381-72A6-422F-85F0-1FDFD323FBFC}"/>
              </a:ext>
            </a:extLst>
          </p:cNvPr>
          <p:cNvGrpSpPr/>
          <p:nvPr/>
        </p:nvGrpSpPr>
        <p:grpSpPr>
          <a:xfrm>
            <a:off x="971600" y="5007489"/>
            <a:ext cx="4720868" cy="734287"/>
            <a:chOff x="7102814" y="1521277"/>
            <a:chExt cx="4620415" cy="734287"/>
          </a:xfrm>
        </p:grpSpPr>
        <p:grpSp>
          <p:nvGrpSpPr>
            <p:cNvPr id="30" name="群組 29">
              <a:extLst>
                <a:ext uri="{FF2B5EF4-FFF2-40B4-BE49-F238E27FC236}">
                  <a16:creationId xmlns:a16="http://schemas.microsoft.com/office/drawing/2014/main" id="{AE8AF321-C4AB-4F66-85AC-9D202FCDC3BD}"/>
                </a:ext>
              </a:extLst>
            </p:cNvPr>
            <p:cNvGrpSpPr/>
            <p:nvPr/>
          </p:nvGrpSpPr>
          <p:grpSpPr>
            <a:xfrm>
              <a:off x="7102814" y="1667825"/>
              <a:ext cx="1620272" cy="498764"/>
              <a:chOff x="7102814" y="1667825"/>
              <a:chExt cx="2992580" cy="498764"/>
            </a:xfrm>
          </p:grpSpPr>
          <p:sp>
            <p:nvSpPr>
              <p:cNvPr id="37" name="矩形: 圓角 36">
                <a:extLst>
                  <a:ext uri="{FF2B5EF4-FFF2-40B4-BE49-F238E27FC236}">
                    <a16:creationId xmlns:a16="http://schemas.microsoft.com/office/drawing/2014/main" id="{E6E529F4-63D6-462F-8335-8AE451AEE34C}"/>
                  </a:ext>
                </a:extLst>
              </p:cNvPr>
              <p:cNvSpPr/>
              <p:nvPr/>
            </p:nvSpPr>
            <p:spPr>
              <a:xfrm>
                <a:off x="7102814" y="1667825"/>
                <a:ext cx="817418" cy="4987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輸入</a:t>
                </a:r>
              </a:p>
            </p:txBody>
          </p:sp>
          <p:sp>
            <p:nvSpPr>
              <p:cNvPr id="38" name="矩形: 圓角 37">
                <a:extLst>
                  <a:ext uri="{FF2B5EF4-FFF2-40B4-BE49-F238E27FC236}">
                    <a16:creationId xmlns:a16="http://schemas.microsoft.com/office/drawing/2014/main" id="{95B74791-EF90-4362-9B56-7A35A46930CB}"/>
                  </a:ext>
                </a:extLst>
              </p:cNvPr>
              <p:cNvSpPr/>
              <p:nvPr/>
            </p:nvSpPr>
            <p:spPr>
              <a:xfrm>
                <a:off x="8599104" y="1667825"/>
                <a:ext cx="817418" cy="498764"/>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處理</a:t>
                </a:r>
              </a:p>
            </p:txBody>
          </p:sp>
          <p:cxnSp>
            <p:nvCxnSpPr>
              <p:cNvPr id="39" name="直線單箭頭接點 38">
                <a:extLst>
                  <a:ext uri="{FF2B5EF4-FFF2-40B4-BE49-F238E27FC236}">
                    <a16:creationId xmlns:a16="http://schemas.microsoft.com/office/drawing/2014/main" id="{3088793B-645E-404E-BF7B-5C887B196A0D}"/>
                  </a:ext>
                </a:extLst>
              </p:cNvPr>
              <p:cNvCxnSpPr>
                <a:stCxn id="37" idx="3"/>
                <a:endCxn id="38" idx="1"/>
              </p:cNvCxnSpPr>
              <p:nvPr/>
            </p:nvCxnSpPr>
            <p:spPr>
              <a:xfrm>
                <a:off x="7920232" y="1917207"/>
                <a:ext cx="67887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CD5A2598-ABAA-4B32-BABF-A1387508B6B9}"/>
                  </a:ext>
                </a:extLst>
              </p:cNvPr>
              <p:cNvCxnSpPr>
                <a:cxnSpLocks/>
                <a:stCxn id="38" idx="3"/>
              </p:cNvCxnSpPr>
              <p:nvPr/>
            </p:nvCxnSpPr>
            <p:spPr>
              <a:xfrm>
                <a:off x="9416522" y="1917207"/>
                <a:ext cx="67887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sp>
          <p:nvSpPr>
            <p:cNvPr id="31" name="矩形: 圓角 30">
              <a:extLst>
                <a:ext uri="{FF2B5EF4-FFF2-40B4-BE49-F238E27FC236}">
                  <a16:creationId xmlns:a16="http://schemas.microsoft.com/office/drawing/2014/main" id="{FE38AEC6-5521-44DF-AEAF-6ED11693B00F}"/>
                </a:ext>
              </a:extLst>
            </p:cNvPr>
            <p:cNvSpPr/>
            <p:nvPr/>
          </p:nvSpPr>
          <p:spPr>
            <a:xfrm>
              <a:off x="8767298" y="1659827"/>
              <a:ext cx="608267" cy="4987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輸入</a:t>
              </a:r>
            </a:p>
          </p:txBody>
        </p:sp>
        <p:sp>
          <p:nvSpPr>
            <p:cNvPr id="32" name="矩形: 圓角 31">
              <a:extLst>
                <a:ext uri="{FF2B5EF4-FFF2-40B4-BE49-F238E27FC236}">
                  <a16:creationId xmlns:a16="http://schemas.microsoft.com/office/drawing/2014/main" id="{BD3B746C-357A-462D-A6D4-818113A6050F}"/>
                </a:ext>
              </a:extLst>
            </p:cNvPr>
            <p:cNvSpPr/>
            <p:nvPr/>
          </p:nvSpPr>
          <p:spPr>
            <a:xfrm>
              <a:off x="9880735" y="1659827"/>
              <a:ext cx="608267" cy="498759"/>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處理</a:t>
              </a:r>
            </a:p>
          </p:txBody>
        </p:sp>
        <p:sp>
          <p:nvSpPr>
            <p:cNvPr id="33" name="矩形: 圓角 32">
              <a:extLst>
                <a:ext uri="{FF2B5EF4-FFF2-40B4-BE49-F238E27FC236}">
                  <a16:creationId xmlns:a16="http://schemas.microsoft.com/office/drawing/2014/main" id="{846979F2-156D-40FF-B230-C2AA3278AAC9}"/>
                </a:ext>
              </a:extLst>
            </p:cNvPr>
            <p:cNvSpPr/>
            <p:nvPr/>
          </p:nvSpPr>
          <p:spPr>
            <a:xfrm>
              <a:off x="10994172" y="1659827"/>
              <a:ext cx="608267" cy="4987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輸出</a:t>
              </a:r>
            </a:p>
          </p:txBody>
        </p:sp>
        <p:cxnSp>
          <p:nvCxnSpPr>
            <p:cNvPr id="34" name="直線單箭頭接點 33">
              <a:extLst>
                <a:ext uri="{FF2B5EF4-FFF2-40B4-BE49-F238E27FC236}">
                  <a16:creationId xmlns:a16="http://schemas.microsoft.com/office/drawing/2014/main" id="{A7E690B1-D428-4E55-BBFB-8CAAE06721CB}"/>
                </a:ext>
              </a:extLst>
            </p:cNvPr>
            <p:cNvCxnSpPr>
              <a:stCxn id="31" idx="3"/>
              <a:endCxn id="32" idx="1"/>
            </p:cNvCxnSpPr>
            <p:nvPr/>
          </p:nvCxnSpPr>
          <p:spPr>
            <a:xfrm>
              <a:off x="9375565" y="1909207"/>
              <a:ext cx="50517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9409D91C-7753-491D-9635-651932B67895}"/>
                </a:ext>
              </a:extLst>
            </p:cNvPr>
            <p:cNvCxnSpPr>
              <a:stCxn id="32" idx="3"/>
              <a:endCxn id="33" idx="1"/>
            </p:cNvCxnSpPr>
            <p:nvPr/>
          </p:nvCxnSpPr>
          <p:spPr>
            <a:xfrm>
              <a:off x="10489002" y="1909207"/>
              <a:ext cx="50517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6" name="矩形: 圓角 35">
              <a:extLst>
                <a:ext uri="{FF2B5EF4-FFF2-40B4-BE49-F238E27FC236}">
                  <a16:creationId xmlns:a16="http://schemas.microsoft.com/office/drawing/2014/main" id="{9E3FA2C6-32CA-4318-8316-B85424863B59}"/>
                </a:ext>
              </a:extLst>
            </p:cNvPr>
            <p:cNvSpPr/>
            <p:nvPr/>
          </p:nvSpPr>
          <p:spPr>
            <a:xfrm>
              <a:off x="8642952" y="1521277"/>
              <a:ext cx="3080277" cy="73428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 name="矩形 2"/>
          <p:cNvSpPr/>
          <p:nvPr/>
        </p:nvSpPr>
        <p:spPr>
          <a:xfrm>
            <a:off x="401245" y="3045330"/>
            <a:ext cx="83472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84138"/>
            <a:r>
              <a:rPr lang="zh-TW" altLang="en-US" dirty="0">
                <a:latin typeface="微軟正黑體" panose="020B0604030504040204" pitchFamily="34" charset="-120"/>
                <a:ea typeface="微軟正黑體" panose="020B0604030504040204" pitchFamily="34" charset="-120"/>
              </a:rPr>
              <a:t>處理模組包含預處理、後置處理，若明確揭露處理什麼、如何處理，則符合</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3042805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FD3397-F895-4DDF-B640-6B3C68627610}"/>
              </a:ext>
            </a:extLst>
          </p:cNvPr>
          <p:cNvSpPr>
            <a:spLocks noGrp="1"/>
          </p:cNvSpPr>
          <p:nvPr>
            <p:ph type="title"/>
          </p:nvPr>
        </p:nvSpPr>
        <p:spPr/>
        <p:txBody>
          <a:bodyPr/>
          <a:lstStyle/>
          <a:p>
            <a:r>
              <a:rPr lang="zh-TW" altLang="en-US" dirty="0"/>
              <a:t>電腦軟體發明定義</a:t>
            </a:r>
          </a:p>
        </p:txBody>
      </p:sp>
      <p:sp>
        <p:nvSpPr>
          <p:cNvPr id="4" name="投影片編號版面配置區 3">
            <a:extLst>
              <a:ext uri="{FF2B5EF4-FFF2-40B4-BE49-F238E27FC236}">
                <a16:creationId xmlns:a16="http://schemas.microsoft.com/office/drawing/2014/main" id="{877F34BE-8DB6-41D3-A591-F2C939AA7ABD}"/>
              </a:ext>
            </a:extLst>
          </p:cNvPr>
          <p:cNvSpPr>
            <a:spLocks noGrp="1"/>
          </p:cNvSpPr>
          <p:nvPr>
            <p:ph type="sldNum" sz="quarter" idx="12"/>
          </p:nvPr>
        </p:nvSpPr>
        <p:spPr/>
        <p:txBody>
          <a:bodyPr/>
          <a:lstStyle/>
          <a:p>
            <a:fld id="{51D2D507-09EA-4C6F-96ED-053C801F8797}" type="slidenum">
              <a:rPr lang="zh-TW" altLang="en-US" smtClean="0"/>
              <a:t>39</a:t>
            </a:fld>
            <a:endParaRPr lang="zh-TW" altLang="en-US"/>
          </a:p>
        </p:txBody>
      </p:sp>
      <p:sp>
        <p:nvSpPr>
          <p:cNvPr id="41" name="文字方塊 40">
            <a:extLst>
              <a:ext uri="{FF2B5EF4-FFF2-40B4-BE49-F238E27FC236}">
                <a16:creationId xmlns:a16="http://schemas.microsoft.com/office/drawing/2014/main" id="{5AC26389-2770-4C10-952B-BCBFB5065D6E}"/>
              </a:ext>
            </a:extLst>
          </p:cNvPr>
          <p:cNvSpPr txBox="1"/>
          <p:nvPr/>
        </p:nvSpPr>
        <p:spPr>
          <a:xfrm>
            <a:off x="395536" y="1397675"/>
            <a:ext cx="8136904" cy="20313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一種資料結構產品，包含： </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一組檔案，其中每個檔案有三個欄位， </a:t>
            </a:r>
            <a:endParaRPr lang="en-US" altLang="zh-TW" dirty="0">
              <a:latin typeface="微軟正黑體" panose="020B0604030504040204" pitchFamily="34" charset="-120"/>
              <a:ea typeface="微軟正黑體" panose="020B0604030504040204" pitchFamily="34" charset="-120"/>
            </a:endParaRPr>
          </a:p>
          <a:p>
            <a:pPr marL="263525" indent="-84138"/>
            <a:r>
              <a:rPr lang="zh-TW" altLang="en-US" dirty="0">
                <a:latin typeface="微軟正黑體" panose="020B0604030504040204" pitchFamily="34" charset="-120"/>
                <a:ea typeface="微軟正黑體" panose="020B0604030504040204" pitchFamily="34" charset="-120"/>
              </a:rPr>
              <a:t>第一欄位儲存顧客姓名，</a:t>
            </a:r>
            <a:endParaRPr lang="en-US" altLang="zh-TW" dirty="0">
              <a:latin typeface="微軟正黑體" panose="020B0604030504040204" pitchFamily="34" charset="-120"/>
              <a:ea typeface="微軟正黑體" panose="020B0604030504040204" pitchFamily="34" charset="-120"/>
            </a:endParaRPr>
          </a:p>
          <a:p>
            <a:pPr marL="263525" indent="-84138"/>
            <a:r>
              <a:rPr lang="zh-TW" altLang="en-US" dirty="0">
                <a:latin typeface="微軟正黑體" panose="020B0604030504040204" pitchFamily="34" charset="-120"/>
                <a:ea typeface="微軟正黑體" panose="020B0604030504040204" pitchFamily="34" charset="-120"/>
              </a:rPr>
              <a:t>第二欄位儲存顧客地址及電話， </a:t>
            </a:r>
            <a:endParaRPr lang="en-US" altLang="zh-TW" dirty="0">
              <a:latin typeface="微軟正黑體" panose="020B0604030504040204" pitchFamily="34" charset="-120"/>
              <a:ea typeface="微軟正黑體" panose="020B0604030504040204" pitchFamily="34" charset="-120"/>
            </a:endParaRPr>
          </a:p>
          <a:p>
            <a:pPr marL="263525" indent="-84138"/>
            <a:r>
              <a:rPr lang="zh-TW" altLang="en-US" dirty="0">
                <a:latin typeface="微軟正黑體" panose="020B0604030504040204" pitchFamily="34" charset="-120"/>
                <a:ea typeface="微軟正黑體" panose="020B0604030504040204" pitchFamily="34" charset="-120"/>
              </a:rPr>
              <a:t>第三欄位儲存顧客喜好； </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該資料結構產品經電腦執行後</a:t>
            </a:r>
            <a:r>
              <a:rPr lang="zh-TW" altLang="en-US" u="sng" dirty="0">
                <a:latin typeface="微軟正黑體" panose="020B0604030504040204" pitchFamily="34" charset="-120"/>
                <a:ea typeface="微軟正黑體" panose="020B0604030504040204" pitchFamily="34" charset="-120"/>
              </a:rPr>
              <a:t>讀取</a:t>
            </a:r>
            <a:r>
              <a:rPr lang="zh-TW" altLang="en-US" dirty="0">
                <a:latin typeface="微軟正黑體" panose="020B0604030504040204" pitchFamily="34" charset="-120"/>
                <a:ea typeface="微軟正黑體" panose="020B0604030504040204" pitchFamily="34" charset="-120"/>
              </a:rPr>
              <a:t>上述檔案，並將該些欄位內容</a:t>
            </a:r>
            <a:r>
              <a:rPr lang="zh-TW" altLang="en-US" u="sng" dirty="0">
                <a:latin typeface="微軟正黑體" panose="020B0604030504040204" pitchFamily="34" charset="-120"/>
                <a:ea typeface="微軟正黑體" panose="020B0604030504040204" pitchFamily="34" charset="-120"/>
              </a:rPr>
              <a:t>顯示</a:t>
            </a:r>
            <a:r>
              <a:rPr lang="zh-TW" altLang="en-US" dirty="0">
                <a:latin typeface="微軟正黑體" panose="020B0604030504040204" pitchFamily="34" charset="-120"/>
                <a:ea typeface="微軟正黑體" panose="020B0604030504040204" pitchFamily="34" charset="-120"/>
              </a:rPr>
              <a:t>於一顯示裝置。 </a:t>
            </a:r>
          </a:p>
        </p:txBody>
      </p:sp>
      <p:sp>
        <p:nvSpPr>
          <p:cNvPr id="42" name="矩形: 圓角 41">
            <a:extLst>
              <a:ext uri="{FF2B5EF4-FFF2-40B4-BE49-F238E27FC236}">
                <a16:creationId xmlns:a16="http://schemas.microsoft.com/office/drawing/2014/main" id="{3C1C36A4-2E39-4B2E-92FA-38D1A5499E8B}"/>
              </a:ext>
            </a:extLst>
          </p:cNvPr>
          <p:cNvSpPr/>
          <p:nvPr/>
        </p:nvSpPr>
        <p:spPr>
          <a:xfrm>
            <a:off x="395536" y="956882"/>
            <a:ext cx="2126672" cy="440793"/>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未記載資訊處理</a:t>
            </a:r>
          </a:p>
        </p:txBody>
      </p:sp>
      <p:sp>
        <p:nvSpPr>
          <p:cNvPr id="43" name="文字方塊 42">
            <a:extLst>
              <a:ext uri="{FF2B5EF4-FFF2-40B4-BE49-F238E27FC236}">
                <a16:creationId xmlns:a16="http://schemas.microsoft.com/office/drawing/2014/main" id="{AFECA1CE-2791-46B6-8DB2-3B95C299D8CA}"/>
              </a:ext>
            </a:extLst>
          </p:cNvPr>
          <p:cNvSpPr txBox="1"/>
          <p:nvPr/>
        </p:nvSpPr>
        <p:spPr>
          <a:xfrm>
            <a:off x="395536" y="4266542"/>
            <a:ext cx="8136904" cy="2003617"/>
          </a:xfrm>
          <a:prstGeom prst="rect">
            <a:avLst/>
          </a:prstGeom>
          <a:ln/>
        </p:spPr>
        <p:style>
          <a:lnRef idx="2">
            <a:schemeClr val="dk1"/>
          </a:lnRef>
          <a:fillRef idx="1">
            <a:schemeClr val="lt1"/>
          </a:fillRef>
          <a:effectRef idx="0">
            <a:schemeClr val="dk1"/>
          </a:effectRef>
          <a:fontRef idx="minor">
            <a:schemeClr val="dk1"/>
          </a:fontRef>
        </p:style>
        <p:txBody>
          <a:bodyPr wrap="square">
            <a:noAutofit/>
          </a:bodyPr>
          <a:lstStyle/>
          <a:p>
            <a:r>
              <a:rPr lang="en-US" altLang="zh-TW" dirty="0"/>
              <a:t>〔</a:t>
            </a:r>
            <a:r>
              <a:rPr lang="zh-TW" altLang="en-US" dirty="0"/>
              <a:t>請求項</a:t>
            </a:r>
            <a:r>
              <a:rPr lang="en-US" altLang="zh-TW" dirty="0"/>
              <a:t>〕 </a:t>
            </a:r>
          </a:p>
          <a:p>
            <a:r>
              <a:rPr lang="zh-TW" altLang="en-US" dirty="0"/>
              <a:t>一種用於文書處理之電腦系統，包含： </a:t>
            </a:r>
            <a:endParaRPr lang="en-US" altLang="zh-TW" dirty="0"/>
          </a:p>
          <a:p>
            <a:r>
              <a:rPr lang="zh-TW" altLang="en-US" dirty="0"/>
              <a:t>一輸入單元，用於輸入一文本資料； </a:t>
            </a:r>
            <a:endParaRPr lang="en-US" altLang="zh-TW" dirty="0"/>
          </a:p>
          <a:p>
            <a:r>
              <a:rPr lang="zh-TW" altLang="en-US" dirty="0"/>
              <a:t>一處理單元，用於對該文本資料進行</a:t>
            </a:r>
            <a:r>
              <a:rPr lang="zh-TW" altLang="en-US" u="sng" dirty="0"/>
              <a:t>處理</a:t>
            </a:r>
            <a:r>
              <a:rPr lang="zh-TW" altLang="en-US" dirty="0"/>
              <a:t>以產生摘要； </a:t>
            </a:r>
            <a:endParaRPr lang="en-US" altLang="zh-TW"/>
          </a:p>
          <a:p>
            <a:r>
              <a:rPr lang="zh-TW" altLang="en-US"/>
              <a:t>一</a:t>
            </a:r>
            <a:r>
              <a:rPr lang="zh-TW" altLang="en-US" dirty="0"/>
              <a:t>顯示單元，用於顯示該摘要。 </a:t>
            </a:r>
          </a:p>
        </p:txBody>
      </p:sp>
      <p:sp>
        <p:nvSpPr>
          <p:cNvPr id="44" name="矩形: 圓角 43">
            <a:extLst>
              <a:ext uri="{FF2B5EF4-FFF2-40B4-BE49-F238E27FC236}">
                <a16:creationId xmlns:a16="http://schemas.microsoft.com/office/drawing/2014/main" id="{61404FD6-1E8D-430A-8C50-4BDFF1B58842}"/>
              </a:ext>
            </a:extLst>
          </p:cNvPr>
          <p:cNvSpPr/>
          <p:nvPr/>
        </p:nvSpPr>
        <p:spPr>
          <a:xfrm>
            <a:off x="417490" y="3836232"/>
            <a:ext cx="2550356" cy="440793"/>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未記載如何資訊處理</a:t>
            </a:r>
          </a:p>
        </p:txBody>
      </p:sp>
    </p:spTree>
    <p:extLst>
      <p:ext uri="{BB962C8B-B14F-4D97-AF65-F5344CB8AC3E}">
        <p14:creationId xmlns:p14="http://schemas.microsoft.com/office/powerpoint/2010/main" val="37970494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BFE2EC-8B4C-4E4A-A6D7-D5CF0B1E8C1B}"/>
              </a:ext>
            </a:extLst>
          </p:cNvPr>
          <p:cNvSpPr>
            <a:spLocks noGrp="1"/>
          </p:cNvSpPr>
          <p:nvPr>
            <p:ph type="title"/>
          </p:nvPr>
        </p:nvSpPr>
        <p:spPr/>
        <p:txBody>
          <a:bodyPr/>
          <a:lstStyle/>
          <a:p>
            <a:r>
              <a:rPr lang="zh-TW" altLang="en-US" dirty="0"/>
              <a:t>電腦軟體發明定義</a:t>
            </a:r>
          </a:p>
        </p:txBody>
      </p:sp>
      <p:sp>
        <p:nvSpPr>
          <p:cNvPr id="4" name="投影片編號版面配置區 3">
            <a:extLst>
              <a:ext uri="{FF2B5EF4-FFF2-40B4-BE49-F238E27FC236}">
                <a16:creationId xmlns:a16="http://schemas.microsoft.com/office/drawing/2014/main" id="{4052FF59-AA8D-47FB-8C32-593E8B4255BB}"/>
              </a:ext>
            </a:extLst>
          </p:cNvPr>
          <p:cNvSpPr>
            <a:spLocks noGrp="1"/>
          </p:cNvSpPr>
          <p:nvPr>
            <p:ph type="sldNum" sz="quarter" idx="12"/>
          </p:nvPr>
        </p:nvSpPr>
        <p:spPr/>
        <p:txBody>
          <a:bodyPr/>
          <a:lstStyle/>
          <a:p>
            <a:fld id="{51D2D507-09EA-4C6F-96ED-053C801F8797}" type="slidenum">
              <a:rPr lang="zh-TW" altLang="en-US" smtClean="0"/>
              <a:t>40</a:t>
            </a:fld>
            <a:endParaRPr lang="zh-TW" altLang="en-US"/>
          </a:p>
        </p:txBody>
      </p:sp>
      <p:sp>
        <p:nvSpPr>
          <p:cNvPr id="5" name="文字方塊 4">
            <a:extLst>
              <a:ext uri="{FF2B5EF4-FFF2-40B4-BE49-F238E27FC236}">
                <a16:creationId xmlns:a16="http://schemas.microsoft.com/office/drawing/2014/main" id="{5AA0CA41-003A-44DB-BFF1-6784FE6837BC}"/>
              </a:ext>
            </a:extLst>
          </p:cNvPr>
          <p:cNvSpPr txBox="1"/>
          <p:nvPr/>
        </p:nvSpPr>
        <p:spPr>
          <a:xfrm>
            <a:off x="395536" y="792188"/>
            <a:ext cx="4787730" cy="3016210"/>
          </a:xfrm>
          <a:prstGeom prst="rect">
            <a:avLst/>
          </a:prstGeom>
          <a:noFill/>
        </p:spPr>
        <p:txBody>
          <a:bodyPr wrap="square">
            <a:spAutoFit/>
          </a:bodyPr>
          <a:lstStyle/>
          <a:p>
            <a:r>
              <a:rPr lang="zh-TW" altLang="en-US" sz="2000" b="1" u="sng" dirty="0">
                <a:latin typeface="微軟正黑體" panose="020B0604030504040204" pitchFamily="34" charset="-120"/>
                <a:ea typeface="微軟正黑體" panose="020B0604030504040204" pitchFamily="34" charset="-120"/>
              </a:rPr>
              <a:t>處理架構</a:t>
            </a:r>
            <a:endParaRPr lang="en-US" altLang="zh-TW" sz="2000" b="1" u="sng" dirty="0">
              <a:latin typeface="微軟正黑體" panose="020B0604030504040204" pitchFamily="34" charset="-120"/>
              <a:ea typeface="微軟正黑體" panose="020B0604030504040204" pitchFamily="34" charset="-120"/>
            </a:endParaRPr>
          </a:p>
          <a:p>
            <a:endParaRPr lang="zh-TW" altLang="en-US" sz="1000" b="1" u="sng" dirty="0">
              <a:latin typeface="微軟正黑體" panose="020B0604030504040204" pitchFamily="34" charset="-120"/>
              <a:ea typeface="微軟正黑體" panose="020B0604030504040204" pitchFamily="34" charset="-120"/>
            </a:endParaRPr>
          </a:p>
          <a:p>
            <a:pPr marL="539750" indent="-276225">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一定要有</a:t>
            </a:r>
            <a:r>
              <a:rPr lang="zh-TW" altLang="en-US" sz="2000" u="sng" dirty="0">
                <a:latin typeface="微軟正黑體" panose="020B0604030504040204" pitchFamily="34" charset="-120"/>
                <a:ea typeface="微軟正黑體" panose="020B0604030504040204" pitchFamily="34" charset="-120"/>
              </a:rPr>
              <a:t>軟硬體協同共同完成</a:t>
            </a:r>
            <a:r>
              <a:rPr lang="zh-TW" altLang="en-US" sz="2000" dirty="0">
                <a:latin typeface="微軟正黑體" panose="020B0604030504040204" pitchFamily="34" charset="-120"/>
                <a:ea typeface="微軟正黑體" panose="020B0604030504040204" pitchFamily="34" charset="-120"/>
              </a:rPr>
              <a:t>符合資訊處理目的</a:t>
            </a:r>
          </a:p>
          <a:p>
            <a:pPr marL="539750" indent="-276225">
              <a:buFont typeface="Arial" panose="020B0604020202020204" pitchFamily="34" charset="0"/>
              <a:buChar char="•"/>
            </a:pPr>
            <a:r>
              <a:rPr lang="zh-TW" altLang="en-US" sz="2000" u="sng" dirty="0">
                <a:latin typeface="微軟正黑體" panose="020B0604030504040204" pitchFamily="34" charset="-120"/>
                <a:ea typeface="微軟正黑體" panose="020B0604030504040204" pitchFamily="34" charset="-120"/>
              </a:rPr>
              <a:t>資料</a:t>
            </a:r>
            <a:r>
              <a:rPr lang="zh-TW" altLang="en-US" sz="2000" dirty="0">
                <a:latin typeface="微軟正黑體" panose="020B0604030504040204" pitchFamily="34" charset="-120"/>
                <a:ea typeface="微軟正黑體" panose="020B0604030504040204" pitchFamily="34" charset="-120"/>
              </a:rPr>
              <a:t>在各個技術元件或裝置、模組中流動、處理，而</a:t>
            </a:r>
            <a:r>
              <a:rPr lang="zh-TW" altLang="en-US" sz="2000" u="sng" dirty="0">
                <a:latin typeface="微軟正黑體" panose="020B0604030504040204" pitchFamily="34" charset="-120"/>
                <a:ea typeface="微軟正黑體" panose="020B0604030504040204" pitchFamily="34" charset="-120"/>
              </a:rPr>
              <a:t>建構出資訊處理裝置或系統</a:t>
            </a:r>
          </a:p>
          <a:p>
            <a:pPr marL="539750" indent="-276225">
              <a:buFont typeface="Arial" panose="020B0604020202020204" pitchFamily="34" charset="0"/>
              <a:buChar char="•"/>
            </a:pPr>
            <a:r>
              <a:rPr lang="zh-TW" altLang="en-US" sz="2000" u="sng" dirty="0">
                <a:latin typeface="微軟正黑體" panose="020B0604030504040204" pitchFamily="34" charset="-120"/>
                <a:ea typeface="微軟正黑體" panose="020B0604030504040204" pitchFamily="34" charset="-120"/>
              </a:rPr>
              <a:t>步驟、方法</a:t>
            </a:r>
            <a:r>
              <a:rPr lang="zh-TW" altLang="en-US" sz="2000" dirty="0">
                <a:latin typeface="微軟正黑體" panose="020B0604030504040204" pitchFamily="34" charset="-120"/>
                <a:ea typeface="微軟正黑體" panose="020B0604030504040204" pitchFamily="34" charset="-120"/>
              </a:rPr>
              <a:t>在各個技術元件或裝置、模組中被執行，而</a:t>
            </a:r>
            <a:r>
              <a:rPr lang="zh-TW" altLang="en-US" sz="2000" u="sng" dirty="0">
                <a:latin typeface="微軟正黑體" panose="020B0604030504040204" pitchFamily="34" charset="-120"/>
                <a:ea typeface="微軟正黑體" panose="020B0604030504040204" pitchFamily="34" charset="-120"/>
              </a:rPr>
              <a:t>建構出資訊處理裝置或系統</a:t>
            </a:r>
            <a:endParaRPr lang="en-US" altLang="zh-TW" sz="2000" u="sng" dirty="0">
              <a:latin typeface="微軟正黑體" panose="020B0604030504040204" pitchFamily="34" charset="-120"/>
              <a:ea typeface="微軟正黑體" panose="020B0604030504040204" pitchFamily="34" charset="-120"/>
            </a:endParaRPr>
          </a:p>
        </p:txBody>
      </p:sp>
      <p:grpSp>
        <p:nvGrpSpPr>
          <p:cNvPr id="17" name="群組 16">
            <a:extLst>
              <a:ext uri="{FF2B5EF4-FFF2-40B4-BE49-F238E27FC236}">
                <a16:creationId xmlns:a16="http://schemas.microsoft.com/office/drawing/2014/main" id="{32276028-2AED-4EC5-A6E6-9AE8A6B136E8}"/>
              </a:ext>
            </a:extLst>
          </p:cNvPr>
          <p:cNvGrpSpPr/>
          <p:nvPr/>
        </p:nvGrpSpPr>
        <p:grpSpPr>
          <a:xfrm>
            <a:off x="5292080" y="1111021"/>
            <a:ext cx="3787029" cy="1994100"/>
            <a:chOff x="418331" y="3438922"/>
            <a:chExt cx="3787029" cy="1994100"/>
          </a:xfrm>
        </p:grpSpPr>
        <p:sp>
          <p:nvSpPr>
            <p:cNvPr id="6" name="矩形: 圓角 5">
              <a:extLst>
                <a:ext uri="{FF2B5EF4-FFF2-40B4-BE49-F238E27FC236}">
                  <a16:creationId xmlns:a16="http://schemas.microsoft.com/office/drawing/2014/main" id="{5AD13B73-9836-49EB-A8E2-F3567BD45F75}"/>
                </a:ext>
              </a:extLst>
            </p:cNvPr>
            <p:cNvSpPr/>
            <p:nvPr/>
          </p:nvSpPr>
          <p:spPr>
            <a:xfrm>
              <a:off x="1442296" y="3781426"/>
              <a:ext cx="1095828" cy="440793"/>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伺服器</a:t>
              </a:r>
            </a:p>
          </p:txBody>
        </p:sp>
        <p:sp>
          <p:nvSpPr>
            <p:cNvPr id="7" name="矩形: 圓角 6">
              <a:extLst>
                <a:ext uri="{FF2B5EF4-FFF2-40B4-BE49-F238E27FC236}">
                  <a16:creationId xmlns:a16="http://schemas.microsoft.com/office/drawing/2014/main" id="{CE104F08-26F1-4766-B3E4-949FEEB6A64A}"/>
                </a:ext>
              </a:extLst>
            </p:cNvPr>
            <p:cNvSpPr/>
            <p:nvPr/>
          </p:nvSpPr>
          <p:spPr>
            <a:xfrm>
              <a:off x="3109531" y="4222219"/>
              <a:ext cx="1095829" cy="44079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600" dirty="0">
                  <a:latin typeface="微軟正黑體" panose="020B0604030504040204" pitchFamily="34" charset="-120"/>
                  <a:ea typeface="微軟正黑體" panose="020B0604030504040204" pitchFamily="34" charset="-120"/>
                </a:rPr>
                <a:t>儲存裝置</a:t>
              </a:r>
            </a:p>
          </p:txBody>
        </p:sp>
        <p:sp>
          <p:nvSpPr>
            <p:cNvPr id="8" name="箭號: 向右 7">
              <a:extLst>
                <a:ext uri="{FF2B5EF4-FFF2-40B4-BE49-F238E27FC236}">
                  <a16:creationId xmlns:a16="http://schemas.microsoft.com/office/drawing/2014/main" id="{1AFCB6B4-170A-4380-B96C-16DE55DA8137}"/>
                </a:ext>
              </a:extLst>
            </p:cNvPr>
            <p:cNvSpPr/>
            <p:nvPr/>
          </p:nvSpPr>
          <p:spPr>
            <a:xfrm>
              <a:off x="418331" y="3737587"/>
              <a:ext cx="941761" cy="4846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點數</a:t>
              </a:r>
            </a:p>
          </p:txBody>
        </p:sp>
        <p:sp>
          <p:nvSpPr>
            <p:cNvPr id="9" name="箭號: 彎曲 8">
              <a:extLst>
                <a:ext uri="{FF2B5EF4-FFF2-40B4-BE49-F238E27FC236}">
                  <a16:creationId xmlns:a16="http://schemas.microsoft.com/office/drawing/2014/main" id="{AC9C7419-04C5-45A7-B375-1B5D3E59BAD8}"/>
                </a:ext>
              </a:extLst>
            </p:cNvPr>
            <p:cNvSpPr/>
            <p:nvPr/>
          </p:nvSpPr>
          <p:spPr>
            <a:xfrm rot="5400000">
              <a:off x="2887760" y="3452533"/>
              <a:ext cx="484632" cy="1054740"/>
            </a:xfrm>
            <a:prstGeom prst="bentArrow">
              <a:avLst>
                <a:gd name="adj1" fmla="val 29036"/>
                <a:gd name="adj2" fmla="val 25000"/>
                <a:gd name="adj3" fmla="val 25000"/>
                <a:gd name="adj4" fmla="val 4375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0" name="箭號: 彎曲 9">
              <a:extLst>
                <a:ext uri="{FF2B5EF4-FFF2-40B4-BE49-F238E27FC236}">
                  <a16:creationId xmlns:a16="http://schemas.microsoft.com/office/drawing/2014/main" id="{76BD27CD-9593-4B20-8863-B215C51218DC}"/>
                </a:ext>
              </a:extLst>
            </p:cNvPr>
            <p:cNvSpPr/>
            <p:nvPr/>
          </p:nvSpPr>
          <p:spPr>
            <a:xfrm rot="5400000" flipH="1" flipV="1">
              <a:off x="2275263" y="3915246"/>
              <a:ext cx="484632" cy="1054740"/>
            </a:xfrm>
            <a:prstGeom prst="bentArrow">
              <a:avLst>
                <a:gd name="adj1" fmla="val 29036"/>
                <a:gd name="adj2" fmla="val 25000"/>
                <a:gd name="adj3" fmla="val 25000"/>
                <a:gd name="adj4" fmla="val 4375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1" name="文字方塊 10">
              <a:extLst>
                <a:ext uri="{FF2B5EF4-FFF2-40B4-BE49-F238E27FC236}">
                  <a16:creationId xmlns:a16="http://schemas.microsoft.com/office/drawing/2014/main" id="{579AAB13-20AF-4055-A56A-112DFD31E57F}"/>
                </a:ext>
              </a:extLst>
            </p:cNvPr>
            <p:cNvSpPr txBox="1"/>
            <p:nvPr/>
          </p:nvSpPr>
          <p:spPr>
            <a:xfrm>
              <a:off x="2602706" y="3438922"/>
              <a:ext cx="1107996" cy="369332"/>
            </a:xfrm>
            <a:prstGeom prst="rect">
              <a:avLst/>
            </a:prstGeom>
            <a:noFill/>
          </p:spPr>
          <p:txBody>
            <a:bodyPr wrap="none" rtlCol="0">
              <a:spAutoFit/>
            </a:bodyPr>
            <a:lstStyle/>
            <a:p>
              <a:pPr algn="l"/>
              <a:r>
                <a:rPr lang="zh-TW" altLang="en-US" dirty="0">
                  <a:latin typeface="微軟正黑體" panose="020B0604030504040204" pitchFamily="34" charset="-120"/>
                  <a:ea typeface="微軟正黑體" panose="020B0604030504040204" pitchFamily="34" charset="-120"/>
                </a:rPr>
                <a:t>點數贈與</a:t>
              </a:r>
            </a:p>
          </p:txBody>
        </p:sp>
        <p:sp>
          <p:nvSpPr>
            <p:cNvPr id="12" name="文字方塊 11">
              <a:extLst>
                <a:ext uri="{FF2B5EF4-FFF2-40B4-BE49-F238E27FC236}">
                  <a16:creationId xmlns:a16="http://schemas.microsoft.com/office/drawing/2014/main" id="{BBE87C8A-E8E9-4C4A-BAA7-46A24DE969F8}"/>
                </a:ext>
              </a:extLst>
            </p:cNvPr>
            <p:cNvSpPr txBox="1"/>
            <p:nvPr/>
          </p:nvSpPr>
          <p:spPr>
            <a:xfrm>
              <a:off x="2084013" y="4649725"/>
              <a:ext cx="1107996" cy="369332"/>
            </a:xfrm>
            <a:prstGeom prst="rect">
              <a:avLst/>
            </a:prstGeom>
            <a:noFill/>
          </p:spPr>
          <p:txBody>
            <a:bodyPr wrap="none" rtlCol="0">
              <a:spAutoFit/>
            </a:bodyPr>
            <a:lstStyle/>
            <a:p>
              <a:pPr algn="l"/>
              <a:r>
                <a:rPr lang="zh-TW" altLang="en-US" dirty="0">
                  <a:latin typeface="微軟正黑體" panose="020B0604030504040204" pitchFamily="34" charset="-120"/>
                  <a:ea typeface="微軟正黑體" panose="020B0604030504040204" pitchFamily="34" charset="-120"/>
                </a:rPr>
                <a:t>電子郵件</a:t>
              </a:r>
            </a:p>
          </p:txBody>
        </p:sp>
        <p:sp>
          <p:nvSpPr>
            <p:cNvPr id="13" name="箭號: 向下 12">
              <a:extLst>
                <a:ext uri="{FF2B5EF4-FFF2-40B4-BE49-F238E27FC236}">
                  <a16:creationId xmlns:a16="http://schemas.microsoft.com/office/drawing/2014/main" id="{BD9EEBCA-4280-4129-8AE6-B5AF49F97FF6}"/>
                </a:ext>
              </a:extLst>
            </p:cNvPr>
            <p:cNvSpPr/>
            <p:nvPr/>
          </p:nvSpPr>
          <p:spPr>
            <a:xfrm>
              <a:off x="1392281" y="4292352"/>
              <a:ext cx="484632" cy="726705"/>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17338B40-2B8D-4968-9669-EA3D9E89834B}"/>
                </a:ext>
              </a:extLst>
            </p:cNvPr>
            <p:cNvSpPr txBox="1"/>
            <p:nvPr/>
          </p:nvSpPr>
          <p:spPr>
            <a:xfrm>
              <a:off x="965183" y="5063690"/>
              <a:ext cx="1338828" cy="369332"/>
            </a:xfrm>
            <a:prstGeom prst="rect">
              <a:avLst/>
            </a:prstGeom>
            <a:noFill/>
          </p:spPr>
          <p:txBody>
            <a:bodyPr wrap="none" rtlCol="0">
              <a:spAutoFit/>
            </a:bodyPr>
            <a:lstStyle/>
            <a:p>
              <a:pPr algn="l"/>
              <a:r>
                <a:rPr lang="zh-TW" altLang="en-US" dirty="0">
                  <a:latin typeface="微軟正黑體" panose="020B0604030504040204" pitchFamily="34" charset="-120"/>
                  <a:ea typeface="微軟正黑體" panose="020B0604030504040204" pitchFamily="34" charset="-120"/>
                </a:rPr>
                <a:t>通知受贈者</a:t>
              </a:r>
            </a:p>
          </p:txBody>
        </p:sp>
      </p:grpSp>
      <p:sp>
        <p:nvSpPr>
          <p:cNvPr id="15" name="文字方塊 14">
            <a:extLst>
              <a:ext uri="{FF2B5EF4-FFF2-40B4-BE49-F238E27FC236}">
                <a16:creationId xmlns:a16="http://schemas.microsoft.com/office/drawing/2014/main" id="{0B080897-240F-4B93-96E9-0DD96FC6309A}"/>
              </a:ext>
            </a:extLst>
          </p:cNvPr>
          <p:cNvSpPr txBox="1"/>
          <p:nvPr/>
        </p:nvSpPr>
        <p:spPr>
          <a:xfrm>
            <a:off x="395536" y="4301375"/>
            <a:ext cx="8373616" cy="2295977"/>
          </a:xfrm>
          <a:prstGeom prst="rect">
            <a:avLst/>
          </a:prstGeom>
          <a:ln/>
        </p:spPr>
        <p:style>
          <a:lnRef idx="2">
            <a:schemeClr val="dk1"/>
          </a:lnRef>
          <a:fillRef idx="1">
            <a:schemeClr val="lt1"/>
          </a:fillRef>
          <a:effectRef idx="0">
            <a:schemeClr val="dk1"/>
          </a:effectRef>
          <a:fontRef idx="minor">
            <a:schemeClr val="dk1"/>
          </a:fontRef>
        </p:style>
        <p:txBody>
          <a:bodyPr wrap="square">
            <a:noAutofit/>
          </a:bodyPr>
          <a:lstStyle/>
          <a:p>
            <a:r>
              <a:rPr lang="zh-TW" altLang="en-US" dirty="0">
                <a:latin typeface="微軟正黑體" panose="020B0604030504040204" pitchFamily="34" charset="-120"/>
                <a:ea typeface="微軟正黑體" panose="020B0604030504040204" pitchFamily="34" charset="-120"/>
              </a:rPr>
              <a:t>一種點數服務方法，係依據顧客在網路商店上所購買之商品金額提供點數，該方法包含下列步驟：</a:t>
            </a:r>
          </a:p>
          <a:p>
            <a:r>
              <a:rPr lang="zh-TW" altLang="en-US" dirty="0">
                <a:latin typeface="微軟正黑體" panose="020B0604030504040204" pitchFamily="34" charset="-120"/>
                <a:ea typeface="微軟正黑體" panose="020B0604030504040204" pitchFamily="34" charset="-120"/>
              </a:rPr>
              <a:t>    藉由</a:t>
            </a:r>
            <a:r>
              <a:rPr lang="zh-TW" altLang="en-US" u="sng" dirty="0">
                <a:latin typeface="微軟正黑體" panose="020B0604030504040204" pitchFamily="34" charset="-120"/>
                <a:ea typeface="微軟正黑體" panose="020B0604030504040204" pitchFamily="34" charset="-120"/>
              </a:rPr>
              <a:t>網路</a:t>
            </a:r>
            <a:r>
              <a:rPr lang="zh-TW" altLang="en-US" dirty="0">
                <a:latin typeface="微軟正黑體" panose="020B0604030504040204" pitchFamily="34" charset="-120"/>
                <a:ea typeface="微軟正黑體" panose="020B0604030504040204" pitchFamily="34" charset="-120"/>
              </a:rPr>
              <a:t>將贈予之點數值及受贈人姓名</a:t>
            </a:r>
            <a:r>
              <a:rPr lang="zh-TW" altLang="en-US" u="sng" dirty="0">
                <a:latin typeface="微軟正黑體" panose="020B0604030504040204" pitchFamily="34" charset="-120"/>
                <a:ea typeface="微軟正黑體" panose="020B0604030504040204" pitchFamily="34" charset="-120"/>
              </a:rPr>
              <a:t>輸入</a:t>
            </a:r>
            <a:r>
              <a:rPr lang="zh-TW" altLang="en-US" dirty="0">
                <a:latin typeface="微軟正黑體" panose="020B0604030504040204" pitchFamily="34" charset="-120"/>
                <a:ea typeface="微軟正黑體" panose="020B0604030504040204" pitchFamily="34" charset="-120"/>
              </a:rPr>
              <a:t>至一</a:t>
            </a:r>
            <a:r>
              <a:rPr lang="zh-TW" altLang="en-US" u="sng" dirty="0">
                <a:latin typeface="微軟正黑體" panose="020B0604030504040204" pitchFamily="34" charset="-120"/>
                <a:ea typeface="微軟正黑體" panose="020B0604030504040204" pitchFamily="34" charset="-120"/>
              </a:rPr>
              <a:t>伺服器</a:t>
            </a:r>
            <a:r>
              <a:rPr lang="zh-TW" altLang="en-US" dirty="0">
                <a:latin typeface="微軟正黑體" panose="020B0604030504040204" pitchFamily="34" charset="-120"/>
                <a:ea typeface="微軟正黑體" panose="020B0604030504040204" pitchFamily="34" charset="-120"/>
              </a:rPr>
              <a:t>；</a:t>
            </a:r>
          </a:p>
          <a:p>
            <a:r>
              <a:rPr lang="zh-TW" altLang="en-US" dirty="0">
                <a:latin typeface="微軟正黑體" panose="020B0604030504040204" pitchFamily="34" charset="-120"/>
                <a:ea typeface="微軟正黑體" panose="020B0604030504040204" pitchFamily="34" charset="-120"/>
              </a:rPr>
              <a:t>    該</a:t>
            </a:r>
            <a:r>
              <a:rPr lang="zh-TW" altLang="en-US" u="sng" dirty="0">
                <a:latin typeface="微軟正黑體" panose="020B0604030504040204" pitchFamily="34" charset="-120"/>
                <a:ea typeface="微軟正黑體" panose="020B0604030504040204" pitchFamily="34" charset="-120"/>
              </a:rPr>
              <a:t>伺服器</a:t>
            </a:r>
            <a:r>
              <a:rPr lang="zh-TW" altLang="en-US" dirty="0">
                <a:latin typeface="微軟正黑體" panose="020B0604030504040204" pitchFamily="34" charset="-120"/>
                <a:ea typeface="微軟正黑體" panose="020B0604030504040204" pitchFamily="34" charset="-120"/>
              </a:rPr>
              <a:t>依該受贈人姓名自一顧客清單</a:t>
            </a:r>
            <a:r>
              <a:rPr lang="zh-TW" altLang="en-US" u="sng" dirty="0">
                <a:latin typeface="微軟正黑體" panose="020B0604030504040204" pitchFamily="34" charset="-120"/>
                <a:ea typeface="微軟正黑體" panose="020B0604030504040204" pitchFamily="34" charset="-120"/>
              </a:rPr>
              <a:t>儲存裝置中取得</a:t>
            </a:r>
            <a:r>
              <a:rPr lang="zh-TW" altLang="en-US" dirty="0">
                <a:latin typeface="微軟正黑體" panose="020B0604030504040204" pitchFamily="34" charset="-120"/>
                <a:ea typeface="微軟正黑體" panose="020B0604030504040204" pitchFamily="34" charset="-120"/>
              </a:rPr>
              <a:t>該受贈人之電子郵件位址；</a:t>
            </a:r>
          </a:p>
          <a:p>
            <a:r>
              <a:rPr lang="zh-TW" altLang="en-US" dirty="0">
                <a:latin typeface="微軟正黑體" panose="020B0604030504040204" pitchFamily="34" charset="-120"/>
                <a:ea typeface="微軟正黑體" panose="020B0604030504040204" pitchFamily="34" charset="-120"/>
              </a:rPr>
              <a:t>    該</a:t>
            </a:r>
            <a:r>
              <a:rPr lang="zh-TW" altLang="en-US" u="sng" dirty="0">
                <a:latin typeface="微軟正黑體" panose="020B0604030504040204" pitchFamily="34" charset="-120"/>
                <a:ea typeface="微軟正黑體" panose="020B0604030504040204" pitchFamily="34" charset="-120"/>
              </a:rPr>
              <a:t>伺服器</a:t>
            </a:r>
            <a:r>
              <a:rPr lang="zh-TW" altLang="en-US" dirty="0">
                <a:latin typeface="微軟正黑體" panose="020B0604030504040204" pitchFamily="34" charset="-120"/>
                <a:ea typeface="微軟正黑體" panose="020B0604030504040204" pitchFamily="34" charset="-120"/>
              </a:rPr>
              <a:t>將該點數值累計至</a:t>
            </a:r>
            <a:r>
              <a:rPr lang="zh-TW" altLang="en-US" u="sng" dirty="0">
                <a:latin typeface="微軟正黑體" panose="020B0604030504040204" pitchFamily="34" charset="-120"/>
                <a:ea typeface="微軟正黑體" panose="020B0604030504040204" pitchFamily="34" charset="-120"/>
              </a:rPr>
              <a:t>儲存</a:t>
            </a:r>
            <a:r>
              <a:rPr lang="zh-TW" altLang="en-US" dirty="0">
                <a:latin typeface="微軟正黑體" panose="020B0604030504040204" pitchFamily="34" charset="-120"/>
                <a:ea typeface="微軟正黑體" panose="020B0604030504040204" pitchFamily="34" charset="-120"/>
              </a:rPr>
              <a:t>於該顧客清單儲存裝置之該受贈人名下；以及</a:t>
            </a:r>
          </a:p>
          <a:p>
            <a:r>
              <a:rPr lang="zh-TW" altLang="en-US" dirty="0">
                <a:latin typeface="微軟正黑體" panose="020B0604030504040204" pitchFamily="34" charset="-120"/>
                <a:ea typeface="微軟正黑體" panose="020B0604030504040204" pitchFamily="34" charset="-120"/>
              </a:rPr>
              <a:t>    該</a:t>
            </a:r>
            <a:r>
              <a:rPr lang="zh-TW" altLang="en-US" u="sng" dirty="0">
                <a:latin typeface="微軟正黑體" panose="020B0604030504040204" pitchFamily="34" charset="-120"/>
                <a:ea typeface="微軟正黑體" panose="020B0604030504040204" pitchFamily="34" charset="-120"/>
              </a:rPr>
              <a:t>伺服器</a:t>
            </a:r>
            <a:r>
              <a:rPr lang="zh-TW" altLang="en-US" dirty="0">
                <a:latin typeface="微軟正黑體" panose="020B0604030504040204" pitchFamily="34" charset="-120"/>
                <a:ea typeface="微軟正黑體" panose="020B0604030504040204" pitchFamily="34" charset="-120"/>
              </a:rPr>
              <a:t>利用該受贈人之電子郵件位址以</a:t>
            </a:r>
            <a:r>
              <a:rPr lang="zh-TW" altLang="en-US" u="sng" dirty="0">
                <a:latin typeface="微軟正黑體" panose="020B0604030504040204" pitchFamily="34" charset="-120"/>
                <a:ea typeface="微軟正黑體" panose="020B0604030504040204" pitchFamily="34" charset="-120"/>
              </a:rPr>
              <a:t>電子郵件通知</a:t>
            </a:r>
            <a:r>
              <a:rPr lang="zh-TW" altLang="en-US" dirty="0">
                <a:latin typeface="微軟正黑體" panose="020B0604030504040204" pitchFamily="34" charset="-120"/>
                <a:ea typeface="微軟正黑體" panose="020B0604030504040204" pitchFamily="34" charset="-120"/>
              </a:rPr>
              <a:t>該受贈人點數已贈予完成。</a:t>
            </a:r>
          </a:p>
        </p:txBody>
      </p:sp>
      <p:sp>
        <p:nvSpPr>
          <p:cNvPr id="16" name="矩形: 圓角 15">
            <a:extLst>
              <a:ext uri="{FF2B5EF4-FFF2-40B4-BE49-F238E27FC236}">
                <a16:creationId xmlns:a16="http://schemas.microsoft.com/office/drawing/2014/main" id="{DB407CAE-9BF7-43E9-BAA9-4881EB8A8AC0}"/>
              </a:ext>
            </a:extLst>
          </p:cNvPr>
          <p:cNvSpPr/>
          <p:nvPr/>
        </p:nvSpPr>
        <p:spPr>
          <a:xfrm>
            <a:off x="447985" y="3860581"/>
            <a:ext cx="3679043" cy="4407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資料流動建構出資訊處理裝置</a:t>
            </a:r>
          </a:p>
        </p:txBody>
      </p:sp>
    </p:spTree>
    <p:extLst>
      <p:ext uri="{BB962C8B-B14F-4D97-AF65-F5344CB8AC3E}">
        <p14:creationId xmlns:p14="http://schemas.microsoft.com/office/powerpoint/2010/main" val="25084994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39D1C8-9E30-4ADF-8898-1F9012952939}"/>
              </a:ext>
            </a:extLst>
          </p:cNvPr>
          <p:cNvSpPr>
            <a:spLocks noGrp="1"/>
          </p:cNvSpPr>
          <p:nvPr>
            <p:ph type="title"/>
          </p:nvPr>
        </p:nvSpPr>
        <p:spPr/>
        <p:txBody>
          <a:bodyPr/>
          <a:lstStyle/>
          <a:p>
            <a:r>
              <a:rPr lang="zh-TW" altLang="en-US" dirty="0"/>
              <a:t>電腦軟體發明定義</a:t>
            </a:r>
          </a:p>
        </p:txBody>
      </p:sp>
      <p:sp>
        <p:nvSpPr>
          <p:cNvPr id="4" name="投影片編號版面配置區 3">
            <a:extLst>
              <a:ext uri="{FF2B5EF4-FFF2-40B4-BE49-F238E27FC236}">
                <a16:creationId xmlns:a16="http://schemas.microsoft.com/office/drawing/2014/main" id="{BA383A25-F00B-4EE6-AD8A-0FDF8BB16AA1}"/>
              </a:ext>
            </a:extLst>
          </p:cNvPr>
          <p:cNvSpPr>
            <a:spLocks noGrp="1"/>
          </p:cNvSpPr>
          <p:nvPr>
            <p:ph type="sldNum" sz="quarter" idx="12"/>
          </p:nvPr>
        </p:nvSpPr>
        <p:spPr/>
        <p:txBody>
          <a:bodyPr/>
          <a:lstStyle/>
          <a:p>
            <a:fld id="{51D2D507-09EA-4C6F-96ED-053C801F8797}" type="slidenum">
              <a:rPr lang="zh-TW" altLang="en-US" smtClean="0"/>
              <a:t>41</a:t>
            </a:fld>
            <a:endParaRPr lang="zh-TW" altLang="en-US"/>
          </a:p>
        </p:txBody>
      </p:sp>
      <p:sp>
        <p:nvSpPr>
          <p:cNvPr id="5" name="文字方塊 4">
            <a:extLst>
              <a:ext uri="{FF2B5EF4-FFF2-40B4-BE49-F238E27FC236}">
                <a16:creationId xmlns:a16="http://schemas.microsoft.com/office/drawing/2014/main" id="{502BBABC-427F-4E26-B244-2F17280EB30D}"/>
              </a:ext>
            </a:extLst>
          </p:cNvPr>
          <p:cNvSpPr txBox="1"/>
          <p:nvPr/>
        </p:nvSpPr>
        <p:spPr>
          <a:xfrm>
            <a:off x="251519" y="1268760"/>
            <a:ext cx="8373615" cy="1512168"/>
          </a:xfrm>
          <a:prstGeom prst="rect">
            <a:avLst/>
          </a:prstGeom>
          <a:ln/>
        </p:spPr>
        <p:style>
          <a:lnRef idx="2">
            <a:schemeClr val="dk1"/>
          </a:lnRef>
          <a:fillRef idx="1">
            <a:schemeClr val="lt1"/>
          </a:fillRef>
          <a:effectRef idx="0">
            <a:schemeClr val="dk1"/>
          </a:effectRef>
          <a:fontRef idx="minor">
            <a:schemeClr val="dk1"/>
          </a:fontRef>
        </p:style>
        <p:txBody>
          <a:bodyPr wrap="square">
            <a:noAutofit/>
          </a:bodyPr>
          <a:lstStyle/>
          <a:p>
            <a:r>
              <a:rPr lang="zh-TW" altLang="en-US" sz="2000" dirty="0">
                <a:latin typeface="微軟正黑體" panose="020B0604030504040204" pitchFamily="34" charset="-120"/>
                <a:ea typeface="微軟正黑體" panose="020B0604030504040204" pitchFamily="34" charset="-120"/>
              </a:rPr>
              <a:t>一種計算自然數 </a:t>
            </a:r>
            <a:r>
              <a:rPr lang="en-US" altLang="zh-TW" sz="2000" dirty="0">
                <a:latin typeface="微軟正黑體" panose="020B0604030504040204" pitchFamily="34" charset="-120"/>
                <a:ea typeface="微軟正黑體" panose="020B0604030504040204" pitchFamily="34" charset="-120"/>
              </a:rPr>
              <a:t>n </a:t>
            </a:r>
            <a:r>
              <a:rPr lang="zh-TW" altLang="en-US" sz="2000" dirty="0">
                <a:latin typeface="微軟正黑體" panose="020B0604030504040204" pitchFamily="34" charset="-120"/>
                <a:ea typeface="微軟正黑體" panose="020B0604030504040204" pitchFamily="34" charset="-120"/>
              </a:rPr>
              <a:t>至 </a:t>
            </a:r>
            <a:r>
              <a:rPr lang="en-US" altLang="zh-TW" sz="2000" dirty="0" err="1">
                <a:latin typeface="微軟正黑體" panose="020B0604030504040204" pitchFamily="34" charset="-120"/>
                <a:ea typeface="微軟正黑體" panose="020B0604030504040204" pitchFamily="34" charset="-120"/>
              </a:rPr>
              <a:t>n+k</a:t>
            </a:r>
            <a:r>
              <a:rPr lang="en-US" altLang="zh-TW" sz="2000" dirty="0">
                <a:latin typeface="微軟正黑體" panose="020B0604030504040204" pitchFamily="34" charset="-120"/>
                <a:ea typeface="微軟正黑體" panose="020B0604030504040204" pitchFamily="34" charset="-120"/>
              </a:rPr>
              <a:t> </a:t>
            </a:r>
            <a:r>
              <a:rPr lang="zh-TW" altLang="en-US" sz="2000" dirty="0">
                <a:latin typeface="微軟正黑體" panose="020B0604030504040204" pitchFamily="34" charset="-120"/>
                <a:ea typeface="微軟正黑體" panose="020B0604030504040204" pitchFamily="34" charset="-120"/>
              </a:rPr>
              <a:t>之總和的裝置，包含下列構件： </a:t>
            </a:r>
            <a:endParaRPr lang="en-US" altLang="zh-TW" sz="2000" dirty="0">
              <a:latin typeface="微軟正黑體" panose="020B0604030504040204" pitchFamily="34" charset="-120"/>
              <a:ea typeface="微軟正黑體" panose="020B0604030504040204" pitchFamily="34" charset="-120"/>
            </a:endParaRPr>
          </a:p>
          <a:p>
            <a:pPr marL="261938"/>
            <a:r>
              <a:rPr lang="zh-TW" altLang="en-US" sz="2000" dirty="0">
                <a:latin typeface="微軟正黑體" panose="020B0604030504040204" pitchFamily="34" charset="-120"/>
                <a:ea typeface="微軟正黑體" panose="020B0604030504040204" pitchFamily="34" charset="-120"/>
              </a:rPr>
              <a:t>一輸入裝置，接收自然數 </a:t>
            </a:r>
            <a:r>
              <a:rPr lang="en-US" altLang="zh-TW" sz="2000" dirty="0">
                <a:latin typeface="微軟正黑體" panose="020B0604030504040204" pitchFamily="34" charset="-120"/>
                <a:ea typeface="微軟正黑體" panose="020B0604030504040204" pitchFamily="34" charset="-120"/>
              </a:rPr>
              <a:t>n </a:t>
            </a:r>
            <a:r>
              <a:rPr lang="zh-TW" altLang="en-US" sz="2000" dirty="0">
                <a:latin typeface="微軟正黑體" panose="020B0604030504040204" pitchFamily="34" charset="-120"/>
                <a:ea typeface="微軟正黑體" panose="020B0604030504040204" pitchFamily="34" charset="-120"/>
              </a:rPr>
              <a:t>及 </a:t>
            </a:r>
            <a:r>
              <a:rPr lang="en-US" altLang="zh-TW" sz="2000" dirty="0">
                <a:latin typeface="微軟正黑體" panose="020B0604030504040204" pitchFamily="34" charset="-120"/>
                <a:ea typeface="微軟正黑體" panose="020B0604030504040204" pitchFamily="34" charset="-120"/>
              </a:rPr>
              <a:t>k</a:t>
            </a:r>
            <a:r>
              <a:rPr lang="zh-TW" altLang="en-US" sz="2000" dirty="0">
                <a:latin typeface="微軟正黑體" panose="020B0604030504040204" pitchFamily="34" charset="-120"/>
                <a:ea typeface="微軟正黑體" panose="020B0604030504040204" pitchFamily="34" charset="-120"/>
              </a:rPr>
              <a:t>； </a:t>
            </a:r>
            <a:endParaRPr lang="en-US" altLang="zh-TW" sz="2000" dirty="0">
              <a:latin typeface="微軟正黑體" panose="020B0604030504040204" pitchFamily="34" charset="-120"/>
              <a:ea typeface="微軟正黑體" panose="020B0604030504040204" pitchFamily="34" charset="-120"/>
            </a:endParaRPr>
          </a:p>
          <a:p>
            <a:pPr marL="261938"/>
            <a:r>
              <a:rPr lang="zh-TW" altLang="en-US" sz="2000" dirty="0">
                <a:latin typeface="微軟正黑體" panose="020B0604030504040204" pitchFamily="34" charset="-120"/>
                <a:ea typeface="微軟正黑體" panose="020B0604030504040204" pitchFamily="34" charset="-120"/>
              </a:rPr>
              <a:t>一處理器，計算 </a:t>
            </a:r>
            <a:r>
              <a:rPr lang="en-US" altLang="zh-TW" sz="2000" u="sng" dirty="0">
                <a:latin typeface="微軟正黑體" panose="020B0604030504040204" pitchFamily="34" charset="-120"/>
                <a:ea typeface="微軟正黑體" panose="020B0604030504040204" pitchFamily="34" charset="-120"/>
              </a:rPr>
              <a:t>s=(k+1)(2n+k)/2</a:t>
            </a:r>
            <a:r>
              <a:rPr lang="zh-TW" altLang="en-US" sz="2000" dirty="0">
                <a:latin typeface="微軟正黑體" panose="020B0604030504040204" pitchFamily="34" charset="-120"/>
                <a:ea typeface="微軟正黑體" panose="020B0604030504040204" pitchFamily="34" charset="-120"/>
              </a:rPr>
              <a:t>；及 </a:t>
            </a:r>
            <a:endParaRPr lang="en-US" altLang="zh-TW" sz="2000" dirty="0">
              <a:latin typeface="微軟正黑體" panose="020B0604030504040204" pitchFamily="34" charset="-120"/>
              <a:ea typeface="微軟正黑體" panose="020B0604030504040204" pitchFamily="34" charset="-120"/>
            </a:endParaRPr>
          </a:p>
          <a:p>
            <a:pPr marL="261938"/>
            <a:r>
              <a:rPr lang="zh-TW" altLang="en-US" sz="2000" dirty="0">
                <a:latin typeface="微軟正黑體" panose="020B0604030504040204" pitchFamily="34" charset="-120"/>
                <a:ea typeface="微軟正黑體" panose="020B0604030504040204" pitchFamily="34" charset="-120"/>
              </a:rPr>
              <a:t>一輸出裝置，輸出 </a:t>
            </a:r>
            <a:r>
              <a:rPr lang="en-US" altLang="zh-TW" sz="2000" dirty="0">
                <a:latin typeface="微軟正黑體" panose="020B0604030504040204" pitchFamily="34" charset="-120"/>
                <a:ea typeface="微軟正黑體" panose="020B0604030504040204" pitchFamily="34" charset="-120"/>
              </a:rPr>
              <a:t>s</a:t>
            </a:r>
            <a:r>
              <a:rPr lang="zh-TW" altLang="en-US" sz="2000" dirty="0">
                <a:latin typeface="微軟正黑體" panose="020B0604030504040204" pitchFamily="34" charset="-120"/>
                <a:ea typeface="微軟正黑體" panose="020B0604030504040204" pitchFamily="34" charset="-120"/>
              </a:rPr>
              <a:t>。</a:t>
            </a:r>
          </a:p>
        </p:txBody>
      </p:sp>
      <p:sp>
        <p:nvSpPr>
          <p:cNvPr id="6" name="矩形: 圓角 5">
            <a:extLst>
              <a:ext uri="{FF2B5EF4-FFF2-40B4-BE49-F238E27FC236}">
                <a16:creationId xmlns:a16="http://schemas.microsoft.com/office/drawing/2014/main" id="{B59CC7FA-D3BE-46DA-AD59-23146F895DD0}"/>
              </a:ext>
            </a:extLst>
          </p:cNvPr>
          <p:cNvSpPr/>
          <p:nvPr/>
        </p:nvSpPr>
        <p:spPr>
          <a:xfrm>
            <a:off x="251519" y="827967"/>
            <a:ext cx="2126672" cy="440793"/>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沒有軟硬體協同</a:t>
            </a:r>
          </a:p>
        </p:txBody>
      </p:sp>
      <p:sp>
        <p:nvSpPr>
          <p:cNvPr id="7" name="文字方塊 6">
            <a:extLst>
              <a:ext uri="{FF2B5EF4-FFF2-40B4-BE49-F238E27FC236}">
                <a16:creationId xmlns:a16="http://schemas.microsoft.com/office/drawing/2014/main" id="{0EDD0090-FBF4-445A-8A07-6F03C221A78C}"/>
              </a:ext>
            </a:extLst>
          </p:cNvPr>
          <p:cNvSpPr txBox="1"/>
          <p:nvPr/>
        </p:nvSpPr>
        <p:spPr>
          <a:xfrm>
            <a:off x="256455" y="3573016"/>
            <a:ext cx="8373616" cy="2295977"/>
          </a:xfrm>
          <a:prstGeom prst="rect">
            <a:avLst/>
          </a:prstGeom>
          <a:ln/>
        </p:spPr>
        <p:style>
          <a:lnRef idx="2">
            <a:schemeClr val="dk1"/>
          </a:lnRef>
          <a:fillRef idx="1">
            <a:schemeClr val="lt1"/>
          </a:fillRef>
          <a:effectRef idx="0">
            <a:schemeClr val="dk1"/>
          </a:effectRef>
          <a:fontRef idx="minor">
            <a:schemeClr val="dk1"/>
          </a:fontRef>
        </p:style>
        <p:txBody>
          <a:bodyPr wrap="square">
            <a:noAutofit/>
          </a:bodyPr>
          <a:lstStyle/>
          <a:p>
            <a:r>
              <a:rPr lang="zh-TW" altLang="en-US" dirty="0">
                <a:latin typeface="微軟正黑體" panose="020B0604030504040204" pitchFamily="34" charset="-120"/>
                <a:ea typeface="微軟正黑體" panose="020B0604030504040204" pitchFamily="34" charset="-120"/>
              </a:rPr>
              <a:t>一種停車場管理方法，包含下列步驟：</a:t>
            </a:r>
          </a:p>
          <a:p>
            <a:pPr indent="266700"/>
            <a:r>
              <a:rPr lang="zh-TW" altLang="en-US" dirty="0">
                <a:latin typeface="微軟正黑體" panose="020B0604030504040204" pitchFamily="34" charset="-120"/>
                <a:ea typeface="微軟正黑體" panose="020B0604030504040204" pitchFamily="34" charset="-120"/>
              </a:rPr>
              <a:t>一車輛檢測器在一車輛經過停車場的入口時，從該車輛獲得車輛識別資料，並將該車輛識別資料傳送至一管理裝置；</a:t>
            </a:r>
          </a:p>
          <a:p>
            <a:pPr indent="266700"/>
            <a:r>
              <a:rPr lang="zh-TW" altLang="en-US" dirty="0">
                <a:latin typeface="微軟正黑體" panose="020B0604030504040204" pitchFamily="34" charset="-120"/>
                <a:ea typeface="微軟正黑體" panose="020B0604030504040204" pitchFamily="34" charset="-120"/>
              </a:rPr>
              <a:t>該管理裝置依據該車輛識別資料產生與該車輛有關的停車資料，並將該停車資料與該車輛識別資料相關聯地記錄在一停車資料管理單元中；</a:t>
            </a:r>
          </a:p>
          <a:p>
            <a:pPr indent="266700"/>
            <a:r>
              <a:rPr lang="zh-TW" altLang="en-US" dirty="0">
                <a:latin typeface="微軟正黑體" panose="020B0604030504040204" pitchFamily="34" charset="-120"/>
                <a:ea typeface="微軟正黑體" panose="020B0604030504040204" pitchFamily="34" charset="-120"/>
              </a:rPr>
              <a:t>該管理裝置將記錄於該停車資料管理單元中的該停車資料傳送至一繳費機；以及</a:t>
            </a:r>
          </a:p>
          <a:p>
            <a:pPr indent="266700"/>
            <a:r>
              <a:rPr lang="zh-TW" altLang="en-US" dirty="0">
                <a:latin typeface="微軟正黑體" panose="020B0604030504040204" pitchFamily="34" charset="-120"/>
                <a:ea typeface="微軟正黑體" panose="020B0604030504040204" pitchFamily="34" charset="-120"/>
              </a:rPr>
              <a:t>該繳費機將該停車資料傳送至使用者的可攜式電子裝置。</a:t>
            </a:r>
          </a:p>
        </p:txBody>
      </p:sp>
      <p:sp>
        <p:nvSpPr>
          <p:cNvPr id="8" name="矩形: 圓角 7">
            <a:extLst>
              <a:ext uri="{FF2B5EF4-FFF2-40B4-BE49-F238E27FC236}">
                <a16:creationId xmlns:a16="http://schemas.microsoft.com/office/drawing/2014/main" id="{8F4445D1-25D6-4A15-ADD2-E7FECECC7621}"/>
              </a:ext>
            </a:extLst>
          </p:cNvPr>
          <p:cNvSpPr/>
          <p:nvPr/>
        </p:nvSpPr>
        <p:spPr>
          <a:xfrm>
            <a:off x="308904" y="3132222"/>
            <a:ext cx="3679043" cy="4407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資料流動建構出資訊處理裝置</a:t>
            </a:r>
          </a:p>
        </p:txBody>
      </p:sp>
    </p:spTree>
    <p:extLst>
      <p:ext uri="{BB962C8B-B14F-4D97-AF65-F5344CB8AC3E}">
        <p14:creationId xmlns:p14="http://schemas.microsoft.com/office/powerpoint/2010/main" val="22890980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EE8C0C-71E1-417A-8DE9-69F5AEFE0A3F}"/>
              </a:ext>
            </a:extLst>
          </p:cNvPr>
          <p:cNvSpPr>
            <a:spLocks noGrp="1"/>
          </p:cNvSpPr>
          <p:nvPr>
            <p:ph type="title"/>
          </p:nvPr>
        </p:nvSpPr>
        <p:spPr/>
        <p:txBody>
          <a:bodyPr/>
          <a:lstStyle/>
          <a:p>
            <a:r>
              <a:rPr lang="zh-TW" altLang="en-US" dirty="0"/>
              <a:t>電腦軟體發明定義</a:t>
            </a:r>
          </a:p>
        </p:txBody>
      </p:sp>
      <p:sp>
        <p:nvSpPr>
          <p:cNvPr id="4" name="投影片編號版面配置區 3">
            <a:extLst>
              <a:ext uri="{FF2B5EF4-FFF2-40B4-BE49-F238E27FC236}">
                <a16:creationId xmlns:a16="http://schemas.microsoft.com/office/drawing/2014/main" id="{A796A93A-0BEE-427A-95CD-C931D54AFC31}"/>
              </a:ext>
            </a:extLst>
          </p:cNvPr>
          <p:cNvSpPr>
            <a:spLocks noGrp="1"/>
          </p:cNvSpPr>
          <p:nvPr>
            <p:ph type="sldNum" sz="quarter" idx="12"/>
          </p:nvPr>
        </p:nvSpPr>
        <p:spPr/>
        <p:txBody>
          <a:bodyPr/>
          <a:lstStyle/>
          <a:p>
            <a:fld id="{51D2D507-09EA-4C6F-96ED-053C801F8797}" type="slidenum">
              <a:rPr lang="zh-TW" altLang="en-US" smtClean="0"/>
              <a:t>42</a:t>
            </a:fld>
            <a:endParaRPr lang="zh-TW" altLang="en-US"/>
          </a:p>
        </p:txBody>
      </p:sp>
      <p:sp>
        <p:nvSpPr>
          <p:cNvPr id="5" name="文字方塊 4">
            <a:extLst>
              <a:ext uri="{FF2B5EF4-FFF2-40B4-BE49-F238E27FC236}">
                <a16:creationId xmlns:a16="http://schemas.microsoft.com/office/drawing/2014/main" id="{37CB93E7-E028-44FA-959A-66AB204645AA}"/>
              </a:ext>
            </a:extLst>
          </p:cNvPr>
          <p:cNvSpPr txBox="1"/>
          <p:nvPr/>
        </p:nvSpPr>
        <p:spPr>
          <a:xfrm>
            <a:off x="251520" y="741462"/>
            <a:ext cx="5079552" cy="2185214"/>
          </a:xfrm>
          <a:prstGeom prst="rect">
            <a:avLst/>
          </a:prstGeom>
          <a:noFill/>
        </p:spPr>
        <p:txBody>
          <a:bodyPr wrap="square">
            <a:spAutoFit/>
          </a:bodyPr>
          <a:lstStyle/>
          <a:p>
            <a:r>
              <a:rPr lang="zh-TW" altLang="en-US" b="1" u="sng" dirty="0">
                <a:latin typeface="微軟正黑體" panose="020B0604030504040204" pitchFamily="34" charset="-120"/>
                <a:ea typeface="微軟正黑體" panose="020B0604030504040204" pitchFamily="34" charset="-120"/>
              </a:rPr>
              <a:t>人工智慧模組</a:t>
            </a:r>
            <a:endParaRPr lang="en-US" altLang="zh-TW" b="1" u="sng" dirty="0">
              <a:latin typeface="微軟正黑體" panose="020B0604030504040204" pitchFamily="34" charset="-120"/>
              <a:ea typeface="微軟正黑體" panose="020B0604030504040204" pitchFamily="34" charset="-120"/>
            </a:endParaRPr>
          </a:p>
          <a:p>
            <a:endParaRPr lang="zh-TW" altLang="en-US" sz="1000" b="1" u="sng" dirty="0">
              <a:latin typeface="微軟正黑體" panose="020B0604030504040204" pitchFamily="34" charset="-120"/>
              <a:ea typeface="微軟正黑體" panose="020B0604030504040204" pitchFamily="34" charset="-120"/>
            </a:endParaRPr>
          </a:p>
          <a:p>
            <a:pPr marL="539750" indent="-276225">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人工智慧相關模組視為資訊處理模組</a:t>
            </a:r>
          </a:p>
          <a:p>
            <a:pPr marL="539750" indent="-276225">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資料在人工智慧模組各層間流動、調校並產出結果，則為特定資訊處理 </a:t>
            </a:r>
          </a:p>
          <a:p>
            <a:pPr marL="539750" indent="-276225">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人工智慧相關模型具有輸入、輸出資料即為特定資訊處理</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即人工智慧被視為依特定演算法所建構之資訊處理</a:t>
            </a:r>
            <a:r>
              <a:rPr lang="en-US" altLang="zh-TW" dirty="0">
                <a:latin typeface="微軟正黑體" panose="020B0604030504040204" pitchFamily="34" charset="-120"/>
                <a:ea typeface="微軟正黑體" panose="020B0604030504040204" pitchFamily="34" charset="-120"/>
              </a:rPr>
              <a:t>)</a:t>
            </a:r>
          </a:p>
        </p:txBody>
      </p:sp>
      <p:grpSp>
        <p:nvGrpSpPr>
          <p:cNvPr id="6" name="群組 5">
            <a:extLst>
              <a:ext uri="{FF2B5EF4-FFF2-40B4-BE49-F238E27FC236}">
                <a16:creationId xmlns:a16="http://schemas.microsoft.com/office/drawing/2014/main" id="{9E0C3778-85D0-44F6-A337-7F89AB9C50FD}"/>
              </a:ext>
            </a:extLst>
          </p:cNvPr>
          <p:cNvGrpSpPr/>
          <p:nvPr/>
        </p:nvGrpSpPr>
        <p:grpSpPr>
          <a:xfrm>
            <a:off x="5514738" y="1340768"/>
            <a:ext cx="3629262" cy="846001"/>
            <a:chOff x="7860005" y="695932"/>
            <a:chExt cx="3629262" cy="846001"/>
          </a:xfrm>
        </p:grpSpPr>
        <p:pic>
          <p:nvPicPr>
            <p:cNvPr id="7" name="Picture 2">
              <a:extLst>
                <a:ext uri="{FF2B5EF4-FFF2-40B4-BE49-F238E27FC236}">
                  <a16:creationId xmlns:a16="http://schemas.microsoft.com/office/drawing/2014/main" id="{4479C06F-7875-4606-B42A-908ADBAEC137}"/>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165394" y="695932"/>
              <a:ext cx="1157294" cy="846001"/>
            </a:xfrm>
            <a:prstGeom prst="rect">
              <a:avLst/>
            </a:prstGeom>
            <a:solidFill>
              <a:schemeClr val="bg1">
                <a:lumMod val="75000"/>
              </a:schemeClr>
            </a:solidFill>
            <a:ln w="12700">
              <a:solidFill>
                <a:schemeClr val="tx1"/>
              </a:solidFill>
              <a:miter lim="800000"/>
              <a:headEnd/>
              <a:tailEnd/>
            </a:ln>
          </p:spPr>
        </p:pic>
        <p:sp>
          <p:nvSpPr>
            <p:cNvPr id="8" name="向右箭號 5">
              <a:extLst>
                <a:ext uri="{FF2B5EF4-FFF2-40B4-BE49-F238E27FC236}">
                  <a16:creationId xmlns:a16="http://schemas.microsoft.com/office/drawing/2014/main" id="{0A1B3DB5-BCF3-42A4-BCA6-6B3F47F44326}"/>
                </a:ext>
              </a:extLst>
            </p:cNvPr>
            <p:cNvSpPr/>
            <p:nvPr/>
          </p:nvSpPr>
          <p:spPr>
            <a:xfrm>
              <a:off x="8564777" y="876616"/>
              <a:ext cx="317308" cy="484632"/>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9" name="向右箭號 6">
              <a:extLst>
                <a:ext uri="{FF2B5EF4-FFF2-40B4-BE49-F238E27FC236}">
                  <a16:creationId xmlns:a16="http://schemas.microsoft.com/office/drawing/2014/main" id="{AAFABF8E-3861-4F46-9C6E-CC3CF2B11CCB}"/>
                </a:ext>
              </a:extLst>
            </p:cNvPr>
            <p:cNvSpPr/>
            <p:nvPr/>
          </p:nvSpPr>
          <p:spPr>
            <a:xfrm>
              <a:off x="10495177" y="876616"/>
              <a:ext cx="317308" cy="484632"/>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0" name="圓柱 7">
              <a:extLst>
                <a:ext uri="{FF2B5EF4-FFF2-40B4-BE49-F238E27FC236}">
                  <a16:creationId xmlns:a16="http://schemas.microsoft.com/office/drawing/2014/main" id="{0D0845CC-9D0A-45F9-85E3-34BB44181BA3}"/>
                </a:ext>
              </a:extLst>
            </p:cNvPr>
            <p:cNvSpPr/>
            <p:nvPr/>
          </p:nvSpPr>
          <p:spPr>
            <a:xfrm>
              <a:off x="7860005" y="814894"/>
              <a:ext cx="521106" cy="608076"/>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200" dirty="0">
                  <a:latin typeface="微軟正黑體" panose="020B0604030504040204" pitchFamily="34" charset="-120"/>
                  <a:ea typeface="微軟正黑體" panose="020B0604030504040204" pitchFamily="34" charset="-120"/>
                </a:rPr>
                <a:t>data</a:t>
              </a:r>
              <a:endParaRPr lang="zh-TW" altLang="en-US" sz="1200" dirty="0">
                <a:latin typeface="微軟正黑體" panose="020B0604030504040204" pitchFamily="34" charset="-120"/>
                <a:ea typeface="微軟正黑體" panose="020B0604030504040204" pitchFamily="34" charset="-120"/>
              </a:endParaRPr>
            </a:p>
          </p:txBody>
        </p:sp>
        <p:sp>
          <p:nvSpPr>
            <p:cNvPr id="11" name="橢圓 10">
              <a:extLst>
                <a:ext uri="{FF2B5EF4-FFF2-40B4-BE49-F238E27FC236}">
                  <a16:creationId xmlns:a16="http://schemas.microsoft.com/office/drawing/2014/main" id="{03C13B64-0E3B-448F-876F-0379EDFBEFD6}"/>
                </a:ext>
              </a:extLst>
            </p:cNvPr>
            <p:cNvSpPr/>
            <p:nvPr/>
          </p:nvSpPr>
          <p:spPr>
            <a:xfrm>
              <a:off x="10955867" y="846114"/>
              <a:ext cx="533400" cy="491399"/>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grpSp>
      <p:sp>
        <p:nvSpPr>
          <p:cNvPr id="12" name="矩形 11">
            <a:extLst>
              <a:ext uri="{FF2B5EF4-FFF2-40B4-BE49-F238E27FC236}">
                <a16:creationId xmlns:a16="http://schemas.microsoft.com/office/drawing/2014/main" id="{1A7189C8-1820-47E8-BEBD-C9B7E2262397}"/>
              </a:ext>
            </a:extLst>
          </p:cNvPr>
          <p:cNvSpPr/>
          <p:nvPr/>
        </p:nvSpPr>
        <p:spPr>
          <a:xfrm>
            <a:off x="251520" y="3371850"/>
            <a:ext cx="8784976" cy="3416320"/>
          </a:xfrm>
          <a:prstGeom prst="rect">
            <a:avLst/>
          </a:prstGeom>
          <a:ln>
            <a:solidFill>
              <a:schemeClr val="tx1"/>
            </a:solidFill>
          </a:ln>
        </p:spPr>
        <p:txBody>
          <a:bodyPr wrap="square">
            <a:spAutoFit/>
          </a:bodyPr>
          <a:lstStyle/>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一種用於分析住宿聲譽之神經網路系統，該系統使得一電腦依據住宿聲譽之文字資料，而產生關於複數住宿聲譽之量化輸出數值，該系統包含：</a:t>
            </a:r>
          </a:p>
          <a:p>
            <a:pPr indent="355600"/>
            <a:r>
              <a:rPr lang="zh-TW" altLang="en-US" dirty="0">
                <a:latin typeface="微軟正黑體" panose="020B0604030504040204" pitchFamily="34" charset="-120"/>
                <a:ea typeface="微軟正黑體" panose="020B0604030504040204" pitchFamily="34" charset="-120"/>
              </a:rPr>
              <a:t>一</a:t>
            </a:r>
            <a:r>
              <a:rPr lang="zh-TW" altLang="en-US" b="1" dirty="0">
                <a:latin typeface="微軟正黑體" panose="020B0604030504040204" pitchFamily="34" charset="-120"/>
                <a:ea typeface="微軟正黑體" panose="020B0604030504040204" pitchFamily="34" charset="-120"/>
              </a:rPr>
              <a:t>第一神經網路</a:t>
            </a:r>
            <a:r>
              <a:rPr lang="zh-TW" altLang="en-US" dirty="0">
                <a:latin typeface="微軟正黑體" panose="020B0604030504040204" pitchFamily="34" charset="-120"/>
                <a:ea typeface="微軟正黑體" panose="020B0604030504040204" pitchFamily="34" charset="-120"/>
              </a:rPr>
              <a:t>及一</a:t>
            </a:r>
            <a:r>
              <a:rPr lang="zh-TW" altLang="en-US" b="1" dirty="0">
                <a:latin typeface="微軟正黑體" panose="020B0604030504040204" pitchFamily="34" charset="-120"/>
                <a:ea typeface="微軟正黑體" panose="020B0604030504040204" pitchFamily="34" charset="-120"/>
              </a:rPr>
              <a:t>第二神經網路</a:t>
            </a:r>
            <a:r>
              <a:rPr lang="zh-TW" altLang="en-US" dirty="0">
                <a:latin typeface="微軟正黑體" panose="020B0604030504040204" pitchFamily="34" charset="-120"/>
                <a:ea typeface="微軟正黑體" panose="020B0604030504040204" pitchFamily="34" charset="-120"/>
              </a:rPr>
              <a:t>，且該第二神經網路之輸入值即該第一神經網路的輸出值；</a:t>
            </a:r>
          </a:p>
          <a:p>
            <a:pPr indent="355600"/>
            <a:r>
              <a:rPr lang="zh-TW" altLang="en-US" dirty="0">
                <a:latin typeface="微軟正黑體" panose="020B0604030504040204" pitchFamily="34" charset="-120"/>
                <a:ea typeface="微軟正黑體" panose="020B0604030504040204" pitchFamily="34" charset="-120"/>
              </a:rPr>
              <a:t>該</a:t>
            </a:r>
            <a:r>
              <a:rPr lang="zh-TW" altLang="en-US" b="1" dirty="0">
                <a:latin typeface="微軟正黑體" panose="020B0604030504040204" pitchFamily="34" charset="-120"/>
                <a:ea typeface="微軟正黑體" panose="020B0604030504040204" pitchFamily="34" charset="-120"/>
              </a:rPr>
              <a:t>第一神經網路</a:t>
            </a:r>
            <a:r>
              <a:rPr lang="zh-TW" altLang="en-US" dirty="0">
                <a:latin typeface="微軟正黑體" panose="020B0604030504040204" pitchFamily="34" charset="-120"/>
                <a:ea typeface="微軟正黑體" panose="020B0604030504040204" pitchFamily="34" charset="-120"/>
              </a:rPr>
              <a:t>具有一特徵擷取神經網路之</a:t>
            </a:r>
            <a:r>
              <a:rPr lang="zh-TW" altLang="en-US" u="sng" dirty="0">
                <a:latin typeface="微軟正黑體" panose="020B0604030504040204" pitchFamily="34" charset="-120"/>
                <a:ea typeface="微軟正黑體" panose="020B0604030504040204" pitchFamily="34" charset="-120"/>
              </a:rPr>
              <a:t>輸入層至中間層</a:t>
            </a:r>
            <a:r>
              <a:rPr lang="zh-TW" altLang="en-US" dirty="0">
                <a:latin typeface="微軟正黑體" panose="020B0604030504040204" pitchFamily="34" charset="-120"/>
                <a:ea typeface="微軟正黑體" panose="020B0604030504040204" pitchFamily="34" charset="-120"/>
              </a:rPr>
              <a:t>之間之網路，且該特徵擷取神經網路之至少一中間層之</a:t>
            </a:r>
            <a:r>
              <a:rPr lang="zh-TW" altLang="en-US" u="sng" dirty="0">
                <a:latin typeface="微軟正黑體" panose="020B0604030504040204" pitchFamily="34" charset="-120"/>
                <a:ea typeface="微軟正黑體" panose="020B0604030504040204" pitchFamily="34" charset="-120"/>
              </a:rPr>
              <a:t>神經元數目係小於其輸入層神經元之數目</a:t>
            </a:r>
            <a:r>
              <a:rPr lang="zh-TW" altLang="en-US" dirty="0">
                <a:latin typeface="微軟正黑體" panose="020B0604030504040204" pitchFamily="34" charset="-120"/>
                <a:ea typeface="微軟正黑體" panose="020B0604030504040204" pitchFamily="34" charset="-120"/>
              </a:rPr>
              <a:t>，該特徵擷取神經網路輸入層神經元的數目跟其輸出層的神經元的數目相等，且該特徵擷取神經網路之權重，以其輸入層之輸入值逐漸與輸出層輸出值相等的方式訓練；</a:t>
            </a:r>
          </a:p>
          <a:p>
            <a:pPr indent="355600"/>
            <a:r>
              <a:rPr lang="zh-TW" altLang="en-US" dirty="0">
                <a:latin typeface="微軟正黑體" panose="020B0604030504040204" pitchFamily="34" charset="-120"/>
                <a:ea typeface="微軟正黑體" panose="020B0604030504040204" pitchFamily="34" charset="-120"/>
              </a:rPr>
              <a:t>該</a:t>
            </a:r>
            <a:r>
              <a:rPr lang="zh-TW" altLang="en-US" b="1" dirty="0">
                <a:latin typeface="微軟正黑體" panose="020B0604030504040204" pitchFamily="34" charset="-120"/>
                <a:ea typeface="微軟正黑體" panose="020B0604030504040204" pitchFamily="34" charset="-120"/>
              </a:rPr>
              <a:t>第二神經網路</a:t>
            </a:r>
            <a:r>
              <a:rPr lang="zh-TW" altLang="en-US" dirty="0">
                <a:latin typeface="微軟正黑體" panose="020B0604030504040204" pitchFamily="34" charset="-120"/>
                <a:ea typeface="微軟正黑體" panose="020B0604030504040204" pitchFamily="34" charset="-120"/>
              </a:rPr>
              <a:t>之權重，係在不改變該第一神經網路之權重的前提下進行訓練；</a:t>
            </a:r>
          </a:p>
          <a:p>
            <a:pPr indent="355600"/>
            <a:r>
              <a:rPr lang="zh-TW" altLang="en-US" dirty="0">
                <a:latin typeface="微軟正黑體" panose="020B0604030504040204" pitchFamily="34" charset="-120"/>
                <a:ea typeface="微軟正黑體" panose="020B0604030504040204" pitchFamily="34" charset="-120"/>
              </a:rPr>
              <a:t>該系統使得該電腦基於在該第一及第二神經網路中所訓練之權重，去執行響應於輸入至該第一神經網路輸入層之住宿聲譽之文字資料中各個特定詞出現的頻率，及該第二神經網路輸出層所輸出之該複數住宿聲譽之量化輸出數值之計算。</a:t>
            </a:r>
          </a:p>
        </p:txBody>
      </p:sp>
      <p:sp>
        <p:nvSpPr>
          <p:cNvPr id="13" name="矩形: 圓角 8">
            <a:extLst>
              <a:ext uri="{FF2B5EF4-FFF2-40B4-BE49-F238E27FC236}">
                <a16:creationId xmlns:a16="http://schemas.microsoft.com/office/drawing/2014/main" id="{EAB725B0-D190-4049-9FF4-79370528AB3A}"/>
              </a:ext>
            </a:extLst>
          </p:cNvPr>
          <p:cNvSpPr/>
          <p:nvPr/>
        </p:nvSpPr>
        <p:spPr>
          <a:xfrm>
            <a:off x="251520" y="2931057"/>
            <a:ext cx="5301887" cy="4407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資料在神經網路隱藏層的調校</a:t>
            </a:r>
          </a:p>
        </p:txBody>
      </p:sp>
    </p:spTree>
    <p:extLst>
      <p:ext uri="{BB962C8B-B14F-4D97-AF65-F5344CB8AC3E}">
        <p14:creationId xmlns:p14="http://schemas.microsoft.com/office/powerpoint/2010/main" val="19906256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0F347E-E905-4CAD-9F7A-DDD0B3AA975C}"/>
              </a:ext>
            </a:extLst>
          </p:cNvPr>
          <p:cNvSpPr>
            <a:spLocks noGrp="1"/>
          </p:cNvSpPr>
          <p:nvPr>
            <p:ph type="title"/>
          </p:nvPr>
        </p:nvSpPr>
        <p:spPr/>
        <p:txBody>
          <a:bodyPr/>
          <a:lstStyle/>
          <a:p>
            <a:r>
              <a:rPr lang="zh-TW" altLang="en-US" dirty="0"/>
              <a:t>電腦軟體發明定義</a:t>
            </a:r>
          </a:p>
        </p:txBody>
      </p:sp>
      <p:sp>
        <p:nvSpPr>
          <p:cNvPr id="4" name="投影片編號版面配置區 3">
            <a:extLst>
              <a:ext uri="{FF2B5EF4-FFF2-40B4-BE49-F238E27FC236}">
                <a16:creationId xmlns:a16="http://schemas.microsoft.com/office/drawing/2014/main" id="{695784FD-5AD9-429B-9C97-C84CBA13607E}"/>
              </a:ext>
            </a:extLst>
          </p:cNvPr>
          <p:cNvSpPr>
            <a:spLocks noGrp="1"/>
          </p:cNvSpPr>
          <p:nvPr>
            <p:ph type="sldNum" sz="quarter" idx="12"/>
          </p:nvPr>
        </p:nvSpPr>
        <p:spPr/>
        <p:txBody>
          <a:bodyPr/>
          <a:lstStyle/>
          <a:p>
            <a:fld id="{51D2D507-09EA-4C6F-96ED-053C801F8797}" type="slidenum">
              <a:rPr lang="zh-TW" altLang="en-US" smtClean="0"/>
              <a:t>43</a:t>
            </a:fld>
            <a:endParaRPr lang="zh-TW" altLang="en-US"/>
          </a:p>
        </p:txBody>
      </p:sp>
      <p:sp>
        <p:nvSpPr>
          <p:cNvPr id="8" name="矩形 7">
            <a:extLst>
              <a:ext uri="{FF2B5EF4-FFF2-40B4-BE49-F238E27FC236}">
                <a16:creationId xmlns:a16="http://schemas.microsoft.com/office/drawing/2014/main" id="{89664155-FF05-4107-B41D-4492FDCD73C1}"/>
              </a:ext>
            </a:extLst>
          </p:cNvPr>
          <p:cNvSpPr/>
          <p:nvPr/>
        </p:nvSpPr>
        <p:spPr>
          <a:xfrm>
            <a:off x="514747" y="1544589"/>
            <a:ext cx="8017693" cy="3612603"/>
          </a:xfrm>
          <a:prstGeom prst="rect">
            <a:avLst/>
          </a:prstGeom>
          <a:ln>
            <a:solidFill>
              <a:schemeClr val="tx1"/>
            </a:solidFill>
          </a:ln>
        </p:spPr>
        <p:txBody>
          <a:bodyPr wrap="square">
            <a:noAutofit/>
          </a:bodyPr>
          <a:lstStyle/>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一種估算一路段</a:t>
            </a:r>
            <a:r>
              <a:rPr lang="en-US" altLang="zh-TW" dirty="0">
                <a:latin typeface="微軟正黑體" panose="020B0604030504040204" pitchFamily="34" charset="-120"/>
                <a:ea typeface="微軟正黑體" panose="020B0604030504040204" pitchFamily="34" charset="-120"/>
              </a:rPr>
              <a:t>ETC</a:t>
            </a:r>
            <a:r>
              <a:rPr lang="zh-TW" altLang="en-US" dirty="0">
                <a:latin typeface="微軟正黑體" panose="020B0604030504040204" pitchFamily="34" charset="-120"/>
                <a:ea typeface="微軟正黑體" panose="020B0604030504040204" pitchFamily="34" charset="-120"/>
              </a:rPr>
              <a:t>收費門通過車輛數之系統，包含：</a:t>
            </a:r>
          </a:p>
          <a:p>
            <a:pPr indent="355600"/>
            <a:r>
              <a:rPr lang="zh-TW" altLang="en-US" dirty="0">
                <a:latin typeface="微軟正黑體" panose="020B0604030504040204" pitchFamily="34" charset="-120"/>
                <a:ea typeface="微軟正黑體" panose="020B0604030504040204" pitchFamily="34" charset="-120"/>
              </a:rPr>
              <a:t>一資料讀取單元，可自</a:t>
            </a:r>
            <a:r>
              <a:rPr lang="en-US" altLang="zh-TW" dirty="0">
                <a:latin typeface="微軟正黑體" panose="020B0604030504040204" pitchFamily="34" charset="-120"/>
                <a:ea typeface="微軟正黑體" panose="020B0604030504040204" pitchFamily="34" charset="-120"/>
              </a:rPr>
              <a:t>ETC</a:t>
            </a:r>
            <a:r>
              <a:rPr lang="zh-TW" altLang="en-US" dirty="0">
                <a:latin typeface="微軟正黑體" panose="020B0604030504040204" pitchFamily="34" charset="-120"/>
                <a:ea typeface="微軟正黑體" panose="020B0604030504040204" pitchFamily="34" charset="-120"/>
              </a:rPr>
              <a:t>控制站讀取關於該路段</a:t>
            </a:r>
            <a:r>
              <a:rPr lang="en-US" altLang="zh-TW" dirty="0">
                <a:latin typeface="微軟正黑體" panose="020B0604030504040204" pitchFamily="34" charset="-120"/>
                <a:ea typeface="微軟正黑體" panose="020B0604030504040204" pitchFamily="34" charset="-120"/>
              </a:rPr>
              <a:t>ETC</a:t>
            </a:r>
            <a:r>
              <a:rPr lang="zh-TW" altLang="en-US" dirty="0">
                <a:latin typeface="微軟正黑體" panose="020B0604030504040204" pitchFamily="34" charset="-120"/>
                <a:ea typeface="微軟正黑體" panose="020B0604030504040204" pitchFamily="34" charset="-120"/>
              </a:rPr>
              <a:t>收費門通過車輛數之歷史資料；</a:t>
            </a:r>
          </a:p>
          <a:p>
            <a:pPr indent="355600"/>
            <a:r>
              <a:rPr lang="zh-TW" altLang="en-US" b="1" dirty="0">
                <a:latin typeface="微軟正黑體" panose="020B0604030504040204" pitchFamily="34" charset="-120"/>
                <a:ea typeface="微軟正黑體" panose="020B0604030504040204" pitchFamily="34" charset="-120"/>
              </a:rPr>
              <a:t>一神經網路單元</a:t>
            </a:r>
            <a:r>
              <a:rPr lang="zh-TW" altLang="en-US" dirty="0">
                <a:latin typeface="微軟正黑體" panose="020B0604030504040204" pitchFamily="34" charset="-120"/>
                <a:ea typeface="微軟正黑體" panose="020B0604030504040204" pitchFamily="34" charset="-120"/>
              </a:rPr>
              <a:t>，由一處理器建立，並預先使用該路段</a:t>
            </a:r>
            <a:r>
              <a:rPr lang="en-US" altLang="zh-TW" dirty="0">
                <a:latin typeface="微軟正黑體" panose="020B0604030504040204" pitchFamily="34" charset="-120"/>
                <a:ea typeface="微軟正黑體" panose="020B0604030504040204" pitchFamily="34" charset="-120"/>
              </a:rPr>
              <a:t>ETC</a:t>
            </a:r>
            <a:r>
              <a:rPr lang="zh-TW" altLang="en-US" dirty="0">
                <a:latin typeface="微軟正黑體" panose="020B0604030504040204" pitchFamily="34" charset="-120"/>
                <a:ea typeface="微軟正黑體" panose="020B0604030504040204" pitchFamily="34" charset="-120"/>
              </a:rPr>
              <a:t>收費門通過車輛數之歷史資料進行</a:t>
            </a:r>
            <a:r>
              <a:rPr lang="zh-TW" altLang="en-US" u="sng" dirty="0">
                <a:latin typeface="微軟正黑體" panose="020B0604030504040204" pitchFamily="34" charset="-120"/>
                <a:ea typeface="微軟正黑體" panose="020B0604030504040204" pitchFamily="34" charset="-120"/>
              </a:rPr>
              <a:t>訓練</a:t>
            </a:r>
            <a:r>
              <a:rPr lang="zh-TW" altLang="en-US" dirty="0">
                <a:latin typeface="微軟正黑體" panose="020B0604030504040204" pitchFamily="34" charset="-120"/>
                <a:ea typeface="微軟正黑體" panose="020B0604030504040204" pitchFamily="34" charset="-120"/>
              </a:rPr>
              <a:t>；該神經網路單元具有一輸入層及一輸出層：該輸入層之輸入資料包括在一特定時間點前該路段</a:t>
            </a:r>
            <a:r>
              <a:rPr lang="en-US" altLang="zh-TW" dirty="0">
                <a:latin typeface="微軟正黑體" panose="020B0604030504040204" pitchFamily="34" charset="-120"/>
                <a:ea typeface="微軟正黑體" panose="020B0604030504040204" pitchFamily="34" charset="-120"/>
              </a:rPr>
              <a:t>ETC</a:t>
            </a:r>
            <a:r>
              <a:rPr lang="zh-TW" altLang="en-US" dirty="0">
                <a:latin typeface="微軟正黑體" panose="020B0604030504040204" pitchFamily="34" charset="-120"/>
                <a:ea typeface="微軟正黑體" panose="020B0604030504040204" pitchFamily="34" charset="-120"/>
              </a:rPr>
              <a:t>收費門通過車輛數之歷史資料；該輸出層之</a:t>
            </a:r>
            <a:r>
              <a:rPr lang="zh-TW" altLang="en-US" u="sng" dirty="0">
                <a:latin typeface="微軟正黑體" panose="020B0604030504040204" pitchFamily="34" charset="-120"/>
                <a:ea typeface="微軟正黑體" panose="020B0604030504040204" pitchFamily="34" charset="-120"/>
              </a:rPr>
              <a:t>輸出</a:t>
            </a:r>
            <a:r>
              <a:rPr lang="zh-TW" altLang="en-US" dirty="0">
                <a:latin typeface="微軟正黑體" panose="020B0604030504040204" pitchFamily="34" charset="-120"/>
                <a:ea typeface="微軟正黑體" panose="020B0604030504040204" pitchFamily="34" charset="-120"/>
              </a:rPr>
              <a:t>資料為該特定時間點之該路段</a:t>
            </a:r>
            <a:r>
              <a:rPr lang="en-US" altLang="zh-TW" dirty="0">
                <a:latin typeface="微軟正黑體" panose="020B0604030504040204" pitchFamily="34" charset="-120"/>
                <a:ea typeface="微軟正黑體" panose="020B0604030504040204" pitchFamily="34" charset="-120"/>
              </a:rPr>
              <a:t>ETC</a:t>
            </a:r>
            <a:r>
              <a:rPr lang="zh-TW" altLang="en-US" dirty="0">
                <a:latin typeface="微軟正黑體" panose="020B0604030504040204" pitchFamily="34" charset="-120"/>
                <a:ea typeface="微軟正黑體" panose="020B0604030504040204" pitchFamily="34" charset="-120"/>
              </a:rPr>
              <a:t>收費門通過車輛數</a:t>
            </a:r>
            <a:r>
              <a:rPr lang="zh-TW" altLang="en-US" u="sng" dirty="0">
                <a:latin typeface="微軟正黑體" panose="020B0604030504040204" pitchFamily="34" charset="-120"/>
                <a:ea typeface="微軟正黑體" panose="020B0604030504040204" pitchFamily="34" charset="-120"/>
              </a:rPr>
              <a:t>預估值</a:t>
            </a:r>
            <a:r>
              <a:rPr lang="zh-TW" altLang="en-US" dirty="0">
                <a:latin typeface="微軟正黑體" panose="020B0604030504040204" pitchFamily="34" charset="-120"/>
                <a:ea typeface="微軟正黑體" panose="020B0604030504040204" pitchFamily="34" charset="-120"/>
              </a:rPr>
              <a:t>；</a:t>
            </a:r>
          </a:p>
          <a:p>
            <a:pPr indent="355600"/>
            <a:r>
              <a:rPr lang="zh-TW" altLang="en-US" dirty="0">
                <a:latin typeface="微軟正黑體" panose="020B0604030504040204" pitchFamily="34" charset="-120"/>
                <a:ea typeface="微軟正黑體" panose="020B0604030504040204" pitchFamily="34" charset="-120"/>
              </a:rPr>
              <a:t>一比較單元，用以比較於該特定時間點，該神經網路單元之輸出層輸出之車輛數預估值與通過該路段</a:t>
            </a:r>
            <a:r>
              <a:rPr lang="en-US" altLang="zh-TW" dirty="0">
                <a:latin typeface="微軟正黑體" panose="020B0604030504040204" pitchFamily="34" charset="-120"/>
                <a:ea typeface="微軟正黑體" panose="020B0604030504040204" pitchFamily="34" charset="-120"/>
              </a:rPr>
              <a:t>ETC</a:t>
            </a:r>
            <a:r>
              <a:rPr lang="zh-TW" altLang="en-US" dirty="0">
                <a:latin typeface="微軟正黑體" panose="020B0604030504040204" pitchFamily="34" charset="-120"/>
                <a:ea typeface="微軟正黑體" panose="020B0604030504040204" pitchFamily="34" charset="-120"/>
              </a:rPr>
              <a:t>收費門之車輛數實際值間差異，若該差異值超過門檻值則判定該路段之車輛數異常；以及</a:t>
            </a:r>
          </a:p>
          <a:p>
            <a:pPr indent="355600"/>
            <a:r>
              <a:rPr lang="zh-TW" altLang="en-US" dirty="0">
                <a:latin typeface="微軟正黑體" panose="020B0604030504040204" pitchFamily="34" charset="-120"/>
                <a:ea typeface="微軟正黑體" panose="020B0604030504040204" pitchFamily="34" charset="-120"/>
              </a:rPr>
              <a:t>一地圖標示單元，係在一電子地圖上自動標示或警示判定為異常之該路段。</a:t>
            </a:r>
          </a:p>
        </p:txBody>
      </p:sp>
      <p:sp>
        <p:nvSpPr>
          <p:cNvPr id="9" name="矩形: 圓角 8">
            <a:extLst>
              <a:ext uri="{FF2B5EF4-FFF2-40B4-BE49-F238E27FC236}">
                <a16:creationId xmlns:a16="http://schemas.microsoft.com/office/drawing/2014/main" id="{C004DA45-E488-4595-8C86-1B40FD96091E}"/>
              </a:ext>
            </a:extLst>
          </p:cNvPr>
          <p:cNvSpPr/>
          <p:nvPr/>
        </p:nvSpPr>
        <p:spPr>
          <a:xfrm>
            <a:off x="574014" y="1103797"/>
            <a:ext cx="5219755" cy="4407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訓練建立預估模型預測</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車流</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2687400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51D2D507-09EA-4C6F-96ED-053C801F8797}" type="slidenum">
              <a:rPr lang="zh-TW" altLang="en-US" smtClean="0"/>
              <a:t>44</a:t>
            </a:fld>
            <a:endParaRPr lang="zh-TW" altLang="en-US"/>
          </a:p>
        </p:txBody>
      </p:sp>
      <p:sp>
        <p:nvSpPr>
          <p:cNvPr id="3" name="內容版面配置區 2"/>
          <p:cNvSpPr>
            <a:spLocks noGrp="1"/>
          </p:cNvSpPr>
          <p:nvPr>
            <p:ph type="subTitle" idx="4294967295"/>
          </p:nvPr>
        </p:nvSpPr>
        <p:spPr>
          <a:xfrm>
            <a:off x="2579688" y="2996952"/>
            <a:ext cx="5040312" cy="1008062"/>
          </a:xfrm>
        </p:spPr>
        <p:txBody>
          <a:bodyPr>
            <a:noAutofit/>
          </a:bodyPr>
          <a:lstStyle/>
          <a:p>
            <a:pPr marL="0" indent="0" algn="ctr">
              <a:lnSpc>
                <a:spcPts val="5000"/>
              </a:lnSpc>
              <a:buNone/>
            </a:pPr>
            <a:r>
              <a:rPr lang="zh-TW" altLang="en-US" b="1" dirty="0">
                <a:solidFill>
                  <a:srgbClr val="0070C0"/>
                </a:solidFill>
                <a:latin typeface="微軟正黑體" panose="020B0604030504040204" pitchFamily="34" charset="-120"/>
                <a:ea typeface="微軟正黑體" panose="020B0604030504040204" pitchFamily="34" charset="-120"/>
                <a:cs typeface="Adobe 繁黑體 Std B"/>
              </a:rPr>
              <a:t>感 謝，並 請 指 教</a:t>
            </a:r>
            <a:endParaRPr lang="zh-TW" altLang="en-US" dirty="0">
              <a:solidFill>
                <a:srgbClr val="0070C0"/>
              </a:solidFill>
              <a:latin typeface="微軟正黑體" panose="020B0604030504040204" pitchFamily="34" charset="-120"/>
              <a:ea typeface="微軟正黑體" panose="020B0604030504040204" pitchFamily="34" charset="-120"/>
              <a:cs typeface="Adobe 繁黑體 Std B"/>
            </a:endParaRPr>
          </a:p>
        </p:txBody>
      </p:sp>
      <p:sp>
        <p:nvSpPr>
          <p:cNvPr id="5" name="文字方塊 4">
            <a:extLst>
              <a:ext uri="{FF2B5EF4-FFF2-40B4-BE49-F238E27FC236}">
                <a16:creationId xmlns:a16="http://schemas.microsoft.com/office/drawing/2014/main" id="{1AFE0CE5-4867-61D5-FE1B-D14EFB9A07C5}"/>
              </a:ext>
            </a:extLst>
          </p:cNvPr>
          <p:cNvSpPr txBox="1"/>
          <p:nvPr/>
        </p:nvSpPr>
        <p:spPr>
          <a:xfrm>
            <a:off x="1763688" y="4140316"/>
            <a:ext cx="6264696" cy="892552"/>
          </a:xfrm>
          <a:prstGeom prst="rect">
            <a:avLst/>
          </a:prstGeom>
          <a:noFill/>
        </p:spPr>
        <p:txBody>
          <a:bodyPr wrap="square" rtlCol="0">
            <a:spAutoFit/>
          </a:bodyPr>
          <a:lstStyle/>
          <a:p>
            <a:r>
              <a:rPr lang="en-US" altLang="zh-TW" sz="2800" dirty="0"/>
              <a:t>email</a:t>
            </a:r>
            <a:r>
              <a:rPr lang="zh-TW" altLang="en-US" sz="2800" dirty="0">
                <a:latin typeface="微軟正黑體" panose="020B0604030504040204" pitchFamily="34" charset="-120"/>
                <a:ea typeface="微軟正黑體" panose="020B0604030504040204" pitchFamily="34" charset="-120"/>
                <a:cs typeface="Adobe 繁黑體 Std B"/>
                <a:sym typeface="Wingdings" panose="05000000000000000000" pitchFamily="2" charset="2"/>
              </a:rPr>
              <a:t>：</a:t>
            </a:r>
            <a:r>
              <a:rPr lang="en-US" altLang="zh-TW" sz="2800" dirty="0">
                <a:solidFill>
                  <a:prstClr val="black"/>
                </a:solidFill>
              </a:rPr>
              <a:t>ycjen20453@judicial.gov.tw</a:t>
            </a:r>
          </a:p>
          <a:p>
            <a:r>
              <a:rPr lang="en-US" altLang="zh-TW" sz="2400" dirty="0">
                <a:latin typeface="微軟正黑體" panose="020B0604030504040204" pitchFamily="34" charset="-120"/>
                <a:ea typeface="微軟正黑體" panose="020B0604030504040204" pitchFamily="34" charset="-120"/>
                <a:cs typeface="Adobe 繁黑體 Std B"/>
              </a:rPr>
              <a:t>TEL</a:t>
            </a:r>
            <a:r>
              <a:rPr lang="zh-TW" altLang="en-US" sz="2400" dirty="0">
                <a:latin typeface="微軟正黑體" panose="020B0604030504040204" pitchFamily="34" charset="-120"/>
                <a:ea typeface="微軟正黑體" panose="020B0604030504040204" pitchFamily="34" charset="-120"/>
                <a:cs typeface="Adobe 繁黑體 Std B"/>
                <a:sym typeface="Wingdings" panose="05000000000000000000" pitchFamily="2" charset="2"/>
              </a:rPr>
              <a:t>：</a:t>
            </a:r>
            <a:r>
              <a:rPr lang="en-US" altLang="zh-TW" sz="2400" dirty="0">
                <a:latin typeface="微軟正黑體" panose="020B0604030504040204" pitchFamily="34" charset="-120"/>
                <a:ea typeface="微軟正黑體" panose="020B0604030504040204" pitchFamily="34" charset="-120"/>
                <a:cs typeface="Adobe 繁黑體 Std B"/>
                <a:sym typeface="Wingdings" panose="05000000000000000000" pitchFamily="2" charset="2"/>
              </a:rPr>
              <a:t>(</a:t>
            </a:r>
            <a:r>
              <a:rPr lang="en-US" altLang="zh-TW" sz="2400" dirty="0">
                <a:latin typeface="微軟正黑體" panose="020B0604030504040204" pitchFamily="34" charset="-120"/>
                <a:ea typeface="微軟正黑體" panose="020B0604030504040204" pitchFamily="34" charset="-120"/>
                <a:cs typeface="Adobe 繁黑體 Std B"/>
              </a:rPr>
              <a:t>02) 22726696 ext.383</a:t>
            </a:r>
            <a:endParaRPr lang="zh-TW" altLang="en-US" sz="2400" dirty="0">
              <a:latin typeface="微軟正黑體" panose="020B0604030504040204" pitchFamily="34" charset="-120"/>
              <a:ea typeface="微軟正黑體" panose="020B0604030504040204" pitchFamily="34" charset="-120"/>
              <a:cs typeface="Adobe 繁黑體 Std B"/>
            </a:endParaRPr>
          </a:p>
        </p:txBody>
      </p:sp>
    </p:spTree>
    <p:extLst>
      <p:ext uri="{BB962C8B-B14F-4D97-AF65-F5344CB8AC3E}">
        <p14:creationId xmlns:p14="http://schemas.microsoft.com/office/powerpoint/2010/main" val="3783656051"/>
      </p:ext>
    </p:extLst>
  </p:cSld>
  <p:clrMapOvr>
    <a:masterClrMapping/>
  </p:clrMapOvr>
</p:sld>
</file>

<file path=ppt/theme/theme1.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佈景主題1" id="{3A1DDD62-4D60-498C-BF1A-121A51BAE175}" vid="{72899AA4-27B7-4F65-B73A-110BD17E31A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14901</TotalTime>
  <Words>5767</Words>
  <Application>Microsoft Office PowerPoint</Application>
  <PresentationFormat>如螢幕大小 (4:3)</PresentationFormat>
  <Paragraphs>659</Paragraphs>
  <Slides>44</Slides>
  <Notes>3</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44</vt:i4>
      </vt:variant>
    </vt:vector>
  </HeadingPairs>
  <TitlesOfParts>
    <vt:vector size="52" baseType="lpstr">
      <vt:lpstr>Adobe 繁黑體 Std B</vt:lpstr>
      <vt:lpstr>微軟正黑體</vt:lpstr>
      <vt:lpstr>Arial</vt:lpstr>
      <vt:lpstr>Calibri</vt:lpstr>
      <vt:lpstr>Corbel</vt:lpstr>
      <vt:lpstr>Wingdings</vt:lpstr>
      <vt:lpstr>Wingdings 2</vt:lpstr>
      <vt:lpstr>佈景主題1</vt:lpstr>
      <vt:lpstr>軟體專利簡介及標的適格性</vt:lpstr>
      <vt:lpstr>電腦軟體相關發明專利審查實務</vt:lpstr>
      <vt:lpstr>電腦軟體及軟體專利</vt:lpstr>
      <vt:lpstr>專利權與著作權</vt:lpstr>
      <vt:lpstr>專利權與著作權</vt:lpstr>
      <vt:lpstr>電腦軟體</vt:lpstr>
      <vt:lpstr>電腦軟體相關發明(軟體專利)</vt:lpstr>
      <vt:lpstr>軟體專利3件事</vt:lpstr>
      <vt:lpstr>電腦軟體與專利</vt:lpstr>
      <vt:lpstr>軟體專利特性</vt:lpstr>
      <vt:lpstr>軟體專利特性特性</vt:lpstr>
      <vt:lpstr>軟體專利特性</vt:lpstr>
      <vt:lpstr>軟體專利特性-專利審查角度</vt:lpstr>
      <vt:lpstr>軟體專利特性-類型</vt:lpstr>
      <vt:lpstr>軟體專利特性-類型</vt:lpstr>
      <vt:lpstr>電腦軟體與專利</vt:lpstr>
      <vt:lpstr>電腦軟體與專利</vt:lpstr>
      <vt:lpstr>電腦軟體與專利</vt:lpstr>
      <vt:lpstr>電腦軟體基準所稱之電腦軟、硬體</vt:lpstr>
      <vt:lpstr>技術的流動</vt:lpstr>
      <vt:lpstr>技術的流動</vt:lpstr>
      <vt:lpstr>電腦軟體專利要件</vt:lpstr>
      <vt:lpstr>軟體相關發明 發明定義</vt:lpstr>
      <vt:lpstr>發明定義</vt:lpstr>
      <vt:lpstr>不符發明定義</vt:lpstr>
      <vt:lpstr>電腦軟體發明定義</vt:lpstr>
      <vt:lpstr>軟體專利特性</vt:lpstr>
      <vt:lpstr>電腦軟體發明定義</vt:lpstr>
      <vt:lpstr>電腦軟體發明定義</vt:lpstr>
      <vt:lpstr>電腦軟體發明定義</vt:lpstr>
      <vt:lpstr>電腦軟體發明定義</vt:lpstr>
      <vt:lpstr>電腦軟體發明定義</vt:lpstr>
      <vt:lpstr>電腦軟體發明定義</vt:lpstr>
      <vt:lpstr>電腦軟體發明定義</vt:lpstr>
      <vt:lpstr>電腦軟體發明定義</vt:lpstr>
      <vt:lpstr>電腦軟體發明定義</vt:lpstr>
      <vt:lpstr>電腦軟體發明定義</vt:lpstr>
      <vt:lpstr>電腦軟體發明定義</vt:lpstr>
      <vt:lpstr>電腦軟體發明定義</vt:lpstr>
      <vt:lpstr>電腦軟體發明定義</vt:lpstr>
      <vt:lpstr>電腦軟體發明定義</vt:lpstr>
      <vt:lpstr>電腦軟體發明定義</vt:lpstr>
      <vt:lpstr>電腦軟體發明定義</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100年度智慧財產局業務座談會 新專利法相關法制修正重點</dc:title>
  <dc:creator>00572</dc:creator>
  <cp:lastModifiedBy>顏俊仁</cp:lastModifiedBy>
  <cp:revision>1513</cp:revision>
  <cp:lastPrinted>2016-06-21T04:14:05Z</cp:lastPrinted>
  <dcterms:created xsi:type="dcterms:W3CDTF">2012-04-26T02:48:05Z</dcterms:created>
  <dcterms:modified xsi:type="dcterms:W3CDTF">2026-10-11T13:03:50Z</dcterms:modified>
</cp:coreProperties>
</file>